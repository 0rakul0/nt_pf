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4"/>
  </p:sldMasterIdLst>
  <p:notesMasterIdLst>
    <p:notesMasterId r:id="rId43"/>
  </p:notesMasterIdLst>
  <p:handoutMasterIdLst>
    <p:handoutMasterId r:id="rId44"/>
  </p:handoutMasterIdLst>
  <p:sldIdLst>
    <p:sldId id="256" r:id="rId5"/>
    <p:sldId id="332" r:id="rId6"/>
    <p:sldId id="258" r:id="rId7"/>
    <p:sldId id="315" r:id="rId8"/>
    <p:sldId id="339" r:id="rId9"/>
    <p:sldId id="314" r:id="rId10"/>
    <p:sldId id="337" r:id="rId11"/>
    <p:sldId id="338" r:id="rId12"/>
    <p:sldId id="336" r:id="rId13"/>
    <p:sldId id="31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347" r:id="rId22"/>
    <p:sldId id="365" r:id="rId23"/>
    <p:sldId id="366" r:id="rId24"/>
    <p:sldId id="348" r:id="rId25"/>
    <p:sldId id="349" r:id="rId26"/>
    <p:sldId id="350" r:id="rId27"/>
    <p:sldId id="351" r:id="rId28"/>
    <p:sldId id="352" r:id="rId29"/>
    <p:sldId id="353" r:id="rId30"/>
    <p:sldId id="354" r:id="rId31"/>
    <p:sldId id="355" r:id="rId32"/>
    <p:sldId id="356" r:id="rId33"/>
    <p:sldId id="357" r:id="rId34"/>
    <p:sldId id="358" r:id="rId35"/>
    <p:sldId id="359" r:id="rId36"/>
    <p:sldId id="360" r:id="rId37"/>
    <p:sldId id="361" r:id="rId38"/>
    <p:sldId id="362" r:id="rId39"/>
    <p:sldId id="363" r:id="rId40"/>
    <p:sldId id="364" r:id="rId41"/>
    <p:sldId id="331" r:id="rId42"/>
  </p:sldIdLst>
  <p:sldSz cx="9144000" cy="5143500" type="screen16x9"/>
  <p:notesSz cx="6858000" cy="9144000"/>
  <p:embeddedFontLst>
    <p:embeddedFont>
      <p:font typeface="Maven Pro" panose="020B0604020202020204" charset="0"/>
      <p:regular r:id="rId45"/>
      <p:bold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F1ED"/>
    <a:srgbClr val="23A295"/>
    <a:srgbClr val="FFFFFF"/>
    <a:srgbClr val="00445C"/>
    <a:srgbClr val="37E1D9"/>
    <a:srgbClr val="186E66"/>
    <a:srgbClr val="9DF5E6"/>
    <a:srgbClr val="57F6A2"/>
    <a:srgbClr val="1AB0A9"/>
    <a:srgbClr val="06D1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EC56A6-5BC4-4871-9CEA-52D8BF98EC55}" v="5" dt="2026-05-14T10:12:56.563"/>
    <p1510:client id="{8A8A35FE-F587-4B17-FC26-E58699480E79}" v="2" dt="2026-05-14T03:02:35.536"/>
  </p1510:revLst>
</p1510:revInfo>
</file>

<file path=ppt/tableStyles.xml><?xml version="1.0" encoding="utf-8"?>
<a:tblStyleLst xmlns:a="http://schemas.openxmlformats.org/drawingml/2006/main" def="{2DE87DC0-AE7D-4135-A0CB-1D020C9352B1}">
  <a:tblStyle styleId="{2DE87DC0-AE7D-4135-A0CB-1D020C9352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6F0B306-1F96-4DC1-8FB1-356B6B13ABE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93D81CF-94F2-401A-BA57-92F5A7B2D0C5}" styleName="Estilo Mé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24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19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1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2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357FA665-1D08-7EDA-F772-7662F7E46E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40B4F11-03CE-2347-A1BE-84E04FFCC8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72BA3E-4DE6-48CA-B4CF-3C803026C14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EE7E45-6142-5B49-EF49-B9E12C18CC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8970B03-2AC2-0C73-E182-F6784852E40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CBA90-3765-4E44-A994-1F10C77BDDF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018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>
          <a:extLst>
            <a:ext uri="{FF2B5EF4-FFF2-40B4-BE49-F238E27FC236}">
              <a16:creationId xmlns:a16="http://schemas.microsoft.com/office/drawing/2014/main" id="{48D40C43-4384-FA4A-B5EC-595154DE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>
            <a:extLst>
              <a:ext uri="{FF2B5EF4-FFF2-40B4-BE49-F238E27FC236}">
                <a16:creationId xmlns:a16="http://schemas.microsoft.com/office/drawing/2014/main" id="{0426F617-3BA6-09F3-69E3-C5EFA6266B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30" name="Google Shape;930;p:notes">
            <a:extLst>
              <a:ext uri="{FF2B5EF4-FFF2-40B4-BE49-F238E27FC236}">
                <a16:creationId xmlns:a16="http://schemas.microsoft.com/office/drawing/2014/main" id="{16D12CE5-EF1D-065F-DB4E-825FFA22F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60267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74E70A6A-D48D-64F2-745B-6134CD56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8192D6E-AE9E-A78B-8B61-480CAA7381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66DDC8FA-E20D-F139-129D-B4DFB239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42550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EAB1B5EC-7E6D-5483-3638-1602DEBCA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A5888BA5-9E7A-F438-1789-0D74C9A0FF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C44AA66E-4750-5DE9-8A10-1B0EF0E57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0027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B159D493-490C-E674-E8A4-A233E3D5F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4710F37C-A98F-2358-6F04-F1545A3AC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424EFE8-76BB-040E-C834-41B101E74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131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2169DC8E-04A4-96DC-CF9A-C8CD8073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62BC77CF-2AA7-B900-A095-68359F330F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3592A106-8D11-4F49-CC01-86F7C7598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71487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1465281B-EDA8-7DE6-355A-CDF4D6EE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1E8C782-A0F1-05F2-58EE-3E3EECF7B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3B57D3A8-E52D-95BE-BA7D-84D6468C3C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996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EB42EED7-89BD-E986-2E9E-3497E099C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4529B1CC-BC3F-14C9-6097-43C5AFAE8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C1C76E66-8225-F6DF-7CB8-EFDFA41C2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225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DFB4BACF-E858-02B0-3D71-FCC6D3F6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A8B9586E-0DA5-2E38-2EB4-38DA682BF4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F1ADDED8-2FE6-041C-9934-8FECCD2DA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1320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60A70A67-B1C6-9269-41CD-1ADAFDE5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95A4E847-8DFB-2C63-CBCE-DE6DDCA62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8D9649BA-AD22-7600-C7E3-423AE57902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795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8C922083-0371-27EB-D4E6-9F1BC4ECC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95542C0F-F3E2-06F9-E9F1-4B63FD733B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ACCEC770-9D7E-592C-3EE3-EEFCAA9E8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1830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861C22E7-9346-63E3-8179-DEB7F7287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FD8AC656-7D16-C059-0AD2-9D9648DC39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1FD952C2-A86E-3F67-AC79-201B39B27F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18945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456A88BC-818F-AF89-4D24-A27FE16A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027AFCE1-C882-5D9C-E69F-67D04EEA9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C415C77A-05C3-C55C-9322-7C93F332B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53267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351A5B61-BD23-26FE-A65B-C0144858D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9380B84-564A-61FC-E5E6-A5CBC7A96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F9F8A3BD-E03F-D95F-1250-53B2489C30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57982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D779BB0A-845D-1C1B-84A4-D62EA2436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C3D6BBB4-4A2D-22FB-5A63-FBC6B2135B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6C333E6D-B6E1-FB2F-161E-3F04F306AA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07884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F1BFD00B-2539-56D7-E98B-75ADEDAF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A28C0C35-CC28-F968-E29C-C8EE9C9CD2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82415F7C-E243-EFEA-2FF2-7405F1846C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07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2A6576F1-8C73-4D4F-D68E-A1BEA3E28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E7E4F205-1E56-7E3B-BCE7-F1A99BD089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80285FE-2ACE-8E63-902D-8DFF099DE2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3696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5253DC96-4777-CF76-A26E-DCB2FB74E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6F41602D-467E-AE14-AFF2-5DF739924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7F13067B-EDD6-5EB7-9917-CE1A88EAF9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7238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13AAB072-44CE-C157-2285-EAE8A3DED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1F0B72E1-66D0-535E-B6E0-E9F05E5B4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00AD4C9F-0265-4239-E340-DE473C44C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1671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DA136EA0-6F78-78EB-E991-428D3C60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4A4E440-16ED-C668-26D5-FA76DBFDDD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A505DFA6-A4BF-C3B0-B60B-8A22277841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4688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DCB8E94B-1CBB-6C2E-ECB0-074D4B1A2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0153A35-EA9A-3BBC-8C42-F4D07F2A0F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1120926A-33B0-2D9A-F651-72D5A6E9C3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6073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5C02652D-D574-B8DF-9113-4C46CCAF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1C1FC949-35CF-821F-6759-C9F81AB033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59CD89B1-EA89-1C4F-6201-DE4CDA1B73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8890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F92C4A40-3F0F-CBE6-2F31-3364CD5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F5522495-67EA-163A-0D1C-8754B5FA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C08CC282-3299-5978-52F5-DFFAA4D4CF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4519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1FF1C129-1B34-67BF-F32B-82046E7F6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09AD590-0F6B-9C8E-1102-12FE7C388A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D89859AF-E623-9F62-2CBF-0FB69742E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47077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A49319E3-5CD8-5D2C-4763-7289672B2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87495A1-0B17-815F-4551-D52C73C060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56ABAFBE-1060-83A6-6F3A-B06C2F7D34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1095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2E93C92D-0A67-6D4F-2E4E-58A67937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49327D0-20CB-F6C1-1B0B-625F7ED4C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69A20563-17AE-1309-142F-C52402244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1138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29465BB3-9F71-AD08-53B4-4227CAE1F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F1DBC86-B95C-17B1-A3AB-1631A7E896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FE87C6EA-4774-22B6-01B2-13A0712A6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56655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5B0FF90D-2755-B527-207F-15D3C5497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DC8CC97F-6D25-5A8E-564C-DC9A49BA39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046CA147-980D-C9C9-C4C6-785B57DC8C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54412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9DA19D4A-7046-F0DF-1CF5-9CBA4554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58658566-C9C9-893A-1A03-99F8AADB6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972D221A-E103-8AB1-F302-7C82D6A4E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4135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9F626CBD-2993-8AF6-9873-E6A9BF6CB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1165F4BF-18A3-C52B-92D4-66DF27E96E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1D896D0C-EE3B-D79F-62C3-4B38A26589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013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0B811B1D-4B26-6E33-7C09-0BCBA73E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6187D139-58D7-9C3E-5FD9-5C5A99A68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D9F13FAD-3969-E7ED-67B6-E9CE883A4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0808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37AA9AF1-55BE-BFB1-B1EB-8A578D5E4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54A5B0FA-1751-B046-E6CC-15FF0C7DAA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398BC33F-6E85-DB09-A9D1-AE5E16F85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04831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E398EAA1-1B75-FA0A-E71B-F4EABCE27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EA1E303-4975-56FD-D0E5-FC9FC61D3F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1FCD0E7E-5CFA-606F-07F9-FE52CD6EB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5641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B78CF407-C968-38C5-BD14-673CBB20C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B5C0DAC9-5717-C78D-9C71-86E747F74A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D7DAE502-CA1D-251B-2428-FBB82DB09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19910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3A420785-37D2-B3A6-E3AB-015977BC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88F73271-2B8D-C52D-53D2-F1EE680E3E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26A97248-5DFD-36CF-3BAC-01ECF9880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22308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7061DE9D-3939-F12C-3829-6F9DBAE8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E2EDAD0F-F5C8-2FA0-E3C4-E28CD7B7D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2B3D76C-E6F6-5849-0F6D-DC9E51157C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03113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13DBDC61-E998-9779-72BB-9C2677AFE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69E5E195-DDA2-22C2-910F-C0543A589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4B13719F-93EF-5729-0B71-7106CA290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0665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CUSTOM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13"/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78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7">
            <a:extLst>
              <a:ext uri="{FF2B5EF4-FFF2-40B4-BE49-F238E27FC236}">
                <a16:creationId xmlns:a16="http://schemas.microsoft.com/office/drawing/2014/main" id="{06BE42D5-BC7B-069C-3CF2-F2C208699A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32" name="Google Shape;932;p37"/>
          <p:cNvSpPr txBox="1">
            <a:spLocks noGrp="1"/>
          </p:cNvSpPr>
          <p:nvPr>
            <p:ph type="ctrTitle" idx="4294967295"/>
          </p:nvPr>
        </p:nvSpPr>
        <p:spPr>
          <a:xfrm>
            <a:off x="2906274" y="2705222"/>
            <a:ext cx="3572455" cy="3617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pt-BR" sz="1350" b="0" dirty="0">
                <a:solidFill>
                  <a:srgbClr val="186E66"/>
                </a:solidFill>
                <a:latin typeface="+mj-lt"/>
              </a:rPr>
              <a:t>Há mais de 60 anos pensando o Brasil</a:t>
            </a:r>
          </a:p>
        </p:txBody>
      </p:sp>
      <p:sp>
        <p:nvSpPr>
          <p:cNvPr id="936" name="Google Shape;936;p37"/>
          <p:cNvSpPr/>
          <p:nvPr/>
        </p:nvSpPr>
        <p:spPr>
          <a:xfrm flipH="1">
            <a:off x="6158563" y="4160758"/>
            <a:ext cx="2985287" cy="982558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37" name="Google Shape;937;p37"/>
          <p:cNvSpPr/>
          <p:nvPr/>
        </p:nvSpPr>
        <p:spPr>
          <a:xfrm flipH="1">
            <a:off x="5524419" y="4606918"/>
            <a:ext cx="3619432" cy="53646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938" name="Google Shape;938;p37"/>
          <p:cNvGrpSpPr/>
          <p:nvPr/>
        </p:nvGrpSpPr>
        <p:grpSpPr>
          <a:xfrm>
            <a:off x="7631225" y="3888188"/>
            <a:ext cx="986125" cy="448486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939" name="Google Shape;939;p37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0" name="Google Shape;940;p37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1" name="Google Shape;941;p37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" name="Google Shape;942;p37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37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37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37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6" name="Google Shape;946;p37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7" name="Google Shape;947;p37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8" name="Google Shape;948;p37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9" name="Google Shape;949;p37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0" name="Google Shape;950;p37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1" name="Google Shape;951;p37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2" name="Google Shape;952;p37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54" name="Google Shape;954;p37"/>
          <p:cNvSpPr/>
          <p:nvPr/>
        </p:nvSpPr>
        <p:spPr>
          <a:xfrm>
            <a:off x="0" y="4513006"/>
            <a:ext cx="1255200" cy="630310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55" name="Google Shape;955;p37"/>
          <p:cNvSpPr/>
          <p:nvPr/>
        </p:nvSpPr>
        <p:spPr>
          <a:xfrm>
            <a:off x="0" y="4829725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75130F2-9701-30E2-9C76-60642340332E}"/>
              </a:ext>
            </a:extLst>
          </p:cNvPr>
          <p:cNvGrpSpPr/>
          <p:nvPr/>
        </p:nvGrpSpPr>
        <p:grpSpPr>
          <a:xfrm>
            <a:off x="2577448" y="1854575"/>
            <a:ext cx="3752189" cy="883435"/>
            <a:chOff x="2833093" y="1809245"/>
            <a:chExt cx="3752189" cy="883435"/>
          </a:xfrm>
        </p:grpSpPr>
        <p:pic>
          <p:nvPicPr>
            <p:cNvPr id="11" name="Imagem 10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95249E7-F5DD-9C7E-5832-59DE81F69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3093" y="1809245"/>
              <a:ext cx="3752189" cy="883435"/>
            </a:xfrm>
            <a:prstGeom prst="rect">
              <a:avLst/>
            </a:prstGeom>
          </p:spPr>
        </p:pic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76EFDF4E-49BE-7832-A86C-A4FCB8731553}"/>
                </a:ext>
              </a:extLst>
            </p:cNvPr>
            <p:cNvCxnSpPr>
              <a:cxnSpLocks/>
            </p:cNvCxnSpPr>
            <p:nvPr/>
          </p:nvCxnSpPr>
          <p:spPr>
            <a:xfrm>
              <a:off x="3303639" y="2603796"/>
              <a:ext cx="3281643" cy="0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Google Shape;936;p37">
            <a:extLst>
              <a:ext uri="{FF2B5EF4-FFF2-40B4-BE49-F238E27FC236}">
                <a16:creationId xmlns:a16="http://schemas.microsoft.com/office/drawing/2014/main" id="{F406E0B1-5BA1-A462-1305-5A2854F5266D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0" name="Google Shape;937;p37">
            <a:extLst>
              <a:ext uri="{FF2B5EF4-FFF2-40B4-BE49-F238E27FC236}">
                <a16:creationId xmlns:a16="http://schemas.microsoft.com/office/drawing/2014/main" id="{D362FFBC-9358-C525-A43A-E103370EE0A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37;p37">
            <a:extLst>
              <a:ext uri="{FF2B5EF4-FFF2-40B4-BE49-F238E27FC236}">
                <a16:creationId xmlns:a16="http://schemas.microsoft.com/office/drawing/2014/main" id="{9003C0C6-3339-1F2F-B7C7-47AA5EBFC534}"/>
              </a:ext>
            </a:extLst>
          </p:cNvPr>
          <p:cNvSpPr/>
          <p:nvPr/>
        </p:nvSpPr>
        <p:spPr>
          <a:xfrm flipH="1" flipV="1">
            <a:off x="7976597" y="-1"/>
            <a:ext cx="1178260" cy="258097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8260" h="258097">
                <a:moveTo>
                  <a:pt x="0" y="7374"/>
                </a:moveTo>
                <a:lnTo>
                  <a:pt x="1049211" y="0"/>
                </a:lnTo>
                <a:cubicBezTo>
                  <a:pt x="1120483" y="0"/>
                  <a:pt x="1178260" y="57777"/>
                  <a:pt x="1178260" y="129049"/>
                </a:cubicBezTo>
                <a:cubicBezTo>
                  <a:pt x="1178260" y="172065"/>
                  <a:pt x="1178259" y="215081"/>
                  <a:pt x="1178259" y="258097"/>
                </a:cubicBezTo>
                <a:lnTo>
                  <a:pt x="7373" y="258097"/>
                </a:lnTo>
                <a:lnTo>
                  <a:pt x="0" y="7374"/>
                </a:ln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FEDBA1C-98F6-18A0-FE03-281AA8E049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5683" y="3288925"/>
            <a:ext cx="5693063" cy="3355257"/>
          </a:xfrm>
          <a:prstGeom prst="rect">
            <a:avLst/>
          </a:prstGeom>
        </p:spPr>
      </p:pic>
      <p:grpSp>
        <p:nvGrpSpPr>
          <p:cNvPr id="25" name="Google Shape;938;p37">
            <a:extLst>
              <a:ext uri="{FF2B5EF4-FFF2-40B4-BE49-F238E27FC236}">
                <a16:creationId xmlns:a16="http://schemas.microsoft.com/office/drawing/2014/main" id="{393D2545-C97A-E487-483D-6C7BC6C69D0B}"/>
              </a:ext>
            </a:extLst>
          </p:cNvPr>
          <p:cNvGrpSpPr/>
          <p:nvPr/>
        </p:nvGrpSpPr>
        <p:grpSpPr>
          <a:xfrm rot="16200000">
            <a:off x="449290" y="92858"/>
            <a:ext cx="368002" cy="318643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32" name="Google Shape;945;p37">
              <a:extLst>
                <a:ext uri="{FF2B5EF4-FFF2-40B4-BE49-F238E27FC236}">
                  <a16:creationId xmlns:a16="http://schemas.microsoft.com/office/drawing/2014/main" id="{A5AC6C8A-83A7-7897-DAD7-73323729945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948;p37">
              <a:extLst>
                <a:ext uri="{FF2B5EF4-FFF2-40B4-BE49-F238E27FC236}">
                  <a16:creationId xmlns:a16="http://schemas.microsoft.com/office/drawing/2014/main" id="{564EA71B-41EF-0FAA-45BF-C766BBB2068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949;p37">
              <a:extLst>
                <a:ext uri="{FF2B5EF4-FFF2-40B4-BE49-F238E27FC236}">
                  <a16:creationId xmlns:a16="http://schemas.microsoft.com/office/drawing/2014/main" id="{BF703A34-34C3-8802-2A48-3D94CBEF094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950;p37">
              <a:extLst>
                <a:ext uri="{FF2B5EF4-FFF2-40B4-BE49-F238E27FC236}">
                  <a16:creationId xmlns:a16="http://schemas.microsoft.com/office/drawing/2014/main" id="{86032FF0-0CBC-6909-C7A1-6761A80A117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951;p37">
              <a:extLst>
                <a:ext uri="{FF2B5EF4-FFF2-40B4-BE49-F238E27FC236}">
                  <a16:creationId xmlns:a16="http://schemas.microsoft.com/office/drawing/2014/main" id="{0303BF8A-8F04-3AEF-88D5-C2823B3DC18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952;p37">
              <a:extLst>
                <a:ext uri="{FF2B5EF4-FFF2-40B4-BE49-F238E27FC236}">
                  <a16:creationId xmlns:a16="http://schemas.microsoft.com/office/drawing/2014/main" id="{3042BAE4-EB69-0163-9853-541445F38D3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>
          <a:extLst>
            <a:ext uri="{FF2B5EF4-FFF2-40B4-BE49-F238E27FC236}">
              <a16:creationId xmlns:a16="http://schemas.microsoft.com/office/drawing/2014/main" id="{15EDB999-E333-B2E9-B829-23D978E4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7">
            <a:extLst>
              <a:ext uri="{FF2B5EF4-FFF2-40B4-BE49-F238E27FC236}">
                <a16:creationId xmlns:a16="http://schemas.microsoft.com/office/drawing/2014/main" id="{57269E42-D64B-F1F4-9C96-E0855CACFD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32" name="Google Shape;932;p37">
            <a:extLst>
              <a:ext uri="{FF2B5EF4-FFF2-40B4-BE49-F238E27FC236}">
                <a16:creationId xmlns:a16="http://schemas.microsoft.com/office/drawing/2014/main" id="{916B58C9-74A4-AE28-0AEC-B5F66DA9566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675324" y="2573437"/>
            <a:ext cx="4523070" cy="5640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pt-BR" sz="2400" b="1" dirty="0">
                <a:solidFill>
                  <a:srgbClr val="186E66"/>
                </a:solidFill>
                <a:latin typeface="+mj-lt"/>
              </a:rPr>
              <a:t>Jefferson Silva dos Anjos </a:t>
            </a:r>
            <a:br>
              <a:rPr lang="pt-BR" sz="1350" b="0" dirty="0">
                <a:solidFill>
                  <a:srgbClr val="186E66"/>
                </a:solidFill>
                <a:latin typeface="+mj-lt"/>
              </a:rPr>
            </a:br>
            <a:r>
              <a:rPr lang="pt-PT" sz="1200" dirty="0"/>
              <a:t>Pesquisador / Mestrando PPCIC-CEFET</a:t>
            </a:r>
            <a:endParaRPr lang="pt-BR" sz="1350" b="0" dirty="0">
              <a:solidFill>
                <a:srgbClr val="186E66"/>
              </a:solidFill>
              <a:latin typeface="+mj-lt"/>
            </a:endParaRPr>
          </a:p>
        </p:txBody>
      </p:sp>
      <p:sp>
        <p:nvSpPr>
          <p:cNvPr id="936" name="Google Shape;936;p37">
            <a:extLst>
              <a:ext uri="{FF2B5EF4-FFF2-40B4-BE49-F238E27FC236}">
                <a16:creationId xmlns:a16="http://schemas.microsoft.com/office/drawing/2014/main" id="{03B4CA7B-F5B8-8276-1A06-E90CA7767E6B}"/>
              </a:ext>
            </a:extLst>
          </p:cNvPr>
          <p:cNvSpPr/>
          <p:nvPr/>
        </p:nvSpPr>
        <p:spPr>
          <a:xfrm flipH="1">
            <a:off x="6158563" y="4160758"/>
            <a:ext cx="2985287" cy="982558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37" name="Google Shape;937;p37">
            <a:extLst>
              <a:ext uri="{FF2B5EF4-FFF2-40B4-BE49-F238E27FC236}">
                <a16:creationId xmlns:a16="http://schemas.microsoft.com/office/drawing/2014/main" id="{861E7A57-9EBC-4A8B-B55D-D24FF2F50587}"/>
              </a:ext>
            </a:extLst>
          </p:cNvPr>
          <p:cNvSpPr/>
          <p:nvPr/>
        </p:nvSpPr>
        <p:spPr>
          <a:xfrm flipH="1">
            <a:off x="5524419" y="4606918"/>
            <a:ext cx="3619432" cy="53646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938" name="Google Shape;938;p37">
            <a:extLst>
              <a:ext uri="{FF2B5EF4-FFF2-40B4-BE49-F238E27FC236}">
                <a16:creationId xmlns:a16="http://schemas.microsoft.com/office/drawing/2014/main" id="{F7E4D997-82AD-2374-DEE1-49B85E5DB6B9}"/>
              </a:ext>
            </a:extLst>
          </p:cNvPr>
          <p:cNvGrpSpPr/>
          <p:nvPr/>
        </p:nvGrpSpPr>
        <p:grpSpPr>
          <a:xfrm>
            <a:off x="7631225" y="3888188"/>
            <a:ext cx="986125" cy="448486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939" name="Google Shape;939;p37">
              <a:extLst>
                <a:ext uri="{FF2B5EF4-FFF2-40B4-BE49-F238E27FC236}">
                  <a16:creationId xmlns:a16="http://schemas.microsoft.com/office/drawing/2014/main" id="{60659A24-10BE-E50D-331D-F58842DD6261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0" name="Google Shape;940;p37">
              <a:extLst>
                <a:ext uri="{FF2B5EF4-FFF2-40B4-BE49-F238E27FC236}">
                  <a16:creationId xmlns:a16="http://schemas.microsoft.com/office/drawing/2014/main" id="{8DCAD10C-8B8D-C8A2-23FE-BF86EE4B530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1" name="Google Shape;941;p37">
              <a:extLst>
                <a:ext uri="{FF2B5EF4-FFF2-40B4-BE49-F238E27FC236}">
                  <a16:creationId xmlns:a16="http://schemas.microsoft.com/office/drawing/2014/main" id="{EEB362EC-6FBD-AECE-1A3E-3DE1D37AD5F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" name="Google Shape;942;p37">
              <a:extLst>
                <a:ext uri="{FF2B5EF4-FFF2-40B4-BE49-F238E27FC236}">
                  <a16:creationId xmlns:a16="http://schemas.microsoft.com/office/drawing/2014/main" id="{BC677269-77E9-D0BA-8C02-E259F4AE5797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37">
              <a:extLst>
                <a:ext uri="{FF2B5EF4-FFF2-40B4-BE49-F238E27FC236}">
                  <a16:creationId xmlns:a16="http://schemas.microsoft.com/office/drawing/2014/main" id="{F8684567-13B3-19A9-BC47-921D76EF134E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37">
              <a:extLst>
                <a:ext uri="{FF2B5EF4-FFF2-40B4-BE49-F238E27FC236}">
                  <a16:creationId xmlns:a16="http://schemas.microsoft.com/office/drawing/2014/main" id="{71BCDB0A-4B0E-7975-E6E7-F607F041A515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37">
              <a:extLst>
                <a:ext uri="{FF2B5EF4-FFF2-40B4-BE49-F238E27FC236}">
                  <a16:creationId xmlns:a16="http://schemas.microsoft.com/office/drawing/2014/main" id="{EC814A0D-E8A3-E76A-7D26-4EAF27C6792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6" name="Google Shape;946;p37">
              <a:extLst>
                <a:ext uri="{FF2B5EF4-FFF2-40B4-BE49-F238E27FC236}">
                  <a16:creationId xmlns:a16="http://schemas.microsoft.com/office/drawing/2014/main" id="{3DFAA75F-A6E3-14F1-AA85-E0C2FA0E204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7" name="Google Shape;947;p37">
              <a:extLst>
                <a:ext uri="{FF2B5EF4-FFF2-40B4-BE49-F238E27FC236}">
                  <a16:creationId xmlns:a16="http://schemas.microsoft.com/office/drawing/2014/main" id="{2C772BF8-09F5-BE4F-40F8-EEA6A939061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8" name="Google Shape;948;p37">
              <a:extLst>
                <a:ext uri="{FF2B5EF4-FFF2-40B4-BE49-F238E27FC236}">
                  <a16:creationId xmlns:a16="http://schemas.microsoft.com/office/drawing/2014/main" id="{38E3608B-99B8-A2BA-2A5B-AA44E63DA93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9" name="Google Shape;949;p37">
              <a:extLst>
                <a:ext uri="{FF2B5EF4-FFF2-40B4-BE49-F238E27FC236}">
                  <a16:creationId xmlns:a16="http://schemas.microsoft.com/office/drawing/2014/main" id="{02923C80-17CF-1230-F9C5-6011CE2DEC2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0" name="Google Shape;950;p37">
              <a:extLst>
                <a:ext uri="{FF2B5EF4-FFF2-40B4-BE49-F238E27FC236}">
                  <a16:creationId xmlns:a16="http://schemas.microsoft.com/office/drawing/2014/main" id="{04DA7893-B61A-0F66-D928-B365E7B00DF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1" name="Google Shape;951;p37">
              <a:extLst>
                <a:ext uri="{FF2B5EF4-FFF2-40B4-BE49-F238E27FC236}">
                  <a16:creationId xmlns:a16="http://schemas.microsoft.com/office/drawing/2014/main" id="{71BBF194-4416-DC43-23B0-D1CC2F56904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2" name="Google Shape;952;p37">
              <a:extLst>
                <a:ext uri="{FF2B5EF4-FFF2-40B4-BE49-F238E27FC236}">
                  <a16:creationId xmlns:a16="http://schemas.microsoft.com/office/drawing/2014/main" id="{FD59864F-5644-F0DB-CAFD-84B0B519763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54" name="Google Shape;954;p37">
            <a:extLst>
              <a:ext uri="{FF2B5EF4-FFF2-40B4-BE49-F238E27FC236}">
                <a16:creationId xmlns:a16="http://schemas.microsoft.com/office/drawing/2014/main" id="{9EAEE25E-2C49-54B8-FC60-1A2478E2D4B8}"/>
              </a:ext>
            </a:extLst>
          </p:cNvPr>
          <p:cNvSpPr/>
          <p:nvPr/>
        </p:nvSpPr>
        <p:spPr>
          <a:xfrm>
            <a:off x="0" y="4513006"/>
            <a:ext cx="1255200" cy="630310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55" name="Google Shape;955;p37">
            <a:extLst>
              <a:ext uri="{FF2B5EF4-FFF2-40B4-BE49-F238E27FC236}">
                <a16:creationId xmlns:a16="http://schemas.microsoft.com/office/drawing/2014/main" id="{F45D65E8-4D9C-7C73-392A-FB6A36631842}"/>
              </a:ext>
            </a:extLst>
          </p:cNvPr>
          <p:cNvSpPr/>
          <p:nvPr/>
        </p:nvSpPr>
        <p:spPr>
          <a:xfrm>
            <a:off x="0" y="4829725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" name="Google Shape;936;p37">
            <a:extLst>
              <a:ext uri="{FF2B5EF4-FFF2-40B4-BE49-F238E27FC236}">
                <a16:creationId xmlns:a16="http://schemas.microsoft.com/office/drawing/2014/main" id="{911BEA6C-B59F-966C-94D1-7B0688DE2E64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0" name="Google Shape;937;p37">
            <a:extLst>
              <a:ext uri="{FF2B5EF4-FFF2-40B4-BE49-F238E27FC236}">
                <a16:creationId xmlns:a16="http://schemas.microsoft.com/office/drawing/2014/main" id="{61AD0B6C-2C86-3EDE-29E0-385F2381CC7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96C860B4-C1DE-EE6D-D9E1-F46214903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683" y="3288925"/>
            <a:ext cx="5693063" cy="3355257"/>
          </a:xfrm>
          <a:prstGeom prst="rect">
            <a:avLst/>
          </a:prstGeom>
        </p:spPr>
      </p:pic>
      <p:grpSp>
        <p:nvGrpSpPr>
          <p:cNvPr id="25" name="Google Shape;938;p37">
            <a:extLst>
              <a:ext uri="{FF2B5EF4-FFF2-40B4-BE49-F238E27FC236}">
                <a16:creationId xmlns:a16="http://schemas.microsoft.com/office/drawing/2014/main" id="{7AB9375B-A1BC-403D-F114-355CB77D8E59}"/>
              </a:ext>
            </a:extLst>
          </p:cNvPr>
          <p:cNvGrpSpPr/>
          <p:nvPr/>
        </p:nvGrpSpPr>
        <p:grpSpPr>
          <a:xfrm rot="16200000">
            <a:off x="449290" y="92858"/>
            <a:ext cx="368002" cy="318643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32" name="Google Shape;945;p37">
              <a:extLst>
                <a:ext uri="{FF2B5EF4-FFF2-40B4-BE49-F238E27FC236}">
                  <a16:creationId xmlns:a16="http://schemas.microsoft.com/office/drawing/2014/main" id="{89E4F83C-518A-E13B-6EBD-72B49F370B83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948;p37">
              <a:extLst>
                <a:ext uri="{FF2B5EF4-FFF2-40B4-BE49-F238E27FC236}">
                  <a16:creationId xmlns:a16="http://schemas.microsoft.com/office/drawing/2014/main" id="{06E71FBA-1202-8746-BD6F-DC7868778E28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949;p37">
              <a:extLst>
                <a:ext uri="{FF2B5EF4-FFF2-40B4-BE49-F238E27FC236}">
                  <a16:creationId xmlns:a16="http://schemas.microsoft.com/office/drawing/2014/main" id="{665AC9DD-ABF9-A177-8B26-285F4EA4FD67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950;p37">
              <a:extLst>
                <a:ext uri="{FF2B5EF4-FFF2-40B4-BE49-F238E27FC236}">
                  <a16:creationId xmlns:a16="http://schemas.microsoft.com/office/drawing/2014/main" id="{5DDCCF7C-4FAC-85CB-8936-91EED797C1A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951;p37">
              <a:extLst>
                <a:ext uri="{FF2B5EF4-FFF2-40B4-BE49-F238E27FC236}">
                  <a16:creationId xmlns:a16="http://schemas.microsoft.com/office/drawing/2014/main" id="{189711C5-894F-E6D0-E1F6-CBCBE08BC71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952;p37">
              <a:extLst>
                <a:ext uri="{FF2B5EF4-FFF2-40B4-BE49-F238E27FC236}">
                  <a16:creationId xmlns:a16="http://schemas.microsoft.com/office/drawing/2014/main" id="{370826E0-8F6A-4B04-050F-C2E7FD74827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Título 1">
            <a:extLst>
              <a:ext uri="{FF2B5EF4-FFF2-40B4-BE49-F238E27FC236}">
                <a16:creationId xmlns:a16="http://schemas.microsoft.com/office/drawing/2014/main" id="{E4503BDA-D6B3-6819-E42C-955058121DAF}"/>
              </a:ext>
            </a:extLst>
          </p:cNvPr>
          <p:cNvSpPr txBox="1">
            <a:spLocks/>
          </p:cNvSpPr>
          <p:nvPr/>
        </p:nvSpPr>
        <p:spPr>
          <a:xfrm>
            <a:off x="675324" y="1625597"/>
            <a:ext cx="7335180" cy="56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Clusterização semântica de notícias da Polícia Federal com apoio de LLM</a:t>
            </a:r>
          </a:p>
        </p:txBody>
      </p:sp>
      <p:sp>
        <p:nvSpPr>
          <p:cNvPr id="5" name="Google Shape;932;p37">
            <a:extLst>
              <a:ext uri="{FF2B5EF4-FFF2-40B4-BE49-F238E27FC236}">
                <a16:creationId xmlns:a16="http://schemas.microsoft.com/office/drawing/2014/main" id="{0AF21FD4-88DE-2BC9-AB12-CFE80934E9E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03C07B1B-516B-63A6-4FF3-7FD26FA556EA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7" name="Imagem 6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31D6AA3B-0771-DE40-2E37-8F926FB69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1A76D01E-9B1D-5A2D-CBEE-CA21C443B27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Google Shape;937;p37">
            <a:extLst>
              <a:ext uri="{FF2B5EF4-FFF2-40B4-BE49-F238E27FC236}">
                <a16:creationId xmlns:a16="http://schemas.microsoft.com/office/drawing/2014/main" id="{8FC08E8A-6624-EED8-E1BE-4FBE7E0244FD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C2B9B903-9FBE-C877-D407-66DAFE271F7D}"/>
              </a:ext>
            </a:extLst>
          </p:cNvPr>
          <p:cNvSpPr txBox="1">
            <a:spLocks/>
          </p:cNvSpPr>
          <p:nvPr/>
        </p:nvSpPr>
        <p:spPr>
          <a:xfrm>
            <a:off x="675324" y="3106241"/>
            <a:ext cx="4523070" cy="5640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2400" b="1" dirty="0">
                <a:solidFill>
                  <a:srgbClr val="186E66"/>
                </a:solidFill>
                <a:latin typeface="+mj-lt"/>
              </a:rPr>
              <a:t>Danilo Coelho</a:t>
            </a:r>
            <a:br>
              <a:rPr lang="pt-BR" sz="1350" dirty="0">
                <a:solidFill>
                  <a:srgbClr val="186E66"/>
                </a:solidFill>
                <a:latin typeface="+mj-lt"/>
              </a:rPr>
            </a:br>
            <a:r>
              <a:rPr lang="pt-BR" sz="1350" dirty="0">
                <a:solidFill>
                  <a:srgbClr val="186E66"/>
                </a:solidFill>
                <a:latin typeface="+mj-lt"/>
              </a:rPr>
              <a:t>--</a:t>
            </a:r>
          </a:p>
        </p:txBody>
      </p:sp>
      <p:sp>
        <p:nvSpPr>
          <p:cNvPr id="10" name="Google Shape;932;p37">
            <a:extLst>
              <a:ext uri="{FF2B5EF4-FFF2-40B4-BE49-F238E27FC236}">
                <a16:creationId xmlns:a16="http://schemas.microsoft.com/office/drawing/2014/main" id="{6F7DE0B7-500C-C766-FAFF-01CED290E1B9}"/>
              </a:ext>
            </a:extLst>
          </p:cNvPr>
          <p:cNvSpPr txBox="1">
            <a:spLocks/>
          </p:cNvSpPr>
          <p:nvPr/>
        </p:nvSpPr>
        <p:spPr>
          <a:xfrm>
            <a:off x="675324" y="3639045"/>
            <a:ext cx="4523070" cy="5640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2400" b="1" dirty="0">
                <a:solidFill>
                  <a:srgbClr val="186E66"/>
                </a:solidFill>
                <a:latin typeface="+mj-lt"/>
              </a:rPr>
              <a:t>Tulio</a:t>
            </a:r>
            <a:r>
              <a:rPr lang="pt-BR" sz="2400" b="1">
                <a:solidFill>
                  <a:srgbClr val="186E66"/>
                </a:solidFill>
                <a:latin typeface="+mj-lt"/>
              </a:rPr>
              <a:t> Kahn</a:t>
            </a:r>
            <a:br>
              <a:rPr lang="pt-BR" sz="1350" dirty="0">
                <a:solidFill>
                  <a:srgbClr val="186E66"/>
                </a:solidFill>
                <a:latin typeface="+mj-lt"/>
              </a:rPr>
            </a:br>
            <a:r>
              <a:rPr lang="pt-BR" sz="1350" dirty="0">
                <a:solidFill>
                  <a:srgbClr val="186E66"/>
                </a:solidFill>
                <a:latin typeface="+mj-lt"/>
              </a:rPr>
              <a:t>--</a:t>
            </a:r>
          </a:p>
        </p:txBody>
      </p:sp>
    </p:spTree>
    <p:extLst>
      <p:ext uri="{BB962C8B-B14F-4D97-AF65-F5344CB8AC3E}">
        <p14:creationId xmlns:p14="http://schemas.microsoft.com/office/powerpoint/2010/main" val="810242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1" name="Gráfico 960">
            <a:extLst>
              <a:ext uri="{FF2B5EF4-FFF2-40B4-BE49-F238E27FC236}">
                <a16:creationId xmlns:a16="http://schemas.microsoft.com/office/drawing/2014/main" id="{A6E72D48-7212-487A-26B0-54FB1D9B99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93" name="Google Shape;993;p39"/>
          <p:cNvSpPr txBox="1">
            <a:spLocks noGrp="1"/>
          </p:cNvSpPr>
          <p:nvPr>
            <p:ph type="title" idx="4294967295"/>
          </p:nvPr>
        </p:nvSpPr>
        <p:spPr>
          <a:xfrm>
            <a:off x="863379" y="1590157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01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4" name="Google Shape;994;p39"/>
          <p:cNvSpPr txBox="1">
            <a:spLocks noGrp="1"/>
          </p:cNvSpPr>
          <p:nvPr>
            <p:ph type="title" idx="4294967295"/>
          </p:nvPr>
        </p:nvSpPr>
        <p:spPr>
          <a:xfrm>
            <a:off x="862534" y="4002626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04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5" name="Google Shape;995;p39"/>
          <p:cNvSpPr txBox="1">
            <a:spLocks noGrp="1"/>
          </p:cNvSpPr>
          <p:nvPr>
            <p:ph type="title" idx="4294967295"/>
          </p:nvPr>
        </p:nvSpPr>
        <p:spPr>
          <a:xfrm>
            <a:off x="863404" y="2406435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02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6" name="Google Shape;996;p39"/>
          <p:cNvSpPr txBox="1">
            <a:spLocks noGrp="1"/>
          </p:cNvSpPr>
          <p:nvPr>
            <p:ph type="title" idx="4294967295"/>
          </p:nvPr>
        </p:nvSpPr>
        <p:spPr>
          <a:xfrm>
            <a:off x="863404" y="3215752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03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7" name="Google Shape;997;p39"/>
          <p:cNvSpPr txBox="1">
            <a:spLocks noGrp="1"/>
          </p:cNvSpPr>
          <p:nvPr>
            <p:ph type="subTitle" idx="4294967295"/>
          </p:nvPr>
        </p:nvSpPr>
        <p:spPr>
          <a:xfrm>
            <a:off x="1406034" y="1546906"/>
            <a:ext cx="2285839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  <a:latin typeface="+mj-lt"/>
              </a:rPr>
              <a:t>INTRODUÇÃO</a:t>
            </a:r>
          </a:p>
        </p:txBody>
      </p:sp>
      <p:sp>
        <p:nvSpPr>
          <p:cNvPr id="998" name="Google Shape;998;p39"/>
          <p:cNvSpPr txBox="1">
            <a:spLocks noGrp="1"/>
          </p:cNvSpPr>
          <p:nvPr>
            <p:ph type="subTitle" idx="4294967295"/>
          </p:nvPr>
        </p:nvSpPr>
        <p:spPr>
          <a:xfrm>
            <a:off x="1405067" y="3940233"/>
            <a:ext cx="2286806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METODOLOGIA</a:t>
            </a:r>
          </a:p>
        </p:txBody>
      </p:sp>
      <p:sp>
        <p:nvSpPr>
          <p:cNvPr id="999" name="Google Shape;999;p39"/>
          <p:cNvSpPr txBox="1">
            <a:spLocks noGrp="1"/>
          </p:cNvSpPr>
          <p:nvPr>
            <p:ph type="subTitle" idx="4294967295"/>
          </p:nvPr>
        </p:nvSpPr>
        <p:spPr>
          <a:xfrm>
            <a:off x="1406034" y="2347729"/>
            <a:ext cx="2082031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TRABALHOS RELACIONADOS</a:t>
            </a:r>
            <a:endParaRPr lang="pt-BR" sz="16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00" name="Google Shape;1000;p39"/>
          <p:cNvSpPr txBox="1">
            <a:spLocks noGrp="1"/>
          </p:cNvSpPr>
          <p:nvPr>
            <p:ph type="subTitle" idx="4294967295"/>
          </p:nvPr>
        </p:nvSpPr>
        <p:spPr>
          <a:xfrm>
            <a:off x="1405911" y="3153359"/>
            <a:ext cx="2560665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DADOS E REPRESENTATIVIDADE</a:t>
            </a:r>
          </a:p>
        </p:txBody>
      </p:sp>
      <p:sp>
        <p:nvSpPr>
          <p:cNvPr id="1001" name="Google Shape;1001;p39"/>
          <p:cNvSpPr txBox="1">
            <a:spLocks noGrp="1"/>
          </p:cNvSpPr>
          <p:nvPr>
            <p:ph type="title" idx="4294967295"/>
          </p:nvPr>
        </p:nvSpPr>
        <p:spPr>
          <a:xfrm>
            <a:off x="3977810" y="1590157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05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02" name="Google Shape;1002;p39"/>
          <p:cNvSpPr txBox="1">
            <a:spLocks noGrp="1"/>
          </p:cNvSpPr>
          <p:nvPr>
            <p:ph type="title" idx="4294967295"/>
          </p:nvPr>
        </p:nvSpPr>
        <p:spPr>
          <a:xfrm>
            <a:off x="3977811" y="2406435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06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03" name="Google Shape;1003;p39"/>
          <p:cNvSpPr txBox="1">
            <a:spLocks noGrp="1"/>
          </p:cNvSpPr>
          <p:nvPr>
            <p:ph type="subTitle" idx="4294967295"/>
          </p:nvPr>
        </p:nvSpPr>
        <p:spPr>
          <a:xfrm>
            <a:off x="4557197" y="1532967"/>
            <a:ext cx="3059724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RESULTADOS</a:t>
            </a:r>
          </a:p>
        </p:txBody>
      </p:sp>
      <p:sp>
        <p:nvSpPr>
          <p:cNvPr id="1004" name="Google Shape;1004;p39"/>
          <p:cNvSpPr txBox="1">
            <a:spLocks noGrp="1"/>
          </p:cNvSpPr>
          <p:nvPr>
            <p:ph type="subTitle" idx="4294967295"/>
          </p:nvPr>
        </p:nvSpPr>
        <p:spPr>
          <a:xfrm>
            <a:off x="4557196" y="2347729"/>
            <a:ext cx="4328708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DISCUSSÃO</a:t>
            </a:r>
          </a:p>
        </p:txBody>
      </p:sp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64E47041-2975-8384-BCDD-01FC835A403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CF436837-EFC1-2840-C904-01773D49F8F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8709C54-5CF7-3CC5-FC38-65FF0FEF301B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0ADFE745-3B12-F718-61A1-8BBF76EB57FC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135C2E5F-D09B-77CD-B0E8-0D096FB870D8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AAED5796-CB34-7421-D83C-3060BFF3892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DF6A4723-17C1-33BD-FA98-2086A3A87F2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4F494D98-8F95-6D27-713B-7C9646D6A203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F3446691-219F-0239-9065-E5975988F4D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F267B7B6-F2BD-E6D3-A9E1-E193B0F493A6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26B71872-DB28-7393-E646-C3944E337A9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8F4F8B6D-76FE-E348-1724-0B8B39596389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BB9317A-2077-A051-A65B-89521444EBC2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FF96EC6-D667-B9A4-8E47-88658C5156B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AC05A6F-A8C3-97FD-8E65-EEC1828324A3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47D6DA0-1B96-6A86-AD08-7BF7E102B3E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32F42FBC-D3B1-EBD7-90F9-E3FB4D31F12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ACE4725-DF59-A040-5DC1-42D7E87CB43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DC729AD-56F5-2FE5-8C59-2AE52C35015A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658BA71-6E16-D36A-3BD9-1C22E5956C3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529090F-0F74-EDA9-C6AA-A9FE6F5EDE0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CF7FFF0-4CEE-9B07-8095-15AE2FF762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E1D91122-8D81-C42E-0389-87E2105D48B3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C03F9D5C-799B-93FD-D8F5-63255D63307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D5D934C1-FE6C-AFB5-3295-F784041DBCF2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16379635-AADC-FE4B-2841-855B104F125B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FD1FC93C-CE95-85F2-4C88-2C5D054DA2D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DD0C291C-938B-A6B9-CEC2-AD110E2BFE43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AAF2F102-48A4-01E1-9892-55235476908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50D93ED6-91F8-5000-D81D-D822E3D7264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F9F8DD3-4477-CA9B-162A-535AC947649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2282D131-67DD-EA26-AE3B-2443A02F999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63F32D99-E25A-B9E3-2CDC-5931380CC93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48658B7D-B1A7-BE27-40FF-627C0A08D2E9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Sumário</a:t>
            </a:r>
          </a:p>
        </p:txBody>
      </p:sp>
      <p:cxnSp>
        <p:nvCxnSpPr>
          <p:cNvPr id="962" name="Conector reto 961">
            <a:extLst>
              <a:ext uri="{FF2B5EF4-FFF2-40B4-BE49-F238E27FC236}">
                <a16:creationId xmlns:a16="http://schemas.microsoft.com/office/drawing/2014/main" id="{7BA40BB0-4548-F776-2470-61C092C34C91}"/>
              </a:ext>
            </a:extLst>
          </p:cNvPr>
          <p:cNvCxnSpPr>
            <a:cxnSpLocks/>
          </p:cNvCxnSpPr>
          <p:nvPr/>
        </p:nvCxnSpPr>
        <p:spPr>
          <a:xfrm>
            <a:off x="-85725" y="1165521"/>
            <a:ext cx="2649110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tângulo 35">
            <a:extLst>
              <a:ext uri="{FF2B5EF4-FFF2-40B4-BE49-F238E27FC236}">
                <a16:creationId xmlns:a16="http://schemas.microsoft.com/office/drawing/2014/main" id="{D7DD4086-615A-0E58-D8E8-50B4A23146D9}"/>
              </a:ext>
            </a:extLst>
          </p:cNvPr>
          <p:cNvSpPr/>
          <p:nvPr/>
        </p:nvSpPr>
        <p:spPr>
          <a:xfrm>
            <a:off x="862534" y="156698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211092A8-E600-CC46-3E1F-292A792D7364}"/>
              </a:ext>
            </a:extLst>
          </p:cNvPr>
          <p:cNvSpPr/>
          <p:nvPr/>
        </p:nvSpPr>
        <p:spPr>
          <a:xfrm>
            <a:off x="857183" y="2369873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0451A375-D196-1726-ECCA-7E245A03E1FA}"/>
              </a:ext>
            </a:extLst>
          </p:cNvPr>
          <p:cNvSpPr/>
          <p:nvPr/>
        </p:nvSpPr>
        <p:spPr>
          <a:xfrm>
            <a:off x="857183" y="3183789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BDA9615E-D7DB-167C-A9AC-F81F0CB3E9DD}"/>
              </a:ext>
            </a:extLst>
          </p:cNvPr>
          <p:cNvSpPr/>
          <p:nvPr/>
        </p:nvSpPr>
        <p:spPr>
          <a:xfrm>
            <a:off x="857183" y="397212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6B497598-AFE8-3115-CD53-7C381BF1988F}"/>
              </a:ext>
            </a:extLst>
          </p:cNvPr>
          <p:cNvSpPr/>
          <p:nvPr/>
        </p:nvSpPr>
        <p:spPr>
          <a:xfrm>
            <a:off x="3966576" y="156698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A4F7604E-B2D6-4422-A564-282AC054B811}"/>
              </a:ext>
            </a:extLst>
          </p:cNvPr>
          <p:cNvSpPr/>
          <p:nvPr/>
        </p:nvSpPr>
        <p:spPr>
          <a:xfrm>
            <a:off x="3977810" y="2384651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9323D91-788A-4465-6A2A-5D1790BB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F19ED00-B180-E1C7-5776-281B11C6BF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97" name="Google Shape;997;p39">
            <a:extLst>
              <a:ext uri="{FF2B5EF4-FFF2-40B4-BE49-F238E27FC236}">
                <a16:creationId xmlns:a16="http://schemas.microsoft.com/office/drawing/2014/main" id="{FC97BD8C-0150-851A-5099-F7D989228C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31829" y="1302735"/>
            <a:ext cx="6724306" cy="3840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Notícias oficiais da Polícia Federal constituem uma base pública contínua sobre a atuação institucional comunicada.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O corpus reúne </a:t>
            </a:r>
            <a:r>
              <a:rPr lang="pt-BR" b="1" dirty="0">
                <a:latin typeface="+mj-lt"/>
              </a:rPr>
              <a:t>8.055 notícias</a:t>
            </a:r>
            <a:r>
              <a:rPr lang="pt-BR" b="0" dirty="0">
                <a:latin typeface="+mj-lt"/>
              </a:rPr>
              <a:t>, cobrindo operações, prisões, apreensões, cooperação institucional e diferentes tipos de crimes investigados.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A análise permite observar padrões temáticos, mudanças ao longo do tempo e relações entre categorias de crime, instituições e territórios.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A base apresenta desafios metodológicos: textos heterogêneos, diferentes níveis de detalhe e grande volume documental.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Classificações exclusivamente baseadas em </a:t>
            </a:r>
            <a:r>
              <a:rPr lang="pt-BR" b="0" dirty="0" err="1">
                <a:latin typeface="+mj-lt"/>
              </a:rPr>
              <a:t>LLMs</a:t>
            </a:r>
            <a:r>
              <a:rPr lang="pt-BR" b="0" dirty="0">
                <a:latin typeface="+mj-lt"/>
              </a:rPr>
              <a:t> podem aumentar custos e reduzir rastreabilidade.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O trabalho propõe uma arquitetura híbrida: </a:t>
            </a:r>
            <a:r>
              <a:rPr lang="pt-BR" b="1" dirty="0">
                <a:latin typeface="+mj-lt"/>
              </a:rPr>
              <a:t>regex auditável como primeira camada e LLM apenas para casos ambíguos</a:t>
            </a:r>
            <a:r>
              <a:rPr lang="pt-BR" b="0" dirty="0">
                <a:latin typeface="+mj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dirty="0">
                <a:latin typeface="+mj-lt"/>
              </a:rPr>
              <a:t>A proposta busca produzir uma classificação reprodutível, auditável e útil para estudos de segurança pública, comunicação institucional e governança algorítmica.</a:t>
            </a:r>
          </a:p>
        </p:txBody>
      </p:sp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31CE6230-8794-35DB-E9ED-A9C1822A94EE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F028FA0E-848D-CD73-BC16-D6C429A687CD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3B32D767-C610-9452-B73B-24490148457F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EE0BA9D3-27F3-5A4F-1356-CA70AD58604B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652B6251-D4A1-40E6-948E-87B7F4A61BE2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C8B97E00-F4F4-D9E7-FE87-AF620DB01D46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84C9448-F433-1394-A3AE-EFD65352A371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07669F7-576F-C942-7C16-CB80CFADB202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36700FE8-BEBA-DE07-A675-2504475F5A9A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FA570430-FC7F-82F6-3845-929D0C543EC7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4F708838-4BF6-38E9-19D5-5DD41167578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6879C3F7-6187-D9F0-37BC-005D408BAB1F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1E72564-98A4-46AE-CE72-A5FAB67ED7B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6E42FBEF-4649-9CBE-A70D-9FD35AAB872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986F6736-3120-E0AB-4097-875016AFF70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F68CB775-DD23-C362-2E55-F3EA99B910F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ACDD1B9D-D5F2-6EBC-DC59-E3E0E21952E0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E0F97B40-0FB9-CB3A-482C-C45DD3A4C7E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DE9CC480-D41C-5835-CFB5-EA8C6F6E0B92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0B9184C2-9568-599D-4762-0EDB92F2021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A7CF3EBA-C767-1CA2-8C94-9DCB3F93BD26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237A61C3-82A1-E319-308A-A23B3F97E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1E349C23-CFC4-6B31-432C-7A2B438AE129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2D98E301-3043-5A0F-AE1F-97928C0686B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6B9ECDC-21B9-ED4D-94FA-E3FE8388E08D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A014D854-71F5-8586-5C92-BED8A3F208A4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7C861104-0946-C479-D96E-278A14D4588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1498A350-CE28-CADC-71D5-ACD92883EF2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10328C6B-EBF6-1CCB-A90D-A83AAF40D2E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24AF283-609D-6F8C-5AB6-84CA5588358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391C5773-B20C-E0AA-4891-C7E1737AE78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1ED249DE-9AC8-E53F-68EF-065B1521C39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216CA3E5-F256-1445-3A5A-9E21817D9368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Introdução</a:t>
            </a:r>
          </a:p>
        </p:txBody>
      </p: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67AA91FE-F71D-F3A5-0A2A-34B1D5A5177B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AA8FA1A-AEAB-0E4C-390D-1DE84EB0BC93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1901297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44AF7A23-9757-C0A9-A04C-53CD2639B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EB381B9-480D-CAFA-1170-42D85E6883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9F0A471-2708-EA58-6277-12BB40619D0B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C456867-CDD5-C14E-9DF0-61007B6B72A2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21D3E3A7-4B8E-1C87-4158-114C8A02E6A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937BBA20-4143-A2AA-E88E-C373C0E10508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5C69703F-3791-F194-05B9-53D752782182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68FF8895-7EF1-8234-B7E1-763DC181476D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401A8B08-8182-4F3D-6347-CEDA50BE3770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6D00061A-7BD7-2716-3070-9980818653BA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7FA6E28-8C3A-2488-8107-E6B9DDE95CD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92FE2565-193C-68C7-BB1C-612AF7CE0184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5788CF4A-7A53-11EA-C105-2836C4E887C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E25D7A3-218E-3E0E-BC16-AF1C11B2B1FF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417EFAA1-FE2C-2C47-147E-3787F843C269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5F99716C-5110-E326-F9F4-1DFA8024A92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FC5385FF-BB33-EFF2-3C02-8FA9D296616E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F1B436DF-EB44-B454-D064-F83FFBA922C8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3CA2D17-EC0D-CF50-69CA-3888258429BF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BA7AA059-4F8C-EE7D-4F6E-4592743D591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1C414CBD-1FF6-FC49-E0D6-0614D1C2DF1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D29C8B5C-01FD-44AD-AE24-66BC83DD46FD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9CCEA638-AD30-3205-8960-6382EB4C365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95FDA85D-0B2D-2A32-8DE9-13B832829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EE514FF3-5B3C-B215-133E-CD2B6DD65E0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81AD2F9-82DA-1502-4B35-8D4D7712CA56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EE2795D3-852F-1453-607F-4B690C759E37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8CC4C781-D80F-3043-1D48-4BD301AF978C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Trabalhos Relacionados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6011F30D-9398-E92D-E325-9E523606713B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893089AA-7943-37B4-EEB8-4CDDE752F318}"/>
              </a:ext>
            </a:extLst>
          </p:cNvPr>
          <p:cNvSpPr txBox="1">
            <a:spLocks/>
          </p:cNvSpPr>
          <p:nvPr/>
        </p:nvSpPr>
        <p:spPr>
          <a:xfrm>
            <a:off x="768626" y="1302735"/>
            <a:ext cx="6666859" cy="3840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800" dirty="0">
                <a:solidFill>
                  <a:schemeClr val="bg2"/>
                </a:solidFill>
                <a:latin typeface="+mj-lt"/>
              </a:rPr>
              <a:t>Aqui foi dividido em três partes: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</a:rPr>
              <a:t>A primeira linha de trabalhos mostra que </a:t>
            </a:r>
            <a:r>
              <a:rPr lang="pt-BR" sz="1800" dirty="0" err="1">
                <a:solidFill>
                  <a:schemeClr val="bg2"/>
                </a:solidFill>
              </a:rPr>
              <a:t>LLMs</a:t>
            </a:r>
            <a:r>
              <a:rPr lang="pt-BR" sz="1800" dirty="0">
                <a:solidFill>
                  <a:schemeClr val="bg2"/>
                </a:solidFill>
              </a:rPr>
              <a:t> podem ser usados para classificar textos heterogêneos, especialmente quando há muitas categorias, poucas amostras rotuladas ou grande volume documental.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</a:rPr>
              <a:t>A segunda linha fundamenta o uso de regras, heurísticas e funções de rotulagem como alternativa auditável e de menor custo para gerar classificações.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</a:rPr>
              <a:t>A terceira linha trata da exploração semântica dos textos e da necessidade de separar classificação substantiva de agrupamentos exploratórios.</a:t>
            </a:r>
            <a:endParaRPr lang="pt-BR" sz="1800" dirty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96052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85ACE105-09AC-D2E3-E5D6-830672A8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8CB6C5A6-5F87-293B-EA07-E43DA9529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232F862C-FA6B-0584-F1DE-55AA1221BA5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2BBFEA1-4B12-37F2-9578-EB2314A5555B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BFEE9FED-93EE-6A04-6FBB-E3E45226D055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C700C935-EBFA-2A5A-668E-0CFF3837E601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FDC01B3-EF70-95B2-DCE4-3D77713A6EC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2ACEB5F3-65C3-FE73-1C1E-A200217CC25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F802A2D-8FE5-203A-754D-27896C840BE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7F728BD9-3015-FF41-E15E-028D844140F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5E61ACF-29CE-D9A4-E7AD-57FE004944A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5BCBEF03-7D7E-C03F-020C-FF4E19ECA73B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25D9FC9A-053C-28A5-16D8-F93C013F5CE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71A3AE46-A8E2-46CB-F3D8-FA69B07814E4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CC7D90DC-1BE7-5440-88C8-F3C2D69245D4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BCA47EF2-F011-9C4D-2186-3F10F82D94F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D0C0552F-9C29-C43A-CFBF-5E08E9830C56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C1DF5302-32D9-0F33-7B94-C63B0DD46A03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3944DE15-FEEC-86DC-1C6F-BE7DA78EFA1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D1784EF0-3953-5B5F-B090-38DC2DA1C2D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AE12CB9F-3C9A-E536-DECF-1C1953668050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EDA99972-A20C-0126-E288-931128825DC6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C0E5C6CC-CF58-B7A3-2D9B-54977CDE090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1E4B300-3EAE-CDEA-282E-41959FFD4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AC50D132-79BF-6648-C2AB-9E0640EBCEAC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5CA0F818-8B9F-F035-EC42-77DBDE216A6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A98A2A4-602D-D9E4-5DCB-275068DA00A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46BFB703-F547-B20B-0584-AB0F579AE20F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573DDEFE-56CF-82CF-69FB-2A121235AFEF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9CBF7969-37FD-8C6D-CFC3-E31D3C95A7E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BD61B70-6F96-FD22-4ED2-14C9C57C4D4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6410E19-44C6-3B9D-0D09-C7DC11390DA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EE575407-21C9-C418-8437-039A1078742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87B368A5-2EA9-D067-CE02-92ECF0C8B46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9F1DC34-6B9D-49AC-33F7-8DEC32A9E231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96047C65-1ED5-4B95-620F-F7B347799933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651112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1800" dirty="0">
                <a:solidFill>
                  <a:schemeClr val="bg1"/>
                </a:solidFill>
              </a:rPr>
              <a:t>TR - </a:t>
            </a:r>
            <a:r>
              <a:rPr lang="pt-BR" sz="1800" dirty="0" err="1">
                <a:solidFill>
                  <a:schemeClr val="bg1"/>
                </a:solidFill>
              </a:rPr>
              <a:t>LLMs</a:t>
            </a:r>
            <a:r>
              <a:rPr lang="pt-BR" sz="1800" dirty="0">
                <a:solidFill>
                  <a:schemeClr val="bg1"/>
                </a:solidFill>
              </a:rPr>
              <a:t> para classificação textual e anotação em larga escala 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BF745F7-0F7B-A292-2352-31082BB2168F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4BE03702-9606-CFAA-4155-F50A811ABFAC}"/>
              </a:ext>
            </a:extLst>
          </p:cNvPr>
          <p:cNvSpPr txBox="1">
            <a:spLocks/>
          </p:cNvSpPr>
          <p:nvPr/>
        </p:nvSpPr>
        <p:spPr>
          <a:xfrm>
            <a:off x="831829" y="1285328"/>
            <a:ext cx="6603656" cy="38579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dirty="0" err="1"/>
              <a:t>LLMs</a:t>
            </a:r>
            <a:r>
              <a:rPr lang="pt-BR" dirty="0"/>
              <a:t> têm sido usados em tarefas de classificação textual, anotação, triagem documental e extração de informação. </a:t>
            </a:r>
          </a:p>
          <a:p>
            <a:r>
              <a:rPr lang="pt-BR" dirty="0"/>
              <a:t>Esses modelos são úteis quando os textos apresentam vocabulário variado, categorias abertas e baixa padronização. </a:t>
            </a:r>
          </a:p>
          <a:p>
            <a:r>
              <a:rPr lang="pt-BR" sz="1800" dirty="0"/>
              <a:t>---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Gilardi, </a:t>
            </a:r>
            <a:r>
              <a:rPr lang="pt-BR" dirty="0" err="1"/>
              <a:t>Alizadeh</a:t>
            </a:r>
            <a:r>
              <a:rPr lang="pt-BR" dirty="0"/>
              <a:t> e </a:t>
            </a:r>
            <a:r>
              <a:rPr lang="pt-BR" dirty="0" err="1"/>
              <a:t>Kubli</a:t>
            </a:r>
            <a:r>
              <a:rPr lang="pt-BR" dirty="0"/>
              <a:t> (2023) mostram que </a:t>
            </a:r>
            <a:r>
              <a:rPr lang="pt-BR" dirty="0" err="1"/>
              <a:t>LLMs</a:t>
            </a:r>
            <a:r>
              <a:rPr lang="pt-BR" dirty="0"/>
              <a:t> podem atuar como anotadores competitivos em tarefas de ciências sociais.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Crowl</a:t>
            </a:r>
            <a:r>
              <a:rPr lang="pt-BR" dirty="0"/>
              <a:t> et al. (2025) aplicam </a:t>
            </a:r>
            <a:r>
              <a:rPr lang="pt-BR" dirty="0" err="1"/>
              <a:t>LLMs</a:t>
            </a:r>
            <a:r>
              <a:rPr lang="pt-BR" dirty="0"/>
              <a:t> para mensurar conteúdo jornalístico em larga escala.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Zitei</a:t>
            </a:r>
            <a:r>
              <a:rPr lang="pt-BR" dirty="0"/>
              <a:t>, </a:t>
            </a:r>
            <a:r>
              <a:rPr lang="pt-BR" dirty="0" err="1"/>
              <a:t>Sakiyama</a:t>
            </a:r>
            <a:r>
              <a:rPr lang="pt-BR" dirty="0"/>
              <a:t> e </a:t>
            </a:r>
            <a:r>
              <a:rPr lang="pt-BR" dirty="0" err="1"/>
              <a:t>Marcacini</a:t>
            </a:r>
            <a:r>
              <a:rPr lang="pt-BR" dirty="0"/>
              <a:t> (2025) propõem uma abordagem de classificação em contexto aberto, combinando modelos fracos e </a:t>
            </a:r>
            <a:r>
              <a:rPr lang="pt-BR" dirty="0" err="1"/>
              <a:t>LLMs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Limitação dessa linha: o uso integral de </a:t>
            </a:r>
            <a:r>
              <a:rPr lang="pt-BR" dirty="0" err="1"/>
              <a:t>LLMs</a:t>
            </a:r>
            <a:r>
              <a:rPr lang="pt-BR" dirty="0"/>
              <a:t> pode elevar custo, reduzir rastreabilidade e dificultar reprodutibilidade.</a:t>
            </a:r>
            <a:endParaRPr lang="pt-BR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5554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C6BDBAA3-4B84-343A-0FE7-72B9E204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F5DA948-C1B0-CA42-12CB-C3295F29B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1537800D-E586-8209-AAA2-838DBF97992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F5254515-7750-4F9B-4C56-647C629BDA03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F7554F5F-DE6F-A38B-DBA2-77C822E98237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02B29A28-7004-2A12-D166-D8B8429D0F44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547A6225-651D-543F-EB9C-62F0580D232C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8EFD4CA6-AEF4-3F0B-1D59-D55A1B80CA7B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930A7474-DE1D-DCA3-229E-2FF00C292F6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C192FA53-BDD6-2A20-4693-D7119821BF1C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2B81CF7B-14C2-54D1-B18F-6F5C50FE1004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1129C175-1E72-64AD-D57D-D14BFCA152C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3FC1DA44-51E2-6273-A432-FFC5C9A6E95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A2397B7-FDF6-1693-1B9B-42133EEFDD4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3A01521B-122F-A7A8-7F1C-43D86541F999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A5787898-EA03-F301-CB19-456EDA7B33D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F09B654-3B41-2395-F754-A4B0BDD5D93B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D15B18F3-32F8-8E3F-755C-049EAB7B09C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EC3C6094-2059-CFB8-EDF5-0196FA912D7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CD754A07-A89F-0B63-A304-F78F8D398926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2FE08DB1-ED73-5703-8056-12E6E4B87719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ACB6318F-6AD8-A7C4-4155-6830E8707828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5EBE801-991C-65C4-D439-41B116CBCE8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BCE49A17-3EF6-B748-DB20-C8DBD9AF5E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BA2D40D4-DF02-D79D-D4C0-5BD9565FDD80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0CBC9246-D59A-A47B-540C-5927915E42D2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F28A5570-3FC3-A1A0-C1F8-28286CF47457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B098F8B1-8A65-F71E-95E1-6A4080F0FF32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02BBD648-D073-CD45-7E5D-9C7271062BB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83118D2-93FD-9AEE-11DA-328E8E7D4F5C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870DDC72-6D8A-9CF0-347A-4B50F3F400A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526512D7-0BCE-B950-16D0-24466A592C7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6E5735C0-9014-5411-4BD3-71ECF3B8A45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6118B3CA-E5C2-EDFC-B04A-FDEABFC4D033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62894BC6-FB04-5161-9144-F4D30523B64C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57C9A694-926B-1153-B10F-7F1B9C703B6C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651112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1800" dirty="0">
                <a:solidFill>
                  <a:schemeClr val="bg1"/>
                </a:solidFill>
              </a:rPr>
              <a:t>TR </a:t>
            </a:r>
            <a:r>
              <a:rPr lang="pt-BR" sz="2800" dirty="0">
                <a:solidFill>
                  <a:schemeClr val="bg1"/>
                </a:solidFill>
              </a:rPr>
              <a:t>- </a:t>
            </a:r>
            <a:r>
              <a:rPr lang="pt-BR" sz="1800" dirty="0">
                <a:solidFill>
                  <a:schemeClr val="bg1"/>
                </a:solidFill>
              </a:rPr>
              <a:t>Supervisão fraca, regras programáticas e aprendizado contínuo </a:t>
            </a:r>
            <a:endParaRPr lang="pt-BR" sz="2800" dirty="0">
              <a:solidFill>
                <a:schemeClr val="bg1"/>
              </a:solidFill>
            </a:endParaRP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5FDBE0ED-2DDE-E087-5B65-30885EE5EC6A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49537298-ECD3-17C0-871C-DA90997F1E4B}"/>
              </a:ext>
            </a:extLst>
          </p:cNvPr>
          <p:cNvSpPr txBox="1">
            <a:spLocks/>
          </p:cNvSpPr>
          <p:nvPr/>
        </p:nvSpPr>
        <p:spPr>
          <a:xfrm>
            <a:off x="831829" y="1285328"/>
            <a:ext cx="6603656" cy="38579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dirty="0"/>
              <a:t>A literatura de </a:t>
            </a:r>
            <a:r>
              <a:rPr lang="pt-BR" b="1" dirty="0"/>
              <a:t>supervisão fraca programática</a:t>
            </a:r>
            <a:r>
              <a:rPr lang="pt-BR" dirty="0"/>
              <a:t> utiliza regras, heurísticas e funções de rotulagem para produzir sinais supervisionados de baixo custo.</a:t>
            </a:r>
          </a:p>
          <a:p>
            <a:r>
              <a:rPr lang="pt-BR" sz="1800" dirty="0"/>
              <a:t>---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Ratner</a:t>
            </a:r>
            <a:r>
              <a:rPr lang="pt-BR" dirty="0"/>
              <a:t> et al. (2016) propõem o conceito de </a:t>
            </a:r>
            <a:r>
              <a:rPr lang="pt-BR" b="1" dirty="0"/>
              <a:t>data </a:t>
            </a:r>
            <a:r>
              <a:rPr lang="pt-BR" b="1" dirty="0" err="1"/>
              <a:t>programming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</a:t>
            </a:r>
            <a:r>
              <a:rPr lang="pt-BR" dirty="0" err="1"/>
              <a:t>Snorkel</a:t>
            </a:r>
            <a:r>
              <a:rPr lang="pt-BR" dirty="0"/>
              <a:t>, de </a:t>
            </a:r>
            <a:r>
              <a:rPr lang="pt-BR" dirty="0" err="1"/>
              <a:t>Ratner</a:t>
            </a:r>
            <a:r>
              <a:rPr lang="pt-BR" dirty="0"/>
              <a:t> et al. (2017), operacionaliza essa lógica combinando diferentes fontes fracas de supervisão.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Trabalhos recentes incorporam </a:t>
            </a:r>
            <a:r>
              <a:rPr lang="pt-BR" dirty="0" err="1"/>
              <a:t>LLMs</a:t>
            </a:r>
            <a:r>
              <a:rPr lang="pt-BR" dirty="0"/>
              <a:t> nesse ciclo, usando prompts ou modelos de linguagem como </a:t>
            </a:r>
            <a:r>
              <a:rPr lang="pt-BR" dirty="0" err="1"/>
              <a:t>labeling</a:t>
            </a:r>
            <a:r>
              <a:rPr lang="pt-BR" dirty="0"/>
              <a:t> </a:t>
            </a:r>
            <a:r>
              <a:rPr lang="pt-BR" dirty="0" err="1"/>
              <a:t>functions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Li, Zhang e Wang (2024) exploram </a:t>
            </a:r>
            <a:r>
              <a:rPr lang="pt-BR" dirty="0" err="1"/>
              <a:t>LLMs</a:t>
            </a:r>
            <a:r>
              <a:rPr lang="pt-BR" dirty="0"/>
              <a:t> para gerar funções de rotulagem, inclusive com palavras-chave e expressões regulares.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ALCHEmist</a:t>
            </a:r>
            <a:r>
              <a:rPr lang="pt-BR" dirty="0"/>
              <a:t>, de Huang et al. (2024), propõe usar </a:t>
            </a:r>
            <a:r>
              <a:rPr lang="pt-BR" dirty="0" err="1"/>
              <a:t>LLMs</a:t>
            </a:r>
            <a:r>
              <a:rPr lang="pt-BR" dirty="0"/>
              <a:t> para gerar programas reutilizáveis de rotulagem, reduzindo chamadas repetidas ao modelo.</a:t>
            </a:r>
            <a:endParaRPr lang="pt-BR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61475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5A46571-9178-8083-F497-9EAA800BD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5A2F9B14-2AAF-4A6B-FF1C-58DCD8C0A2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90B1185A-E19E-201F-9AFB-83BAE3D5E517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AABBF932-9463-C695-264B-4D8CF7E78D48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780FBCD7-F3F1-D542-B64A-C9EEB64AB321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69C30A43-BCCA-C11B-A0B0-CB1A94546780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7C047ED8-36BA-D45E-F454-7D472CE33FE5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01BDE4E0-B198-1BF2-2773-AC2A26A82C7E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DB588A20-6F09-2BBD-4988-5A6C5D88A2C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5DD1D8D3-D124-283E-DD20-EFA1B94CD916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DFAA8A85-D5F8-BCC9-3C71-6398DEE331D3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2C867C2D-FE0A-2AEC-0092-1F7A9B9F9E83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DA22F0A3-F3D1-5330-F027-C1891D98DC9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21E99746-5EDE-B12B-D359-7B5B26F85474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1493FCA-AAEC-3076-BA7B-29C2FFC37286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8EBD803E-7394-2D33-56D1-63960560B89C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E7EED7E6-8F0E-6041-348E-84A9B5446C5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5072DE02-3948-BE10-2283-17F28E3FD31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D9F6263-36C2-A5BE-F1B4-4C55373D526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86C7AA03-8618-5087-EA85-0AB43C6CC9E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B4891BFB-3FE7-8004-8520-828F6BBC1080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72F34F8F-1723-9573-60AC-116274103BF0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732F99C2-B43B-D938-9C0F-BFA692C426AF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3EF0F3C-8FD8-E1AD-05C2-7E8087164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AE68C4A9-B251-94C5-E31D-FC7F023C2EB2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81C5F06A-289F-674C-B1ED-2246522C2731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DDA65330-F3BD-D40E-7AEF-1D240071F7BD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F6269859-D350-B81F-9AFE-8C4495FAA707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51ADFFE1-F0D0-327B-7563-950B155329A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37641A4-C8C4-3BB6-4C1B-D2681DEC731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75317227-6373-6A55-A1BC-F50B587A035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3A7659AA-2318-EF2A-684F-05B0A904064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A442FAD2-3576-507E-67EA-5D6111C00A85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A44CA373-11E5-AA73-2D93-91A6008FD12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7C9EA33-0A15-8496-ADA2-D545C9FEC1EB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18439791-8BE7-2567-D770-232257BFEBE0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651112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1800" dirty="0">
                <a:solidFill>
                  <a:schemeClr val="bg1"/>
                </a:solidFill>
              </a:rPr>
              <a:t>TR - Clusterização semântica, consenso e governança da classificação 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D9EA9DA4-94F3-AB9C-6986-89E9EBBF6678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69F8A033-AAAA-349F-4023-06A6647D58EC}"/>
              </a:ext>
            </a:extLst>
          </p:cNvPr>
          <p:cNvSpPr txBox="1">
            <a:spLocks/>
          </p:cNvSpPr>
          <p:nvPr/>
        </p:nvSpPr>
        <p:spPr>
          <a:xfrm>
            <a:off x="831829" y="1285328"/>
            <a:ext cx="6603656" cy="38579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dirty="0"/>
              <a:t>Métodos como </a:t>
            </a:r>
            <a:r>
              <a:rPr lang="pt-BR" b="1" dirty="0" err="1"/>
              <a:t>Sentence</a:t>
            </a:r>
            <a:r>
              <a:rPr lang="pt-BR" b="1" dirty="0"/>
              <a:t>-BERT, </a:t>
            </a:r>
            <a:r>
              <a:rPr lang="pt-BR" b="1" dirty="0" err="1"/>
              <a:t>BERTopic</a:t>
            </a:r>
            <a:r>
              <a:rPr lang="pt-BR" b="1" dirty="0"/>
              <a:t> e Top2Vec</a:t>
            </a:r>
            <a:r>
              <a:rPr lang="pt-BR" dirty="0"/>
              <a:t> permitem representar textos por similaridade semântica. </a:t>
            </a:r>
          </a:p>
          <a:p>
            <a:r>
              <a:rPr lang="pt-BR" dirty="0"/>
              <a:t>Técnicas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b="1" dirty="0"/>
              <a:t>, agrupamento hierárquico e HDBSCAN</a:t>
            </a:r>
            <a:r>
              <a:rPr lang="pt-BR" dirty="0"/>
              <a:t> são usadas para identificar padrões latentes em coleções textuais.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clusterização ajuda a revelar proximidades temáticas, vizinhanças documentais e subgrupos relevantes.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Porém, clusters não equivalem automaticamente a categorias jurídicas, policiais ou administrativas.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 isso, o trabalho separa três camadas analíticas: </a:t>
            </a:r>
          </a:p>
          <a:p>
            <a:pPr lvl="6"/>
            <a:r>
              <a:rPr lang="pt-BR" dirty="0"/>
              <a:t>      - classificação temática híbrida; </a:t>
            </a:r>
          </a:p>
          <a:p>
            <a:pPr lvl="3"/>
            <a:r>
              <a:rPr lang="pt-BR" dirty="0"/>
              <a:t>      - agrupamentos exploratórios; </a:t>
            </a:r>
          </a:p>
          <a:p>
            <a:pPr lvl="3"/>
            <a:r>
              <a:rPr lang="pt-BR" dirty="0"/>
              <a:t>      - clusters canônicos para síntese substantiva.</a:t>
            </a:r>
          </a:p>
          <a:p>
            <a:pPr lvl="1"/>
            <a:r>
              <a:rPr lang="pt-BR" dirty="0"/>
              <a:t>---</a:t>
            </a:r>
          </a:p>
          <a:p>
            <a:pPr lvl="1"/>
            <a:r>
              <a:rPr lang="pt-BR" dirty="0"/>
              <a:t>Estudos sobre consenso em clusterização, como Monti et al. (2003), ajudam a avaliar a estabilidade dos agrupamentos.</a:t>
            </a:r>
          </a:p>
        </p:txBody>
      </p:sp>
    </p:spTree>
    <p:extLst>
      <p:ext uri="{BB962C8B-B14F-4D97-AF65-F5344CB8AC3E}">
        <p14:creationId xmlns:p14="http://schemas.microsoft.com/office/powerpoint/2010/main" val="3733313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BEBCD83-6CD6-AC36-5056-2DE508A4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355C4A1-D07A-2DAF-0449-430EFEA40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7ADBBACD-CA6A-A60E-A3A7-7DC17095A56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A65FB00-B6EB-169C-4633-3148E7A55E72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12595F6A-455F-1502-FC92-2AD009830EFE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604FE643-40B8-F601-2EBB-973B9F8055EE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A808A12D-DE5C-550F-F973-C69F711DA3D8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21FE3389-9D10-0E1E-8742-95DFBBF8249C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465BA00-2ED7-356F-07BC-C6B99D67708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C6B40920-6F63-46D8-C35F-D3826B62942E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1B0A7EA-9D11-B2B2-6ECD-62A909E0404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9D1D7371-E399-0EE3-6FBD-422136F37E4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55A86F08-7740-EA03-5844-E7EFC0BBAB56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F0C09E87-C6D3-A2E9-ED7A-E6248901A8E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64E16909-3E71-3E8E-19E0-4D3CD90A633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6549E76-390D-76B9-F489-5B330DA9D2C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747DA26D-3286-5C38-396A-3F9F2FB3DD0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E475980-3795-5EB6-6873-3828142DDEB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C06A9A5-6ED7-CE4C-0E68-34BF6F6C995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2326735-8B6F-D348-FA9F-905A9EE6C418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51DAD09-9098-F632-D483-C27A1C3543FB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D6CABEA4-5663-F297-08C5-B65EB25F93B7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6CF65B6-594C-BD34-55CF-6B8B296EDBE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FE72EE83-B29F-9841-C187-1546C286E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9113046-562F-AC00-6002-83A845664C28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E5B66599-7D00-BF64-C968-D608E888315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FD527EA-E427-F9BF-147D-ED6D24D62FBD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0A4FE9E6-19EA-2038-9408-2624F668703E}"/>
              </a:ext>
            </a:extLst>
          </p:cNvPr>
          <p:cNvSpPr txBox="1">
            <a:spLocks/>
          </p:cNvSpPr>
          <p:nvPr/>
        </p:nvSpPr>
        <p:spPr>
          <a:xfrm>
            <a:off x="356686" y="851537"/>
            <a:ext cx="683761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DADOS E REPRESENTATIVIDADE</a:t>
            </a:r>
          </a:p>
          <a:p>
            <a:pPr algn="l"/>
            <a:endParaRPr lang="pt-BR" sz="3200" dirty="0">
              <a:solidFill>
                <a:schemeClr val="bg2"/>
              </a:solidFill>
              <a:latin typeface="+mj-lt"/>
              <a:cs typeface="Arial" panose="020B0604020202020204" pitchFamily="34" charset="0"/>
            </a:endParaRP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10698D71-24E3-D62B-6317-43E75B5501FF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5F62279A-3198-F973-B84B-B8654D0487AE}"/>
              </a:ext>
            </a:extLst>
          </p:cNvPr>
          <p:cNvSpPr txBox="1">
            <a:spLocks/>
          </p:cNvSpPr>
          <p:nvPr/>
        </p:nvSpPr>
        <p:spPr>
          <a:xfrm>
            <a:off x="831829" y="1302734"/>
            <a:ext cx="5774380" cy="31102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Dados: construção do corpus analítico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Dimensão e cobertura temporal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Unidade de análise: notícia publicada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Representatividade: o que a base permite analisar Comparação exploratória com inquéritos</a:t>
            </a:r>
          </a:p>
        </p:txBody>
      </p:sp>
    </p:spTree>
    <p:extLst>
      <p:ext uri="{BB962C8B-B14F-4D97-AF65-F5344CB8AC3E}">
        <p14:creationId xmlns:p14="http://schemas.microsoft.com/office/powerpoint/2010/main" val="3200728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61B910E1-AC01-F00F-4E97-EC67B8DF7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F135C65D-F18A-2DE2-179D-E6DC4EAB0E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24A176EE-E7FE-4512-CE29-92328C094404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679B4BB-554F-DB3B-3E0C-0334013C2938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120C9E50-007F-F83C-175B-D5AD31BBB5F6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FA48CB16-7D62-6F77-CA6A-352E1FFE992E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CA9A43A-0714-868B-71E8-1F7368FADF0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43E04C27-F694-3881-6A18-9D77E8AC584A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AD16A44-E741-E67F-507A-905D8694CE95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F21BE964-D11E-AED1-B783-1EA631690F3E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C78BED65-6B46-9A85-52CA-A4AAECC1FDA8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58A01C8E-6BC1-A511-0EDD-E896968AA01D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D00E509E-2A9E-5FC1-A03F-575ABAFAAA2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875C78F4-7346-688F-8DF3-B56EF3F9C1BC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A5279D2-B485-A086-DDB5-5B7D026301A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854DF2B-F306-BC86-4441-8C5D15FA493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C53BBD56-2A10-9966-2B50-7023B4915E2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5B18ADD-0243-BB92-66B2-66C0BAE3821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5C29329D-09AE-BB2B-6E10-D7162AD3FC2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53F4546-5A77-D012-748F-50277C3D439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396271E-0132-3796-2712-2E8CC29D306E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9BCBD3D7-9B62-F293-FDAC-5C5DA2A4E335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5503834-BCCC-AC77-6B87-2334D691EC78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52BD8C18-2E83-655F-3E51-79F50F75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5CD0612D-6812-08B1-8A81-CBE4273F53FC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80506D26-B6D1-34CF-5144-55C7A013613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76EA456A-1619-A58A-3855-F32D46F02534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559926E8-2FF3-F4DD-09C6-C5CDB0E29DDB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8B6FFC98-872D-CE44-5B26-6EE5ED69598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D4EFBF4B-0163-ED9D-B0A6-375CC0EA85B9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A55283C0-E6E4-1009-446D-C6ADA94F618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0CA7A28F-1044-73BB-BB07-1B291845462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C7CFB7F1-C99A-846A-665F-02BCED79E2E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D9FC3E71-7D8A-E2A7-78D6-60A65FF2C39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EAB7FE8C-C384-1DEA-CD79-14B2C91C8A74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691340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Dados: construção do corpus analítico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845CD483-3C75-0593-EA7D-BB915A6A412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9" y="1533079"/>
            <a:ext cx="3842618" cy="2979286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Corpus formado por notícias públicas da Polícia Federal.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Fonte: portal institucional da PF.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Objetivo da coleta: transformar textos dispersos em uma base estruturada e </a:t>
            </a:r>
            <a:r>
              <a:rPr lang="pt-BR" sz="1400" b="1" dirty="0" err="1">
                <a:solidFill>
                  <a:schemeClr val="bg1"/>
                </a:solidFill>
                <a:latin typeface="+mj-lt"/>
              </a:rPr>
              <a:t>reprocessável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Informações preservadas:</a:t>
            </a:r>
          </a:p>
          <a:p>
            <a:pPr marL="0" indent="0"/>
            <a:r>
              <a:rPr lang="pt-BR" sz="1400" b="1" dirty="0">
                <a:solidFill>
                  <a:schemeClr val="bg1"/>
                </a:solidFill>
                <a:latin typeface="+mj-lt"/>
              </a:rPr>
              <a:t>      - título;</a:t>
            </a:r>
          </a:p>
          <a:p>
            <a:pPr marL="0" indent="0"/>
            <a:r>
              <a:rPr lang="pt-BR" b="1" dirty="0">
                <a:solidFill>
                  <a:schemeClr val="bg1"/>
                </a:solidFill>
              </a:rPr>
              <a:t>  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subtítulo;</a:t>
            </a:r>
          </a:p>
          <a:p>
            <a:pPr marL="0" indent="0"/>
            <a:r>
              <a:rPr lang="pt-BR" sz="1400" b="1" dirty="0">
                <a:solidFill>
                  <a:schemeClr val="bg1"/>
                </a:solidFill>
                <a:latin typeface="+mj-lt"/>
              </a:rPr>
              <a:t>  </a:t>
            </a:r>
            <a:r>
              <a:rPr lang="pt-BR" b="1" dirty="0">
                <a:solidFill>
                  <a:schemeClr val="bg1"/>
                </a:solidFill>
              </a:rPr>
              <a:t>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data de publicação;</a:t>
            </a:r>
          </a:p>
          <a:p>
            <a:pPr marL="0" indent="0"/>
            <a:r>
              <a:rPr lang="pt-BR" sz="14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pt-BR" b="1" dirty="0">
                <a:solidFill>
                  <a:schemeClr val="bg1"/>
                </a:solidFill>
              </a:rPr>
              <a:t> 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data de atualização;</a:t>
            </a:r>
          </a:p>
          <a:p>
            <a:pPr marL="0" indent="0"/>
            <a:r>
              <a:rPr lang="pt-BR" b="1" dirty="0">
                <a:solidFill>
                  <a:schemeClr val="bg1"/>
                </a:solidFill>
              </a:rPr>
              <a:t>      - </a:t>
            </a:r>
            <a:r>
              <a:rPr lang="pt-BR" sz="1400" b="1" dirty="0" err="1">
                <a:solidFill>
                  <a:schemeClr val="bg1"/>
                </a:solidFill>
                <a:latin typeface="+mj-lt"/>
              </a:rPr>
              <a:t>tags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;</a:t>
            </a:r>
          </a:p>
          <a:p>
            <a:pPr marL="0" indent="0"/>
            <a:r>
              <a:rPr lang="pt-BR" b="1" dirty="0">
                <a:solidFill>
                  <a:schemeClr val="bg1"/>
                </a:solidFill>
              </a:rPr>
              <a:t>  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localidade;</a:t>
            </a:r>
          </a:p>
          <a:p>
            <a:pPr marL="0" indent="0"/>
            <a:r>
              <a:rPr lang="pt-BR" b="1" dirty="0">
                <a:solidFill>
                  <a:schemeClr val="bg1"/>
                </a:solidFill>
              </a:rPr>
              <a:t>  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corpo da notícia;</a:t>
            </a:r>
          </a:p>
          <a:p>
            <a:pPr marL="0" indent="0"/>
            <a:r>
              <a:rPr lang="pt-BR" b="1" dirty="0">
                <a:solidFill>
                  <a:schemeClr val="bg1"/>
                </a:solidFill>
              </a:rPr>
              <a:t>      - </a:t>
            </a:r>
            <a:r>
              <a:rPr lang="pt-BR" sz="1400" b="1" dirty="0">
                <a:solidFill>
                  <a:schemeClr val="bg1"/>
                </a:solidFill>
                <a:latin typeface="+mj-lt"/>
              </a:rPr>
              <a:t>arquivo original.</a:t>
            </a:r>
            <a:r>
              <a:rPr lang="en-US" sz="1400" dirty="0">
                <a:solidFill>
                  <a:schemeClr val="bg1"/>
                </a:solidFill>
                <a:latin typeface="+mj-lt"/>
              </a:rPr>
              <a:t>.</a:t>
            </a:r>
            <a:endParaRPr lang="pt-BR" sz="1400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6B2612BD-9909-7E32-B95A-C522E436E7BE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B3C1D7C2-9D30-77BA-FA15-EB2B09AA6BD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D62A5C0A-9C6E-C7C1-7B53-9EF09552397B}"/>
              </a:ext>
            </a:extLst>
          </p:cNvPr>
          <p:cNvSpPr/>
          <p:nvPr/>
        </p:nvSpPr>
        <p:spPr>
          <a:xfrm>
            <a:off x="4474224" y="1981200"/>
            <a:ext cx="3842618" cy="163664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37" name="Google Shape;1847;p72">
            <a:extLst>
              <a:ext uri="{FF2B5EF4-FFF2-40B4-BE49-F238E27FC236}">
                <a16:creationId xmlns:a16="http://schemas.microsoft.com/office/drawing/2014/main" id="{D3D6F5FB-B826-E81A-DD3C-EC453EADB0E7}"/>
              </a:ext>
            </a:extLst>
          </p:cNvPr>
          <p:cNvGrpSpPr/>
          <p:nvPr/>
        </p:nvGrpSpPr>
        <p:grpSpPr>
          <a:xfrm>
            <a:off x="4753098" y="2488050"/>
            <a:ext cx="460364" cy="440582"/>
            <a:chOff x="3309250" y="2368709"/>
            <a:chExt cx="460364" cy="440582"/>
          </a:xfrm>
        </p:grpSpPr>
        <p:sp>
          <p:nvSpPr>
            <p:cNvPr id="39" name="Google Shape;1848;p72">
              <a:extLst>
                <a:ext uri="{FF2B5EF4-FFF2-40B4-BE49-F238E27FC236}">
                  <a16:creationId xmlns:a16="http://schemas.microsoft.com/office/drawing/2014/main" id="{93213F64-60B3-9F7F-8EAE-9AD88D6B5EA7}"/>
                </a:ext>
              </a:extLst>
            </p:cNvPr>
            <p:cNvSpPr/>
            <p:nvPr/>
          </p:nvSpPr>
          <p:spPr>
            <a:xfrm>
              <a:off x="3309250" y="2368709"/>
              <a:ext cx="460364" cy="440582"/>
            </a:xfrm>
            <a:custGeom>
              <a:avLst/>
              <a:gdLst/>
              <a:ahLst/>
              <a:cxnLst/>
              <a:rect l="l" t="t" r="r" b="b"/>
              <a:pathLst>
                <a:path w="460364" h="440582" extrusionOk="0">
                  <a:moveTo>
                    <a:pt x="446706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426924"/>
                  </a:lnTo>
                  <a:cubicBezTo>
                    <a:pt x="0" y="434468"/>
                    <a:pt x="6114" y="440583"/>
                    <a:pt x="13658" y="440583"/>
                  </a:cubicBezTo>
                  <a:lnTo>
                    <a:pt x="446706" y="440583"/>
                  </a:lnTo>
                  <a:cubicBezTo>
                    <a:pt x="454250" y="440583"/>
                    <a:pt x="460365" y="434468"/>
                    <a:pt x="460365" y="426924"/>
                  </a:cubicBezTo>
                  <a:lnTo>
                    <a:pt x="460365" y="13658"/>
                  </a:lnTo>
                  <a:cubicBezTo>
                    <a:pt x="460365" y="6114"/>
                    <a:pt x="454250" y="0"/>
                    <a:pt x="446706" y="0"/>
                  </a:cubicBezTo>
                  <a:close/>
                  <a:moveTo>
                    <a:pt x="433390" y="413617"/>
                  </a:moveTo>
                  <a:lnTo>
                    <a:pt x="27865" y="413617"/>
                  </a:lnTo>
                  <a:lnTo>
                    <a:pt x="27865" y="27874"/>
                  </a:lnTo>
                  <a:lnTo>
                    <a:pt x="433390" y="27874"/>
                  </a:lnTo>
                  <a:lnTo>
                    <a:pt x="433390" y="413617"/>
                  </a:lnTo>
                  <a:lnTo>
                    <a:pt x="433390" y="41361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1849;p72">
              <a:extLst>
                <a:ext uri="{FF2B5EF4-FFF2-40B4-BE49-F238E27FC236}">
                  <a16:creationId xmlns:a16="http://schemas.microsoft.com/office/drawing/2014/main" id="{7503C372-E4D1-F3DD-DA4E-1CB86FE2A26E}"/>
                </a:ext>
              </a:extLst>
            </p:cNvPr>
            <p:cNvSpPr/>
            <p:nvPr/>
          </p:nvSpPr>
          <p:spPr>
            <a:xfrm>
              <a:off x="3383863" y="2424683"/>
              <a:ext cx="62051" cy="86454"/>
            </a:xfrm>
            <a:custGeom>
              <a:avLst/>
              <a:gdLst/>
              <a:ahLst/>
              <a:cxnLst/>
              <a:rect l="l" t="t" r="r" b="b"/>
              <a:pathLst>
                <a:path w="62051" h="86454" extrusionOk="0">
                  <a:moveTo>
                    <a:pt x="39572" y="8047"/>
                  </a:moveTo>
                  <a:lnTo>
                    <a:pt x="39572" y="34681"/>
                  </a:lnTo>
                  <a:lnTo>
                    <a:pt x="26723" y="10179"/>
                  </a:lnTo>
                  <a:cubicBezTo>
                    <a:pt x="22155" y="1403"/>
                    <a:pt x="19062" y="0"/>
                    <a:pt x="11455" y="0"/>
                  </a:cubicBezTo>
                  <a:cubicBezTo>
                    <a:pt x="4604" y="0"/>
                    <a:pt x="0" y="3255"/>
                    <a:pt x="0" y="8111"/>
                  </a:cubicBezTo>
                  <a:lnTo>
                    <a:pt x="0" y="78299"/>
                  </a:lnTo>
                  <a:cubicBezTo>
                    <a:pt x="0" y="88919"/>
                    <a:pt x="22479" y="88928"/>
                    <a:pt x="22479" y="78299"/>
                  </a:cubicBezTo>
                  <a:lnTo>
                    <a:pt x="22479" y="51217"/>
                  </a:lnTo>
                  <a:lnTo>
                    <a:pt x="38475" y="80341"/>
                  </a:lnTo>
                  <a:cubicBezTo>
                    <a:pt x="41425" y="85763"/>
                    <a:pt x="46496" y="86455"/>
                    <a:pt x="50596" y="86455"/>
                  </a:cubicBezTo>
                  <a:cubicBezTo>
                    <a:pt x="57340" y="86455"/>
                    <a:pt x="62051" y="83119"/>
                    <a:pt x="62051" y="78344"/>
                  </a:cubicBezTo>
                  <a:lnTo>
                    <a:pt x="62051" y="8047"/>
                  </a:lnTo>
                  <a:cubicBezTo>
                    <a:pt x="62051" y="-2473"/>
                    <a:pt x="39572" y="-2482"/>
                    <a:pt x="39572" y="80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1850;p72">
              <a:extLst>
                <a:ext uri="{FF2B5EF4-FFF2-40B4-BE49-F238E27FC236}">
                  <a16:creationId xmlns:a16="http://schemas.microsoft.com/office/drawing/2014/main" id="{CF7821C3-1B77-F4C5-AC51-9C2437419FFB}"/>
                </a:ext>
              </a:extLst>
            </p:cNvPr>
            <p:cNvSpPr/>
            <p:nvPr/>
          </p:nvSpPr>
          <p:spPr>
            <a:xfrm>
              <a:off x="3459411" y="2424458"/>
              <a:ext cx="56939" cy="86320"/>
            </a:xfrm>
            <a:custGeom>
              <a:avLst/>
              <a:gdLst/>
              <a:ahLst/>
              <a:cxnLst/>
              <a:rect l="l" t="t" r="r" b="b"/>
              <a:pathLst>
                <a:path w="56939" h="86320" extrusionOk="0">
                  <a:moveTo>
                    <a:pt x="49076" y="65639"/>
                  </a:moveTo>
                  <a:lnTo>
                    <a:pt x="22470" y="65639"/>
                  </a:lnTo>
                  <a:lnTo>
                    <a:pt x="22470" y="53051"/>
                  </a:lnTo>
                  <a:lnTo>
                    <a:pt x="36416" y="53051"/>
                  </a:lnTo>
                  <a:cubicBezTo>
                    <a:pt x="47134" y="53051"/>
                    <a:pt x="46999" y="34168"/>
                    <a:pt x="36416" y="34168"/>
                  </a:cubicBezTo>
                  <a:lnTo>
                    <a:pt x="22470" y="34168"/>
                  </a:lnTo>
                  <a:lnTo>
                    <a:pt x="22470" y="20681"/>
                  </a:lnTo>
                  <a:lnTo>
                    <a:pt x="49076" y="20681"/>
                  </a:lnTo>
                  <a:cubicBezTo>
                    <a:pt x="59462" y="20681"/>
                    <a:pt x="59660" y="0"/>
                    <a:pt x="49076" y="0"/>
                  </a:cubicBezTo>
                  <a:lnTo>
                    <a:pt x="10143" y="0"/>
                  </a:lnTo>
                  <a:cubicBezTo>
                    <a:pt x="4262" y="0"/>
                    <a:pt x="0" y="3408"/>
                    <a:pt x="0" y="8111"/>
                  </a:cubicBezTo>
                  <a:lnTo>
                    <a:pt x="0" y="78210"/>
                  </a:lnTo>
                  <a:cubicBezTo>
                    <a:pt x="0" y="82912"/>
                    <a:pt x="4271" y="86320"/>
                    <a:pt x="10143" y="86320"/>
                  </a:cubicBezTo>
                  <a:lnTo>
                    <a:pt x="49076" y="86320"/>
                  </a:lnTo>
                  <a:cubicBezTo>
                    <a:pt x="59660" y="86320"/>
                    <a:pt x="59453" y="65639"/>
                    <a:pt x="49076" y="656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1851;p72">
              <a:extLst>
                <a:ext uri="{FF2B5EF4-FFF2-40B4-BE49-F238E27FC236}">
                  <a16:creationId xmlns:a16="http://schemas.microsoft.com/office/drawing/2014/main" id="{2FAEBE62-4BFA-2DBD-D8B1-AA4B7F0AC888}"/>
                </a:ext>
              </a:extLst>
            </p:cNvPr>
            <p:cNvSpPr/>
            <p:nvPr/>
          </p:nvSpPr>
          <p:spPr>
            <a:xfrm>
              <a:off x="3520740" y="2424850"/>
              <a:ext cx="106292" cy="86784"/>
            </a:xfrm>
            <a:custGeom>
              <a:avLst/>
              <a:gdLst/>
              <a:ahLst/>
              <a:cxnLst/>
              <a:rect l="l" t="t" r="r" b="b"/>
              <a:pathLst>
                <a:path w="106292" h="86784" extrusionOk="0">
                  <a:moveTo>
                    <a:pt x="84291" y="5164"/>
                  </a:moveTo>
                  <a:lnTo>
                    <a:pt x="70453" y="51858"/>
                  </a:lnTo>
                  <a:lnTo>
                    <a:pt x="64096" y="24649"/>
                  </a:lnTo>
                  <a:cubicBezTo>
                    <a:pt x="62118" y="15747"/>
                    <a:pt x="44179" y="15792"/>
                    <a:pt x="42219" y="24622"/>
                  </a:cubicBezTo>
                  <a:lnTo>
                    <a:pt x="35853" y="51858"/>
                  </a:lnTo>
                  <a:lnTo>
                    <a:pt x="22024" y="5182"/>
                  </a:lnTo>
                  <a:cubicBezTo>
                    <a:pt x="19065" y="-5158"/>
                    <a:pt x="-3081" y="1496"/>
                    <a:pt x="363" y="11854"/>
                  </a:cubicBezTo>
                  <a:lnTo>
                    <a:pt x="22302" y="79121"/>
                  </a:lnTo>
                  <a:cubicBezTo>
                    <a:pt x="25593" y="89578"/>
                    <a:pt x="47740" y="89146"/>
                    <a:pt x="50078" y="78887"/>
                  </a:cubicBezTo>
                  <a:lnTo>
                    <a:pt x="53144" y="64905"/>
                  </a:lnTo>
                  <a:lnTo>
                    <a:pt x="56219" y="78905"/>
                  </a:lnTo>
                  <a:cubicBezTo>
                    <a:pt x="58521" y="88967"/>
                    <a:pt x="80352" y="89749"/>
                    <a:pt x="83967" y="79184"/>
                  </a:cubicBezTo>
                  <a:lnTo>
                    <a:pt x="105925" y="11872"/>
                  </a:lnTo>
                  <a:cubicBezTo>
                    <a:pt x="109396" y="1478"/>
                    <a:pt x="87213" y="-5131"/>
                    <a:pt x="84282" y="515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1852;p72">
              <a:extLst>
                <a:ext uri="{FF2B5EF4-FFF2-40B4-BE49-F238E27FC236}">
                  <a16:creationId xmlns:a16="http://schemas.microsoft.com/office/drawing/2014/main" id="{5796793E-A74E-66CD-ECE8-C3C2A5AC648B}"/>
                </a:ext>
              </a:extLst>
            </p:cNvPr>
            <p:cNvSpPr/>
            <p:nvPr/>
          </p:nvSpPr>
          <p:spPr>
            <a:xfrm>
              <a:off x="3631278" y="2424206"/>
              <a:ext cx="59623" cy="87856"/>
            </a:xfrm>
            <a:custGeom>
              <a:avLst/>
              <a:gdLst/>
              <a:ahLst/>
              <a:cxnLst/>
              <a:rect l="l" t="t" r="r" b="b"/>
              <a:pathLst>
                <a:path w="59623" h="87856" extrusionOk="0">
                  <a:moveTo>
                    <a:pt x="24664" y="23909"/>
                  </a:moveTo>
                  <a:cubicBezTo>
                    <a:pt x="24664" y="21553"/>
                    <a:pt x="27919" y="20024"/>
                    <a:pt x="32963" y="20024"/>
                  </a:cubicBezTo>
                  <a:cubicBezTo>
                    <a:pt x="41434" y="20024"/>
                    <a:pt x="42980" y="24215"/>
                    <a:pt x="48078" y="24215"/>
                  </a:cubicBezTo>
                  <a:cubicBezTo>
                    <a:pt x="54840" y="24215"/>
                    <a:pt x="57646" y="16545"/>
                    <a:pt x="57646" y="12436"/>
                  </a:cubicBezTo>
                  <a:cubicBezTo>
                    <a:pt x="57646" y="890"/>
                    <a:pt x="38754" y="0"/>
                    <a:pt x="32963" y="0"/>
                  </a:cubicBezTo>
                  <a:cubicBezTo>
                    <a:pt x="18676" y="0"/>
                    <a:pt x="1987" y="6699"/>
                    <a:pt x="1987" y="25563"/>
                  </a:cubicBezTo>
                  <a:cubicBezTo>
                    <a:pt x="1987" y="52637"/>
                    <a:pt x="36956" y="52260"/>
                    <a:pt x="36956" y="62411"/>
                  </a:cubicBezTo>
                  <a:cubicBezTo>
                    <a:pt x="36956" y="66835"/>
                    <a:pt x="29808" y="66961"/>
                    <a:pt x="28989" y="66961"/>
                  </a:cubicBezTo>
                  <a:cubicBezTo>
                    <a:pt x="19629" y="66961"/>
                    <a:pt x="16940" y="58797"/>
                    <a:pt x="10233" y="58797"/>
                  </a:cubicBezTo>
                  <a:cubicBezTo>
                    <a:pt x="4082" y="58797"/>
                    <a:pt x="0" y="66017"/>
                    <a:pt x="0" y="70791"/>
                  </a:cubicBezTo>
                  <a:cubicBezTo>
                    <a:pt x="0" y="91023"/>
                    <a:pt x="59624" y="99439"/>
                    <a:pt x="59624" y="60640"/>
                  </a:cubicBezTo>
                  <a:cubicBezTo>
                    <a:pt x="59624" y="31893"/>
                    <a:pt x="24655" y="31390"/>
                    <a:pt x="24655" y="239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1853;p72">
              <a:extLst>
                <a:ext uri="{FF2B5EF4-FFF2-40B4-BE49-F238E27FC236}">
                  <a16:creationId xmlns:a16="http://schemas.microsoft.com/office/drawing/2014/main" id="{68294763-41EB-1421-4A33-7C3CB7A93CA4}"/>
                </a:ext>
              </a:extLst>
            </p:cNvPr>
            <p:cNvSpPr/>
            <p:nvPr/>
          </p:nvSpPr>
          <p:spPr>
            <a:xfrm>
              <a:off x="3366797" y="2608787"/>
              <a:ext cx="139362" cy="153748"/>
            </a:xfrm>
            <a:custGeom>
              <a:avLst/>
              <a:gdLst/>
              <a:ahLst/>
              <a:cxnLst/>
              <a:rect l="l" t="t" r="r" b="b"/>
              <a:pathLst>
                <a:path w="139362" h="153748" extrusionOk="0">
                  <a:moveTo>
                    <a:pt x="125703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140090"/>
                  </a:lnTo>
                  <a:cubicBezTo>
                    <a:pt x="0" y="147634"/>
                    <a:pt x="6114" y="153749"/>
                    <a:pt x="13658" y="153749"/>
                  </a:cubicBezTo>
                  <a:lnTo>
                    <a:pt x="125703" y="153749"/>
                  </a:lnTo>
                  <a:cubicBezTo>
                    <a:pt x="133248" y="153749"/>
                    <a:pt x="139362" y="147634"/>
                    <a:pt x="139362" y="140090"/>
                  </a:cubicBezTo>
                  <a:lnTo>
                    <a:pt x="139362" y="13658"/>
                  </a:lnTo>
                  <a:cubicBezTo>
                    <a:pt x="139362" y="6114"/>
                    <a:pt x="133248" y="0"/>
                    <a:pt x="125703" y="0"/>
                  </a:cubicBezTo>
                  <a:close/>
                  <a:moveTo>
                    <a:pt x="112387" y="125883"/>
                  </a:moveTo>
                  <a:lnTo>
                    <a:pt x="27865" y="125883"/>
                  </a:lnTo>
                  <a:lnTo>
                    <a:pt x="27865" y="26975"/>
                  </a:lnTo>
                  <a:lnTo>
                    <a:pt x="112387" y="26975"/>
                  </a:lnTo>
                  <a:lnTo>
                    <a:pt x="112387" y="125883"/>
                  </a:lnTo>
                  <a:lnTo>
                    <a:pt x="112387" y="12588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1854;p72">
              <a:extLst>
                <a:ext uri="{FF2B5EF4-FFF2-40B4-BE49-F238E27FC236}">
                  <a16:creationId xmlns:a16="http://schemas.microsoft.com/office/drawing/2014/main" id="{13F550C6-580B-F8C0-44C7-84B3566E4BD7}"/>
                </a:ext>
              </a:extLst>
            </p:cNvPr>
            <p:cNvSpPr/>
            <p:nvPr/>
          </p:nvSpPr>
          <p:spPr>
            <a:xfrm>
              <a:off x="3367197" y="2541349"/>
              <a:ext cx="335667" cy="26975"/>
            </a:xfrm>
            <a:custGeom>
              <a:avLst/>
              <a:gdLst/>
              <a:ahLst/>
              <a:cxnLst/>
              <a:rect l="l" t="t" r="r" b="b"/>
              <a:pathLst>
                <a:path w="335667" h="26975" extrusionOk="0">
                  <a:moveTo>
                    <a:pt x="322005" y="0"/>
                  </a:moveTo>
                  <a:lnTo>
                    <a:pt x="13923" y="0"/>
                  </a:lnTo>
                  <a:cubicBezTo>
                    <a:pt x="6631" y="0"/>
                    <a:pt x="337" y="5593"/>
                    <a:pt x="13" y="12876"/>
                  </a:cubicBezTo>
                  <a:cubicBezTo>
                    <a:pt x="-328" y="20600"/>
                    <a:pt x="5912" y="26975"/>
                    <a:pt x="13663" y="26975"/>
                  </a:cubicBezTo>
                  <a:lnTo>
                    <a:pt x="321744" y="26975"/>
                  </a:lnTo>
                  <a:cubicBezTo>
                    <a:pt x="329037" y="26975"/>
                    <a:pt x="335331" y="21382"/>
                    <a:pt x="335655" y="14099"/>
                  </a:cubicBezTo>
                  <a:cubicBezTo>
                    <a:pt x="335996" y="6375"/>
                    <a:pt x="329756" y="0"/>
                    <a:pt x="3220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1855;p72">
              <a:extLst>
                <a:ext uri="{FF2B5EF4-FFF2-40B4-BE49-F238E27FC236}">
                  <a16:creationId xmlns:a16="http://schemas.microsoft.com/office/drawing/2014/main" id="{6345BBDF-E467-976D-E294-3A20613C8CE1}"/>
                </a:ext>
              </a:extLst>
            </p:cNvPr>
            <p:cNvSpPr/>
            <p:nvPr/>
          </p:nvSpPr>
          <p:spPr>
            <a:xfrm>
              <a:off x="3558674" y="2608787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1856;p72">
              <a:extLst>
                <a:ext uri="{FF2B5EF4-FFF2-40B4-BE49-F238E27FC236}">
                  <a16:creationId xmlns:a16="http://schemas.microsoft.com/office/drawing/2014/main" id="{A2F2C917-7098-44A9-FEA5-FA0FA99FE7C7}"/>
                </a:ext>
              </a:extLst>
            </p:cNvPr>
            <p:cNvSpPr/>
            <p:nvPr/>
          </p:nvSpPr>
          <p:spPr>
            <a:xfrm>
              <a:off x="3558674" y="2667233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1857;p72">
              <a:extLst>
                <a:ext uri="{FF2B5EF4-FFF2-40B4-BE49-F238E27FC236}">
                  <a16:creationId xmlns:a16="http://schemas.microsoft.com/office/drawing/2014/main" id="{DAB7C7F8-9DB2-BAAD-A2B6-C98E23A99B90}"/>
                </a:ext>
              </a:extLst>
            </p:cNvPr>
            <p:cNvSpPr/>
            <p:nvPr/>
          </p:nvSpPr>
          <p:spPr>
            <a:xfrm>
              <a:off x="3558674" y="2726578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" name="Google Shape;1813;p72">
            <a:extLst>
              <a:ext uri="{FF2B5EF4-FFF2-40B4-BE49-F238E27FC236}">
                <a16:creationId xmlns:a16="http://schemas.microsoft.com/office/drawing/2014/main" id="{991EB287-1818-2317-F8F7-FBA21D8F4A44}"/>
              </a:ext>
            </a:extLst>
          </p:cNvPr>
          <p:cNvGrpSpPr/>
          <p:nvPr/>
        </p:nvGrpSpPr>
        <p:grpSpPr>
          <a:xfrm>
            <a:off x="5727590" y="2478155"/>
            <a:ext cx="372255" cy="460373"/>
            <a:chOff x="3892792" y="2978345"/>
            <a:chExt cx="372255" cy="460373"/>
          </a:xfrm>
        </p:grpSpPr>
        <p:sp>
          <p:nvSpPr>
            <p:cNvPr id="52" name="Google Shape;1814;p72">
              <a:extLst>
                <a:ext uri="{FF2B5EF4-FFF2-40B4-BE49-F238E27FC236}">
                  <a16:creationId xmlns:a16="http://schemas.microsoft.com/office/drawing/2014/main" id="{5699B83F-7D04-0EF3-6E8F-99F637F37888}"/>
                </a:ext>
              </a:extLst>
            </p:cNvPr>
            <p:cNvSpPr/>
            <p:nvPr/>
          </p:nvSpPr>
          <p:spPr>
            <a:xfrm>
              <a:off x="3892792" y="2978345"/>
              <a:ext cx="372255" cy="460373"/>
            </a:xfrm>
            <a:custGeom>
              <a:avLst/>
              <a:gdLst/>
              <a:ahLst/>
              <a:cxnLst/>
              <a:rect l="l" t="t" r="r" b="b"/>
              <a:pathLst>
                <a:path w="372255" h="460373" extrusionOk="0">
                  <a:moveTo>
                    <a:pt x="358498" y="47656"/>
                  </a:moveTo>
                  <a:lnTo>
                    <a:pt x="321003" y="47656"/>
                  </a:lnTo>
                  <a:lnTo>
                    <a:pt x="321003" y="13757"/>
                  </a:lnTo>
                  <a:cubicBezTo>
                    <a:pt x="321003" y="6159"/>
                    <a:pt x="314843" y="0"/>
                    <a:pt x="307245" y="0"/>
                  </a:cubicBezTo>
                  <a:lnTo>
                    <a:pt x="13640" y="0"/>
                  </a:lnTo>
                  <a:cubicBezTo>
                    <a:pt x="6105" y="0"/>
                    <a:pt x="0" y="6159"/>
                    <a:pt x="0" y="13748"/>
                  </a:cubicBezTo>
                  <a:lnTo>
                    <a:pt x="0" y="398969"/>
                  </a:lnTo>
                  <a:cubicBezTo>
                    <a:pt x="0" y="406558"/>
                    <a:pt x="6105" y="412718"/>
                    <a:pt x="13640" y="412718"/>
                  </a:cubicBezTo>
                  <a:lnTo>
                    <a:pt x="51253" y="412718"/>
                  </a:lnTo>
                  <a:lnTo>
                    <a:pt x="51253" y="446616"/>
                  </a:lnTo>
                  <a:cubicBezTo>
                    <a:pt x="51253" y="454214"/>
                    <a:pt x="57412" y="460373"/>
                    <a:pt x="65010" y="460373"/>
                  </a:cubicBezTo>
                  <a:lnTo>
                    <a:pt x="358498" y="460373"/>
                  </a:lnTo>
                  <a:cubicBezTo>
                    <a:pt x="366105" y="460373"/>
                    <a:pt x="372255" y="454214"/>
                    <a:pt x="372255" y="446625"/>
                  </a:cubicBezTo>
                  <a:lnTo>
                    <a:pt x="372255" y="61404"/>
                  </a:lnTo>
                  <a:cubicBezTo>
                    <a:pt x="372255" y="53815"/>
                    <a:pt x="366096" y="47656"/>
                    <a:pt x="358498" y="47656"/>
                  </a:cubicBezTo>
                  <a:close/>
                  <a:moveTo>
                    <a:pt x="52152" y="60514"/>
                  </a:moveTo>
                  <a:lnTo>
                    <a:pt x="52152" y="384843"/>
                  </a:lnTo>
                  <a:lnTo>
                    <a:pt x="27874" y="384843"/>
                  </a:lnTo>
                  <a:lnTo>
                    <a:pt x="27874" y="26975"/>
                  </a:lnTo>
                  <a:lnTo>
                    <a:pt x="293128" y="26975"/>
                  </a:lnTo>
                  <a:lnTo>
                    <a:pt x="293128" y="46757"/>
                  </a:lnTo>
                  <a:lnTo>
                    <a:pt x="65909" y="46757"/>
                  </a:lnTo>
                  <a:cubicBezTo>
                    <a:pt x="58311" y="46757"/>
                    <a:pt x="52152" y="52916"/>
                    <a:pt x="52152" y="60514"/>
                  </a:cubicBezTo>
                  <a:close/>
                  <a:moveTo>
                    <a:pt x="345280" y="432499"/>
                  </a:moveTo>
                  <a:lnTo>
                    <a:pt x="79127" y="432499"/>
                  </a:lnTo>
                  <a:lnTo>
                    <a:pt x="79127" y="74631"/>
                  </a:lnTo>
                  <a:lnTo>
                    <a:pt x="345280" y="74631"/>
                  </a:lnTo>
                  <a:lnTo>
                    <a:pt x="345280" y="43249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1815;p72">
              <a:extLst>
                <a:ext uri="{FF2B5EF4-FFF2-40B4-BE49-F238E27FC236}">
                  <a16:creationId xmlns:a16="http://schemas.microsoft.com/office/drawing/2014/main" id="{4A5EACAD-920F-3978-700A-79EB97657B95}"/>
                </a:ext>
              </a:extLst>
            </p:cNvPr>
            <p:cNvSpPr/>
            <p:nvPr/>
          </p:nvSpPr>
          <p:spPr>
            <a:xfrm>
              <a:off x="4006278" y="3109443"/>
              <a:ext cx="159159" cy="159166"/>
            </a:xfrm>
            <a:custGeom>
              <a:avLst/>
              <a:gdLst/>
              <a:ahLst/>
              <a:cxnLst/>
              <a:rect l="l" t="t" r="r" b="b"/>
              <a:pathLst>
                <a:path w="159159" h="159166" extrusionOk="0">
                  <a:moveTo>
                    <a:pt x="145402" y="65819"/>
                  </a:moveTo>
                  <a:lnTo>
                    <a:pt x="93331" y="65819"/>
                  </a:lnTo>
                  <a:lnTo>
                    <a:pt x="93331" y="13757"/>
                  </a:lnTo>
                  <a:cubicBezTo>
                    <a:pt x="93331" y="6159"/>
                    <a:pt x="87163" y="0"/>
                    <a:pt x="79565" y="0"/>
                  </a:cubicBezTo>
                  <a:cubicBezTo>
                    <a:pt x="35164" y="0"/>
                    <a:pt x="-865" y="36569"/>
                    <a:pt x="16" y="81168"/>
                  </a:cubicBezTo>
                  <a:cubicBezTo>
                    <a:pt x="843" y="123105"/>
                    <a:pt x="34562" y="157507"/>
                    <a:pt x="76472" y="159108"/>
                  </a:cubicBezTo>
                  <a:cubicBezTo>
                    <a:pt x="121763" y="160834"/>
                    <a:pt x="159159" y="124490"/>
                    <a:pt x="159159" y="79576"/>
                  </a:cubicBezTo>
                  <a:cubicBezTo>
                    <a:pt x="159159" y="71987"/>
                    <a:pt x="153009" y="65819"/>
                    <a:pt x="145402" y="65819"/>
                  </a:cubicBezTo>
                  <a:close/>
                  <a:moveTo>
                    <a:pt x="80114" y="132016"/>
                  </a:moveTo>
                  <a:cubicBezTo>
                    <a:pt x="51403" y="132016"/>
                    <a:pt x="28052" y="108655"/>
                    <a:pt x="28052" y="79936"/>
                  </a:cubicBezTo>
                  <a:cubicBezTo>
                    <a:pt x="28052" y="56000"/>
                    <a:pt x="44300" y="35769"/>
                    <a:pt x="66356" y="29717"/>
                  </a:cubicBezTo>
                  <a:lnTo>
                    <a:pt x="66356" y="79936"/>
                  </a:lnTo>
                  <a:cubicBezTo>
                    <a:pt x="66356" y="87534"/>
                    <a:pt x="72516" y="93693"/>
                    <a:pt x="80114" y="93693"/>
                  </a:cubicBezTo>
                  <a:lnTo>
                    <a:pt x="130341" y="93693"/>
                  </a:lnTo>
                  <a:cubicBezTo>
                    <a:pt x="124299" y="115759"/>
                    <a:pt x="104076" y="132016"/>
                    <a:pt x="80114" y="13201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1816;p72">
              <a:extLst>
                <a:ext uri="{FF2B5EF4-FFF2-40B4-BE49-F238E27FC236}">
                  <a16:creationId xmlns:a16="http://schemas.microsoft.com/office/drawing/2014/main" id="{DC816379-47AA-9A37-6FD0-ACC981AE78B1}"/>
                </a:ext>
              </a:extLst>
            </p:cNvPr>
            <p:cNvSpPr/>
            <p:nvPr/>
          </p:nvSpPr>
          <p:spPr>
            <a:xfrm>
              <a:off x="4110399" y="3072038"/>
              <a:ext cx="93342" cy="93333"/>
            </a:xfrm>
            <a:custGeom>
              <a:avLst/>
              <a:gdLst/>
              <a:ahLst/>
              <a:cxnLst/>
              <a:rect l="l" t="t" r="r" b="b"/>
              <a:pathLst>
                <a:path w="93342" h="93333" extrusionOk="0">
                  <a:moveTo>
                    <a:pt x="13865" y="0"/>
                  </a:moveTo>
                  <a:cubicBezTo>
                    <a:pt x="6222" y="-9"/>
                    <a:pt x="0" y="6114"/>
                    <a:pt x="0" y="13757"/>
                  </a:cubicBezTo>
                  <a:lnTo>
                    <a:pt x="0" y="79576"/>
                  </a:lnTo>
                  <a:cubicBezTo>
                    <a:pt x="0" y="87174"/>
                    <a:pt x="6150" y="93334"/>
                    <a:pt x="13757" y="93334"/>
                  </a:cubicBezTo>
                  <a:lnTo>
                    <a:pt x="79585" y="93334"/>
                  </a:lnTo>
                  <a:cubicBezTo>
                    <a:pt x="87102" y="93334"/>
                    <a:pt x="93325" y="87309"/>
                    <a:pt x="93342" y="79792"/>
                  </a:cubicBezTo>
                  <a:cubicBezTo>
                    <a:pt x="93459" y="35499"/>
                    <a:pt x="57394" y="54"/>
                    <a:pt x="13865" y="0"/>
                  </a:cubicBezTo>
                  <a:close/>
                  <a:moveTo>
                    <a:pt x="26975" y="65459"/>
                  </a:moveTo>
                  <a:lnTo>
                    <a:pt x="26975" y="28998"/>
                  </a:lnTo>
                  <a:cubicBezTo>
                    <a:pt x="44653" y="33845"/>
                    <a:pt x="58590" y="47782"/>
                    <a:pt x="63445" y="65459"/>
                  </a:cubicBezTo>
                  <a:lnTo>
                    <a:pt x="26975" y="654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1817;p72">
              <a:extLst>
                <a:ext uri="{FF2B5EF4-FFF2-40B4-BE49-F238E27FC236}">
                  <a16:creationId xmlns:a16="http://schemas.microsoft.com/office/drawing/2014/main" id="{B59C1CA2-AEAB-4A67-791D-574CCC1789FC}"/>
                </a:ext>
              </a:extLst>
            </p:cNvPr>
            <p:cNvSpPr/>
            <p:nvPr/>
          </p:nvSpPr>
          <p:spPr>
            <a:xfrm>
              <a:off x="3994309" y="3299347"/>
              <a:ext cx="218010" cy="27874"/>
            </a:xfrm>
            <a:custGeom>
              <a:avLst/>
              <a:gdLst/>
              <a:ahLst/>
              <a:cxnLst/>
              <a:rect l="l" t="t" r="r" b="b"/>
              <a:pathLst>
                <a:path w="218010" h="27874" extrusionOk="0">
                  <a:moveTo>
                    <a:pt x="217606" y="10502"/>
                  </a:moveTo>
                  <a:cubicBezTo>
                    <a:pt x="216140" y="4262"/>
                    <a:pt x="210331" y="0"/>
                    <a:pt x="203920" y="0"/>
                  </a:cubicBezTo>
                  <a:lnTo>
                    <a:pt x="13756" y="0"/>
                  </a:lnTo>
                  <a:cubicBezTo>
                    <a:pt x="5034" y="0"/>
                    <a:pt x="-1773" y="8209"/>
                    <a:pt x="412" y="17399"/>
                  </a:cubicBezTo>
                  <a:cubicBezTo>
                    <a:pt x="1896" y="23630"/>
                    <a:pt x="7686" y="27874"/>
                    <a:pt x="14088" y="27874"/>
                  </a:cubicBezTo>
                  <a:lnTo>
                    <a:pt x="204253" y="27874"/>
                  </a:lnTo>
                  <a:cubicBezTo>
                    <a:pt x="212948" y="27874"/>
                    <a:pt x="219773" y="19701"/>
                    <a:pt x="217606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1818;p72">
              <a:extLst>
                <a:ext uri="{FF2B5EF4-FFF2-40B4-BE49-F238E27FC236}">
                  <a16:creationId xmlns:a16="http://schemas.microsoft.com/office/drawing/2014/main" id="{2B81DF85-B5F3-F628-975A-E398FCF49F0A}"/>
                </a:ext>
              </a:extLst>
            </p:cNvPr>
            <p:cNvSpPr/>
            <p:nvPr/>
          </p:nvSpPr>
          <p:spPr>
            <a:xfrm>
              <a:off x="3994308" y="3351499"/>
              <a:ext cx="218020" cy="27874"/>
            </a:xfrm>
            <a:custGeom>
              <a:avLst/>
              <a:gdLst/>
              <a:ahLst/>
              <a:cxnLst/>
              <a:rect l="l" t="t" r="r" b="b"/>
              <a:pathLst>
                <a:path w="218020" h="27874" extrusionOk="0">
                  <a:moveTo>
                    <a:pt x="217606" y="10502"/>
                  </a:moveTo>
                  <a:cubicBezTo>
                    <a:pt x="216141" y="4262"/>
                    <a:pt x="210332" y="0"/>
                    <a:pt x="203921" y="0"/>
                  </a:cubicBezTo>
                  <a:lnTo>
                    <a:pt x="13756" y="0"/>
                  </a:lnTo>
                  <a:cubicBezTo>
                    <a:pt x="4989" y="0"/>
                    <a:pt x="-1808" y="8290"/>
                    <a:pt x="431" y="17471"/>
                  </a:cubicBezTo>
                  <a:cubicBezTo>
                    <a:pt x="1941" y="23666"/>
                    <a:pt x="7723" y="27874"/>
                    <a:pt x="14098" y="27874"/>
                  </a:cubicBezTo>
                  <a:lnTo>
                    <a:pt x="204263" y="27874"/>
                  </a:lnTo>
                  <a:cubicBezTo>
                    <a:pt x="212958" y="27874"/>
                    <a:pt x="219782" y="19701"/>
                    <a:pt x="217615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" name="Google Shape;1769;p72">
            <a:extLst>
              <a:ext uri="{FF2B5EF4-FFF2-40B4-BE49-F238E27FC236}">
                <a16:creationId xmlns:a16="http://schemas.microsoft.com/office/drawing/2014/main" id="{38119587-274C-C53B-5427-AC35614166DA}"/>
              </a:ext>
            </a:extLst>
          </p:cNvPr>
          <p:cNvGrpSpPr/>
          <p:nvPr/>
        </p:nvGrpSpPr>
        <p:grpSpPr>
          <a:xfrm>
            <a:off x="6613973" y="2478025"/>
            <a:ext cx="460625" cy="460632"/>
            <a:chOff x="7834479" y="3738053"/>
            <a:chExt cx="460625" cy="460632"/>
          </a:xfrm>
        </p:grpSpPr>
        <p:sp>
          <p:nvSpPr>
            <p:cNvPr id="58" name="Google Shape;1770;p72">
              <a:extLst>
                <a:ext uri="{FF2B5EF4-FFF2-40B4-BE49-F238E27FC236}">
                  <a16:creationId xmlns:a16="http://schemas.microsoft.com/office/drawing/2014/main" id="{7BF73D26-4EA3-6687-3099-C9CACC3C2B75}"/>
                </a:ext>
              </a:extLst>
            </p:cNvPr>
            <p:cNvSpPr/>
            <p:nvPr/>
          </p:nvSpPr>
          <p:spPr>
            <a:xfrm>
              <a:off x="7834479" y="3738053"/>
              <a:ext cx="460625" cy="460632"/>
            </a:xfrm>
            <a:custGeom>
              <a:avLst/>
              <a:gdLst/>
              <a:ahLst/>
              <a:cxnLst/>
              <a:rect l="l" t="t" r="r" b="b"/>
              <a:pathLst>
                <a:path w="460625" h="460632" extrusionOk="0">
                  <a:moveTo>
                    <a:pt x="408599" y="284575"/>
                  </a:moveTo>
                  <a:cubicBezTo>
                    <a:pt x="394878" y="284575"/>
                    <a:pt x="382389" y="289952"/>
                    <a:pt x="373118" y="298692"/>
                  </a:cubicBezTo>
                  <a:lnTo>
                    <a:pt x="305690" y="253042"/>
                  </a:lnTo>
                  <a:cubicBezTo>
                    <a:pt x="312955" y="229645"/>
                    <a:pt x="309035" y="203165"/>
                    <a:pt x="293236" y="182349"/>
                  </a:cubicBezTo>
                  <a:lnTo>
                    <a:pt x="354802" y="123274"/>
                  </a:lnTo>
                  <a:lnTo>
                    <a:pt x="354766" y="123274"/>
                  </a:lnTo>
                  <a:cubicBezTo>
                    <a:pt x="367220" y="131861"/>
                    <a:pt x="382650" y="136384"/>
                    <a:pt x="399185" y="134909"/>
                  </a:cubicBezTo>
                  <a:cubicBezTo>
                    <a:pt x="431205" y="132068"/>
                    <a:pt x="457002" y="106621"/>
                    <a:pt x="460266" y="74638"/>
                  </a:cubicBezTo>
                  <a:cubicBezTo>
                    <a:pt x="464564" y="32458"/>
                    <a:pt x="429811" y="-2960"/>
                    <a:pt x="387838" y="196"/>
                  </a:cubicBezTo>
                  <a:cubicBezTo>
                    <a:pt x="354874" y="2677"/>
                    <a:pt x="328322" y="29068"/>
                    <a:pt x="325678" y="62022"/>
                  </a:cubicBezTo>
                  <a:cubicBezTo>
                    <a:pt x="324437" y="77425"/>
                    <a:pt x="328385" y="91857"/>
                    <a:pt x="335974" y="103771"/>
                  </a:cubicBezTo>
                  <a:lnTo>
                    <a:pt x="273275" y="163934"/>
                  </a:lnTo>
                  <a:cubicBezTo>
                    <a:pt x="251425" y="149655"/>
                    <a:pt x="224441" y="147470"/>
                    <a:pt x="201225" y="156723"/>
                  </a:cubicBezTo>
                  <a:lnTo>
                    <a:pt x="166553" y="98502"/>
                  </a:lnTo>
                  <a:cubicBezTo>
                    <a:pt x="178727" y="87109"/>
                    <a:pt x="185912" y="70457"/>
                    <a:pt x="184428" y="52204"/>
                  </a:cubicBezTo>
                  <a:cubicBezTo>
                    <a:pt x="182162" y="24249"/>
                    <a:pt x="159404" y="1913"/>
                    <a:pt x="131413" y="124"/>
                  </a:cubicBezTo>
                  <a:cubicBezTo>
                    <a:pt x="96364" y="-2115"/>
                    <a:pt x="67474" y="27584"/>
                    <a:pt x="71088" y="62895"/>
                  </a:cubicBezTo>
                  <a:cubicBezTo>
                    <a:pt x="73848" y="89888"/>
                    <a:pt x="95725" y="111342"/>
                    <a:pt x="122763" y="113635"/>
                  </a:cubicBezTo>
                  <a:cubicBezTo>
                    <a:pt x="129795" y="114228"/>
                    <a:pt x="136575" y="113536"/>
                    <a:pt x="142923" y="111764"/>
                  </a:cubicBezTo>
                  <a:lnTo>
                    <a:pt x="178152" y="170921"/>
                  </a:lnTo>
                  <a:lnTo>
                    <a:pt x="178278" y="170921"/>
                  </a:lnTo>
                  <a:cubicBezTo>
                    <a:pt x="166382" y="181441"/>
                    <a:pt x="157678" y="195477"/>
                    <a:pt x="153802" y="211383"/>
                  </a:cubicBezTo>
                  <a:lnTo>
                    <a:pt x="103818" y="203093"/>
                  </a:lnTo>
                  <a:cubicBezTo>
                    <a:pt x="100932" y="177152"/>
                    <a:pt x="78866" y="156903"/>
                    <a:pt x="52160" y="156903"/>
                  </a:cubicBezTo>
                  <a:cubicBezTo>
                    <a:pt x="20950" y="156903"/>
                    <a:pt x="-3911" y="184543"/>
                    <a:pt x="737" y="216625"/>
                  </a:cubicBezTo>
                  <a:cubicBezTo>
                    <a:pt x="3983" y="239006"/>
                    <a:pt x="21697" y="256863"/>
                    <a:pt x="44059" y="260253"/>
                  </a:cubicBezTo>
                  <a:cubicBezTo>
                    <a:pt x="68579" y="263975"/>
                    <a:pt x="90573" y="250443"/>
                    <a:pt x="99682" y="229942"/>
                  </a:cubicBezTo>
                  <a:lnTo>
                    <a:pt x="152022" y="238628"/>
                  </a:lnTo>
                  <a:cubicBezTo>
                    <a:pt x="153668" y="253959"/>
                    <a:pt x="159719" y="267995"/>
                    <a:pt x="168881" y="279432"/>
                  </a:cubicBezTo>
                  <a:lnTo>
                    <a:pt x="93792" y="348614"/>
                  </a:lnTo>
                  <a:cubicBezTo>
                    <a:pt x="84288" y="342473"/>
                    <a:pt x="72985" y="338912"/>
                    <a:pt x="60856" y="338912"/>
                  </a:cubicBezTo>
                  <a:cubicBezTo>
                    <a:pt x="27299" y="338912"/>
                    <a:pt x="0" y="366211"/>
                    <a:pt x="0" y="399777"/>
                  </a:cubicBezTo>
                  <a:cubicBezTo>
                    <a:pt x="0" y="433343"/>
                    <a:pt x="27299" y="460632"/>
                    <a:pt x="60865" y="460632"/>
                  </a:cubicBezTo>
                  <a:cubicBezTo>
                    <a:pt x="94431" y="460632"/>
                    <a:pt x="121729" y="433334"/>
                    <a:pt x="121729" y="399777"/>
                  </a:cubicBezTo>
                  <a:cubicBezTo>
                    <a:pt x="121729" y="388168"/>
                    <a:pt x="118456" y="377306"/>
                    <a:pt x="112791" y="368063"/>
                  </a:cubicBezTo>
                  <a:lnTo>
                    <a:pt x="189373" y="297514"/>
                  </a:lnTo>
                  <a:cubicBezTo>
                    <a:pt x="203014" y="305886"/>
                    <a:pt x="219055" y="310076"/>
                    <a:pt x="236022" y="308961"/>
                  </a:cubicBezTo>
                  <a:lnTo>
                    <a:pt x="241202" y="339047"/>
                  </a:lnTo>
                  <a:lnTo>
                    <a:pt x="240878" y="339047"/>
                  </a:lnTo>
                  <a:cubicBezTo>
                    <a:pt x="240878" y="339047"/>
                    <a:pt x="210881" y="364610"/>
                    <a:pt x="210881" y="385390"/>
                  </a:cubicBezTo>
                  <a:cubicBezTo>
                    <a:pt x="210881" y="413974"/>
                    <a:pt x="234143" y="437236"/>
                    <a:pt x="262728" y="437236"/>
                  </a:cubicBezTo>
                  <a:cubicBezTo>
                    <a:pt x="291312" y="437236"/>
                    <a:pt x="314574" y="413974"/>
                    <a:pt x="314574" y="385390"/>
                  </a:cubicBezTo>
                  <a:cubicBezTo>
                    <a:pt x="314574" y="358433"/>
                    <a:pt x="267592" y="333652"/>
                    <a:pt x="267592" y="333652"/>
                  </a:cubicBezTo>
                  <a:lnTo>
                    <a:pt x="267754" y="333652"/>
                  </a:lnTo>
                  <a:lnTo>
                    <a:pt x="262260" y="301785"/>
                  </a:lnTo>
                  <a:cubicBezTo>
                    <a:pt x="274552" y="296345"/>
                    <a:pt x="285216" y="287839"/>
                    <a:pt x="293245" y="277256"/>
                  </a:cubicBezTo>
                  <a:lnTo>
                    <a:pt x="358966" y="321747"/>
                  </a:lnTo>
                  <a:cubicBezTo>
                    <a:pt x="349192" y="354890"/>
                    <a:pt x="374269" y="388114"/>
                    <a:pt x="408698" y="388069"/>
                  </a:cubicBezTo>
                  <a:cubicBezTo>
                    <a:pt x="435700" y="388033"/>
                    <a:pt x="458413" y="366867"/>
                    <a:pt x="460257" y="339937"/>
                  </a:cubicBezTo>
                  <a:cubicBezTo>
                    <a:pt x="462316" y="309779"/>
                    <a:pt x="438362" y="284566"/>
                    <a:pt x="408627" y="284566"/>
                  </a:cubicBezTo>
                  <a:close/>
                  <a:moveTo>
                    <a:pt x="393062" y="26829"/>
                  </a:moveTo>
                  <a:cubicBezTo>
                    <a:pt x="415397" y="26829"/>
                    <a:pt x="433569" y="45001"/>
                    <a:pt x="433569" y="67337"/>
                  </a:cubicBezTo>
                  <a:cubicBezTo>
                    <a:pt x="433569" y="89672"/>
                    <a:pt x="415397" y="107853"/>
                    <a:pt x="393062" y="107853"/>
                  </a:cubicBezTo>
                  <a:cubicBezTo>
                    <a:pt x="370726" y="107853"/>
                    <a:pt x="352554" y="89681"/>
                    <a:pt x="352554" y="67337"/>
                  </a:cubicBezTo>
                  <a:cubicBezTo>
                    <a:pt x="352554" y="44992"/>
                    <a:pt x="370718" y="26829"/>
                    <a:pt x="393062" y="26829"/>
                  </a:cubicBezTo>
                  <a:close/>
                  <a:moveTo>
                    <a:pt x="127637" y="86507"/>
                  </a:moveTo>
                  <a:cubicBezTo>
                    <a:pt x="111191" y="86507"/>
                    <a:pt x="97802" y="73118"/>
                    <a:pt x="97802" y="56663"/>
                  </a:cubicBezTo>
                  <a:cubicBezTo>
                    <a:pt x="97802" y="40209"/>
                    <a:pt x="111182" y="26820"/>
                    <a:pt x="127637" y="26820"/>
                  </a:cubicBezTo>
                  <a:cubicBezTo>
                    <a:pt x="144092" y="26820"/>
                    <a:pt x="157471" y="40209"/>
                    <a:pt x="157471" y="56663"/>
                  </a:cubicBezTo>
                  <a:cubicBezTo>
                    <a:pt x="157471" y="73118"/>
                    <a:pt x="144092" y="86507"/>
                    <a:pt x="127637" y="86507"/>
                  </a:cubicBezTo>
                  <a:close/>
                  <a:moveTo>
                    <a:pt x="76789" y="212345"/>
                  </a:moveTo>
                  <a:cubicBezTo>
                    <a:pt x="74972" y="224205"/>
                    <a:pt x="64695" y="233323"/>
                    <a:pt x="52332" y="233323"/>
                  </a:cubicBezTo>
                  <a:cubicBezTo>
                    <a:pt x="38691" y="233323"/>
                    <a:pt x="27587" y="222227"/>
                    <a:pt x="27587" y="208578"/>
                  </a:cubicBezTo>
                  <a:cubicBezTo>
                    <a:pt x="27587" y="194928"/>
                    <a:pt x="38691" y="183833"/>
                    <a:pt x="52332" y="183833"/>
                  </a:cubicBezTo>
                  <a:cubicBezTo>
                    <a:pt x="67446" y="183833"/>
                    <a:pt x="79100" y="197356"/>
                    <a:pt x="76789" y="212345"/>
                  </a:cubicBezTo>
                  <a:close/>
                  <a:moveTo>
                    <a:pt x="60999" y="432551"/>
                  </a:moveTo>
                  <a:cubicBezTo>
                    <a:pt x="42476" y="432551"/>
                    <a:pt x="27407" y="417481"/>
                    <a:pt x="27407" y="398967"/>
                  </a:cubicBezTo>
                  <a:cubicBezTo>
                    <a:pt x="27407" y="380454"/>
                    <a:pt x="42486" y="365374"/>
                    <a:pt x="60999" y="365374"/>
                  </a:cubicBezTo>
                  <a:cubicBezTo>
                    <a:pt x="79514" y="365374"/>
                    <a:pt x="94593" y="380327"/>
                    <a:pt x="94593" y="398967"/>
                  </a:cubicBezTo>
                  <a:cubicBezTo>
                    <a:pt x="94593" y="417490"/>
                    <a:pt x="79522" y="432551"/>
                    <a:pt x="60999" y="432551"/>
                  </a:cubicBezTo>
                  <a:close/>
                  <a:moveTo>
                    <a:pt x="262710" y="360672"/>
                  </a:moveTo>
                  <a:cubicBezTo>
                    <a:pt x="276350" y="360672"/>
                    <a:pt x="287455" y="371768"/>
                    <a:pt x="287455" y="385417"/>
                  </a:cubicBezTo>
                  <a:cubicBezTo>
                    <a:pt x="287455" y="399066"/>
                    <a:pt x="276350" y="410162"/>
                    <a:pt x="262710" y="410162"/>
                  </a:cubicBezTo>
                  <a:cubicBezTo>
                    <a:pt x="249069" y="410162"/>
                    <a:pt x="237964" y="399057"/>
                    <a:pt x="237964" y="385417"/>
                  </a:cubicBezTo>
                  <a:cubicBezTo>
                    <a:pt x="237964" y="371777"/>
                    <a:pt x="249069" y="360672"/>
                    <a:pt x="262710" y="360672"/>
                  </a:cubicBezTo>
                  <a:close/>
                  <a:moveTo>
                    <a:pt x="230295" y="281473"/>
                  </a:moveTo>
                  <a:cubicBezTo>
                    <a:pt x="201728" y="281473"/>
                    <a:pt x="178575" y="258320"/>
                    <a:pt x="178575" y="229753"/>
                  </a:cubicBezTo>
                  <a:cubicBezTo>
                    <a:pt x="178575" y="201186"/>
                    <a:pt x="201728" y="178033"/>
                    <a:pt x="230295" y="178033"/>
                  </a:cubicBezTo>
                  <a:cubicBezTo>
                    <a:pt x="258861" y="178033"/>
                    <a:pt x="282015" y="201186"/>
                    <a:pt x="282015" y="229753"/>
                  </a:cubicBezTo>
                  <a:cubicBezTo>
                    <a:pt x="282015" y="258320"/>
                    <a:pt x="258861" y="281473"/>
                    <a:pt x="230295" y="281473"/>
                  </a:cubicBezTo>
                  <a:close/>
                  <a:moveTo>
                    <a:pt x="408680" y="361220"/>
                  </a:moveTo>
                  <a:cubicBezTo>
                    <a:pt x="395013" y="361220"/>
                    <a:pt x="383926" y="350134"/>
                    <a:pt x="383926" y="336466"/>
                  </a:cubicBezTo>
                  <a:cubicBezTo>
                    <a:pt x="383926" y="322799"/>
                    <a:pt x="395013" y="311712"/>
                    <a:pt x="408680" y="311712"/>
                  </a:cubicBezTo>
                  <a:cubicBezTo>
                    <a:pt x="422348" y="311712"/>
                    <a:pt x="433435" y="322799"/>
                    <a:pt x="433435" y="336466"/>
                  </a:cubicBezTo>
                  <a:cubicBezTo>
                    <a:pt x="433435" y="350134"/>
                    <a:pt x="422348" y="361220"/>
                    <a:pt x="408680" y="3612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1771;p72">
              <a:extLst>
                <a:ext uri="{FF2B5EF4-FFF2-40B4-BE49-F238E27FC236}">
                  <a16:creationId xmlns:a16="http://schemas.microsoft.com/office/drawing/2014/main" id="{A88ED128-FD50-43C6-297E-1DA0D72F171F}"/>
                </a:ext>
              </a:extLst>
            </p:cNvPr>
            <p:cNvSpPr/>
            <p:nvPr/>
          </p:nvSpPr>
          <p:spPr>
            <a:xfrm>
              <a:off x="8046691" y="3949733"/>
              <a:ext cx="36128" cy="36137"/>
            </a:xfrm>
            <a:custGeom>
              <a:avLst/>
              <a:gdLst/>
              <a:ahLst/>
              <a:cxnLst/>
              <a:rect l="l" t="t" r="r" b="b"/>
              <a:pathLst>
                <a:path w="36128" h="36137" extrusionOk="0">
                  <a:moveTo>
                    <a:pt x="18065" y="0"/>
                  </a:moveTo>
                  <a:cubicBezTo>
                    <a:pt x="8084" y="0"/>
                    <a:pt x="0" y="8093"/>
                    <a:pt x="0" y="18064"/>
                  </a:cubicBezTo>
                  <a:cubicBezTo>
                    <a:pt x="0" y="28036"/>
                    <a:pt x="8093" y="36137"/>
                    <a:pt x="18065" y="36137"/>
                  </a:cubicBezTo>
                  <a:cubicBezTo>
                    <a:pt x="28036" y="36137"/>
                    <a:pt x="36129" y="28045"/>
                    <a:pt x="36129" y="18064"/>
                  </a:cubicBezTo>
                  <a:cubicBezTo>
                    <a:pt x="36129" y="8084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1772;p72">
              <a:extLst>
                <a:ext uri="{FF2B5EF4-FFF2-40B4-BE49-F238E27FC236}">
                  <a16:creationId xmlns:a16="http://schemas.microsoft.com/office/drawing/2014/main" id="{A63D244B-42A6-BFEE-226C-5E1E5D2220C0}"/>
                </a:ext>
              </a:extLst>
            </p:cNvPr>
            <p:cNvSpPr/>
            <p:nvPr/>
          </p:nvSpPr>
          <p:spPr>
            <a:xfrm>
              <a:off x="7877405" y="4118956"/>
              <a:ext cx="36128" cy="36128"/>
            </a:xfrm>
            <a:custGeom>
              <a:avLst/>
              <a:gdLst/>
              <a:ahLst/>
              <a:cxnLst/>
              <a:rect l="l" t="t" r="r" b="b"/>
              <a:pathLst>
                <a:path w="36128" h="36128" extrusionOk="0">
                  <a:moveTo>
                    <a:pt x="18065" y="0"/>
                  </a:moveTo>
                  <a:cubicBezTo>
                    <a:pt x="8093" y="0"/>
                    <a:pt x="0" y="8084"/>
                    <a:pt x="0" y="18064"/>
                  </a:cubicBezTo>
                  <a:cubicBezTo>
                    <a:pt x="0" y="28045"/>
                    <a:pt x="8093" y="36128"/>
                    <a:pt x="18065" y="36128"/>
                  </a:cubicBezTo>
                  <a:cubicBezTo>
                    <a:pt x="28036" y="36128"/>
                    <a:pt x="36129" y="28036"/>
                    <a:pt x="36129" y="18064"/>
                  </a:cubicBezTo>
                  <a:cubicBezTo>
                    <a:pt x="36129" y="8093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1773;p72">
              <a:extLst>
                <a:ext uri="{FF2B5EF4-FFF2-40B4-BE49-F238E27FC236}">
                  <a16:creationId xmlns:a16="http://schemas.microsoft.com/office/drawing/2014/main" id="{F68232AF-948A-B734-8E89-629A412AD456}"/>
                </a:ext>
              </a:extLst>
            </p:cNvPr>
            <p:cNvSpPr/>
            <p:nvPr/>
          </p:nvSpPr>
          <p:spPr>
            <a:xfrm>
              <a:off x="7948575" y="3781166"/>
              <a:ext cx="27100" cy="27100"/>
            </a:xfrm>
            <a:custGeom>
              <a:avLst/>
              <a:gdLst/>
              <a:ahLst/>
              <a:cxnLst/>
              <a:rect l="l" t="t" r="r" b="b"/>
              <a:pathLst>
                <a:path w="27100" h="27100" extrusionOk="0">
                  <a:moveTo>
                    <a:pt x="13550" y="0"/>
                  </a:moveTo>
                  <a:cubicBezTo>
                    <a:pt x="6060" y="0"/>
                    <a:pt x="0" y="6069"/>
                    <a:pt x="0" y="13550"/>
                  </a:cubicBezTo>
                  <a:cubicBezTo>
                    <a:pt x="0" y="21031"/>
                    <a:pt x="6060" y="27101"/>
                    <a:pt x="13550" y="27101"/>
                  </a:cubicBezTo>
                  <a:cubicBezTo>
                    <a:pt x="21040" y="27101"/>
                    <a:pt x="27101" y="21031"/>
                    <a:pt x="27101" y="13550"/>
                  </a:cubicBezTo>
                  <a:cubicBezTo>
                    <a:pt x="27101" y="6069"/>
                    <a:pt x="21031" y="0"/>
                    <a:pt x="135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1774;p72">
              <a:extLst>
                <a:ext uri="{FF2B5EF4-FFF2-40B4-BE49-F238E27FC236}">
                  <a16:creationId xmlns:a16="http://schemas.microsoft.com/office/drawing/2014/main" id="{BA4443FC-BA68-34E2-6BC2-2FC4F2E3D332}"/>
                </a:ext>
              </a:extLst>
            </p:cNvPr>
            <p:cNvSpPr/>
            <p:nvPr/>
          </p:nvSpPr>
          <p:spPr>
            <a:xfrm>
              <a:off x="8209477" y="3787325"/>
              <a:ext cx="36128" cy="36128"/>
            </a:xfrm>
            <a:custGeom>
              <a:avLst/>
              <a:gdLst/>
              <a:ahLst/>
              <a:cxnLst/>
              <a:rect l="l" t="t" r="r" b="b"/>
              <a:pathLst>
                <a:path w="36128" h="36128" extrusionOk="0">
                  <a:moveTo>
                    <a:pt x="18065" y="0"/>
                  </a:moveTo>
                  <a:cubicBezTo>
                    <a:pt x="8075" y="0"/>
                    <a:pt x="0" y="8093"/>
                    <a:pt x="0" y="18064"/>
                  </a:cubicBezTo>
                  <a:cubicBezTo>
                    <a:pt x="0" y="28036"/>
                    <a:pt x="8084" y="36128"/>
                    <a:pt x="18065" y="36128"/>
                  </a:cubicBezTo>
                  <a:cubicBezTo>
                    <a:pt x="28045" y="36128"/>
                    <a:pt x="36129" y="28045"/>
                    <a:pt x="36129" y="18064"/>
                  </a:cubicBezTo>
                  <a:cubicBezTo>
                    <a:pt x="36129" y="8093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" name="Google Shape;1835;p72">
            <a:extLst>
              <a:ext uri="{FF2B5EF4-FFF2-40B4-BE49-F238E27FC236}">
                <a16:creationId xmlns:a16="http://schemas.microsoft.com/office/drawing/2014/main" id="{350606C1-79A0-F68A-C15C-94BB53FEE4C6}"/>
              </a:ext>
            </a:extLst>
          </p:cNvPr>
          <p:cNvGrpSpPr/>
          <p:nvPr/>
        </p:nvGrpSpPr>
        <p:grpSpPr>
          <a:xfrm>
            <a:off x="7588727" y="2478155"/>
            <a:ext cx="346179" cy="460373"/>
            <a:chOff x="1920927" y="2375903"/>
            <a:chExt cx="346179" cy="460373"/>
          </a:xfrm>
        </p:grpSpPr>
        <p:sp>
          <p:nvSpPr>
            <p:cNvPr id="960" name="Google Shape;1836;p72">
              <a:extLst>
                <a:ext uri="{FF2B5EF4-FFF2-40B4-BE49-F238E27FC236}">
                  <a16:creationId xmlns:a16="http://schemas.microsoft.com/office/drawing/2014/main" id="{B3D82F15-CC30-410A-D7A2-1D714422C791}"/>
                </a:ext>
              </a:extLst>
            </p:cNvPr>
            <p:cNvSpPr/>
            <p:nvPr/>
          </p:nvSpPr>
          <p:spPr>
            <a:xfrm>
              <a:off x="1982970" y="2494593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1837;p72">
              <a:extLst>
                <a:ext uri="{FF2B5EF4-FFF2-40B4-BE49-F238E27FC236}">
                  <a16:creationId xmlns:a16="http://schemas.microsoft.com/office/drawing/2014/main" id="{1D01FBF8-9346-5364-C7D9-BA3A10D2B48A}"/>
                </a:ext>
              </a:extLst>
            </p:cNvPr>
            <p:cNvSpPr/>
            <p:nvPr/>
          </p:nvSpPr>
          <p:spPr>
            <a:xfrm>
              <a:off x="1982970" y="2579114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1838;p72">
              <a:extLst>
                <a:ext uri="{FF2B5EF4-FFF2-40B4-BE49-F238E27FC236}">
                  <a16:creationId xmlns:a16="http://schemas.microsoft.com/office/drawing/2014/main" id="{888F1DA1-2B29-D5C9-17E7-7F116055434A}"/>
                </a:ext>
              </a:extLst>
            </p:cNvPr>
            <p:cNvSpPr/>
            <p:nvPr/>
          </p:nvSpPr>
          <p:spPr>
            <a:xfrm>
              <a:off x="1982970" y="2664535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1839;p72">
              <a:extLst>
                <a:ext uri="{FF2B5EF4-FFF2-40B4-BE49-F238E27FC236}">
                  <a16:creationId xmlns:a16="http://schemas.microsoft.com/office/drawing/2014/main" id="{66E30A2A-3DE8-23D5-632D-C567E9D31DA3}"/>
                </a:ext>
              </a:extLst>
            </p:cNvPr>
            <p:cNvSpPr/>
            <p:nvPr/>
          </p:nvSpPr>
          <p:spPr>
            <a:xfrm>
              <a:off x="2105081" y="2516173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82"/>
                    <a:pt x="113291" y="14099"/>
                  </a:cubicBezTo>
                  <a:cubicBezTo>
                    <a:pt x="113632" y="6375"/>
                    <a:pt x="107464" y="0"/>
                    <a:pt x="998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1840;p72">
              <a:extLst>
                <a:ext uri="{FF2B5EF4-FFF2-40B4-BE49-F238E27FC236}">
                  <a16:creationId xmlns:a16="http://schemas.microsoft.com/office/drawing/2014/main" id="{9A5870A2-E14E-9D86-1F0F-F80BEE8013B5}"/>
                </a:ext>
              </a:extLst>
            </p:cNvPr>
            <p:cNvSpPr/>
            <p:nvPr/>
          </p:nvSpPr>
          <p:spPr>
            <a:xfrm>
              <a:off x="2105081" y="2600694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73"/>
                    <a:pt x="113291" y="14099"/>
                  </a:cubicBezTo>
                  <a:cubicBezTo>
                    <a:pt x="113632" y="6375"/>
                    <a:pt x="107464" y="0"/>
                    <a:pt x="99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1841;p72">
              <a:extLst>
                <a:ext uri="{FF2B5EF4-FFF2-40B4-BE49-F238E27FC236}">
                  <a16:creationId xmlns:a16="http://schemas.microsoft.com/office/drawing/2014/main" id="{E1CB90B6-B57A-2250-A09E-583BCA775401}"/>
                </a:ext>
              </a:extLst>
            </p:cNvPr>
            <p:cNvSpPr/>
            <p:nvPr/>
          </p:nvSpPr>
          <p:spPr>
            <a:xfrm>
              <a:off x="2105081" y="2686115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73"/>
                    <a:pt x="113291" y="14099"/>
                  </a:cubicBezTo>
                  <a:cubicBezTo>
                    <a:pt x="113632" y="6375"/>
                    <a:pt x="107464" y="0"/>
                    <a:pt x="99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1842;p72">
              <a:extLst>
                <a:ext uri="{FF2B5EF4-FFF2-40B4-BE49-F238E27FC236}">
                  <a16:creationId xmlns:a16="http://schemas.microsoft.com/office/drawing/2014/main" id="{FEC52810-2269-E25A-C557-ABEF3220825B}"/>
                </a:ext>
              </a:extLst>
            </p:cNvPr>
            <p:cNvSpPr/>
            <p:nvPr/>
          </p:nvSpPr>
          <p:spPr>
            <a:xfrm>
              <a:off x="1920927" y="2375903"/>
              <a:ext cx="346179" cy="460373"/>
            </a:xfrm>
            <a:custGeom>
              <a:avLst/>
              <a:gdLst/>
              <a:ahLst/>
              <a:cxnLst/>
              <a:rect l="l" t="t" r="r" b="b"/>
              <a:pathLst>
                <a:path w="346179" h="460373" extrusionOk="0">
                  <a:moveTo>
                    <a:pt x="346179" y="17084"/>
                  </a:moveTo>
                  <a:lnTo>
                    <a:pt x="346179" y="13542"/>
                  </a:lnTo>
                  <a:cubicBezTo>
                    <a:pt x="346179" y="6060"/>
                    <a:pt x="340119" y="0"/>
                    <a:pt x="332638" y="0"/>
                  </a:cubicBez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446832"/>
                  </a:lnTo>
                  <a:cubicBezTo>
                    <a:pt x="0" y="454313"/>
                    <a:pt x="6069" y="460373"/>
                    <a:pt x="13559" y="460373"/>
                  </a:cubicBezTo>
                  <a:lnTo>
                    <a:pt x="255238" y="460373"/>
                  </a:lnTo>
                  <a:cubicBezTo>
                    <a:pt x="255238" y="460373"/>
                    <a:pt x="262251" y="458845"/>
                    <a:pt x="264787" y="456318"/>
                  </a:cubicBezTo>
                  <a:lnTo>
                    <a:pt x="341836" y="379394"/>
                  </a:lnTo>
                  <a:cubicBezTo>
                    <a:pt x="344372" y="376859"/>
                    <a:pt x="345793" y="373415"/>
                    <a:pt x="346170" y="369827"/>
                  </a:cubicBezTo>
                  <a:lnTo>
                    <a:pt x="346170" y="17084"/>
                  </a:lnTo>
                  <a:lnTo>
                    <a:pt x="346170" y="17084"/>
                  </a:lnTo>
                  <a:close/>
                  <a:moveTo>
                    <a:pt x="26975" y="26975"/>
                  </a:moveTo>
                  <a:lnTo>
                    <a:pt x="318305" y="26975"/>
                  </a:lnTo>
                  <a:lnTo>
                    <a:pt x="318305" y="68337"/>
                  </a:lnTo>
                  <a:lnTo>
                    <a:pt x="26975" y="68337"/>
                  </a:lnTo>
                  <a:lnTo>
                    <a:pt x="26975" y="26975"/>
                  </a:lnTo>
                  <a:close/>
                  <a:moveTo>
                    <a:pt x="268851" y="413752"/>
                  </a:moveTo>
                  <a:lnTo>
                    <a:pt x="268851" y="383045"/>
                  </a:lnTo>
                  <a:cubicBezTo>
                    <a:pt x="268851" y="383045"/>
                    <a:pt x="299566" y="383045"/>
                    <a:pt x="299566" y="383045"/>
                  </a:cubicBezTo>
                  <a:lnTo>
                    <a:pt x="268851" y="413752"/>
                  </a:lnTo>
                  <a:close/>
                  <a:moveTo>
                    <a:pt x="255417" y="356070"/>
                  </a:moveTo>
                  <a:cubicBezTo>
                    <a:pt x="247936" y="356070"/>
                    <a:pt x="241876" y="362130"/>
                    <a:pt x="241876" y="369612"/>
                  </a:cubicBezTo>
                  <a:lnTo>
                    <a:pt x="241876" y="433398"/>
                  </a:lnTo>
                  <a:lnTo>
                    <a:pt x="26975" y="433398"/>
                  </a:lnTo>
                  <a:lnTo>
                    <a:pt x="26975" y="95312"/>
                  </a:lnTo>
                  <a:lnTo>
                    <a:pt x="319204" y="95312"/>
                  </a:lnTo>
                  <a:lnTo>
                    <a:pt x="319204" y="356070"/>
                  </a:lnTo>
                  <a:lnTo>
                    <a:pt x="255417" y="35607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968" name="Conector de Seta Reta 967">
            <a:extLst>
              <a:ext uri="{FF2B5EF4-FFF2-40B4-BE49-F238E27FC236}">
                <a16:creationId xmlns:a16="http://schemas.microsoft.com/office/drawing/2014/main" id="{6E8149B4-EA39-5F10-830D-3D25EC5F88CF}"/>
              </a:ext>
            </a:extLst>
          </p:cNvPr>
          <p:cNvCxnSpPr>
            <a:cxnSpLocks/>
          </p:cNvCxnSpPr>
          <p:nvPr/>
        </p:nvCxnSpPr>
        <p:spPr>
          <a:xfrm>
            <a:off x="5292974" y="2722280"/>
            <a:ext cx="3657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9" name="Conector de Seta Reta 968">
            <a:extLst>
              <a:ext uri="{FF2B5EF4-FFF2-40B4-BE49-F238E27FC236}">
                <a16:creationId xmlns:a16="http://schemas.microsoft.com/office/drawing/2014/main" id="{0195CF56-339C-DFD2-0CEF-989AFB01C5E1}"/>
              </a:ext>
            </a:extLst>
          </p:cNvPr>
          <p:cNvCxnSpPr>
            <a:cxnSpLocks/>
          </p:cNvCxnSpPr>
          <p:nvPr/>
        </p:nvCxnSpPr>
        <p:spPr>
          <a:xfrm>
            <a:off x="6179357" y="2722280"/>
            <a:ext cx="3657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0" name="Conector de Seta Reta 969">
            <a:extLst>
              <a:ext uri="{FF2B5EF4-FFF2-40B4-BE49-F238E27FC236}">
                <a16:creationId xmlns:a16="http://schemas.microsoft.com/office/drawing/2014/main" id="{DF0F20E1-B76A-7CDC-CA8C-20E58CE677EF}"/>
              </a:ext>
            </a:extLst>
          </p:cNvPr>
          <p:cNvCxnSpPr>
            <a:cxnSpLocks/>
          </p:cNvCxnSpPr>
          <p:nvPr/>
        </p:nvCxnSpPr>
        <p:spPr>
          <a:xfrm>
            <a:off x="7112010" y="2722280"/>
            <a:ext cx="3657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829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8565449-D829-5324-6116-42D4D5640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00EB7CE7-C08A-B147-EED3-37EB7A5FFF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78396570-1C4E-F669-D0FF-8E338FC6878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CD34DB7-A316-E19F-B606-DCDF5E4FFAC9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DDDB85E0-3E1D-5452-E6A2-0EBEF3292536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0DD007DF-9941-94B8-6905-A8766995664F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1053C5C3-5FAD-90A6-AC10-8105619303E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4622E354-DBA6-10C9-355F-97D9C51B5AC1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4D42FDB3-EE06-CE48-146E-A618929DA88C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02424217-9B09-3E5F-1A44-4B04C6388629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03113850-F001-A112-32EE-A728443D995E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6DEDCF02-EECD-7880-0CAC-C1375DD9C48F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C35C8A9-9352-2D9D-107F-89CD587AC7B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2C75D4C-D342-E80C-E8FB-43DB61EA87F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1D4B7440-67EE-EDC2-8817-73CE8EA1DE43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6D571D64-2674-F97C-352D-EF05B6C6487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F88D0316-9AC2-F759-AF00-607BA77C4F6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2D03D232-A3D6-DD10-720B-0E54CAF0EF6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EF29C2F9-3214-89C2-3B29-84E4B343E073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2A5855C-9608-97DC-65C5-FBDE5994F6C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FF74F7F4-9C71-1364-CCA2-1589B869D0F2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BDE14EBB-4E8B-2512-24E9-F1C80BDA1BB4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679B011-CE10-0778-D10F-B046A979F45B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5AAD8FA0-F1E5-E9F0-A40B-F5EAD44D2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2D437E5-AEF2-B957-36AF-7100F96DD816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08CB56EF-51FD-0897-CE75-83111A88366D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89E880E1-53DD-07DA-EF5C-142F511A6C1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3163B7B7-D369-0522-F203-1402C6FC5160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486E277D-5A02-FD6D-51B0-20CED8A069A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AA16CCC-ED89-AD22-B3B6-EFE3AFED0DF4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FB688E01-F209-208C-86A9-FA93FFEB780D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23DB29A7-90FB-B6B2-F287-B4F8990144D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8315F53B-8D79-B6E0-C9CC-028539734CF4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7098964F-F0E4-EDC8-8756-5CA5AD25E47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8881DC94-862C-6F9A-44D4-B24C45679D79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691340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Dimensão e cobertura temporal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DEE999BE-D7A2-6CE4-0321-6549619E8D6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9" y="1533079"/>
            <a:ext cx="3842618" cy="2979286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8.048 arquivos Markdown processados.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8.055 notícias no corpus analítico enriquecido.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Período identificado: 29/11/2011 a 08/05/2026.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A diferença entre arquivos e notícias decorre do controle incremental e da consolidação posterior da base analítica.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O ano de 2026 deve ser interpretado como série parcial.</a:t>
            </a:r>
            <a:endParaRPr lang="pt-BR" sz="1400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4A43A74B-C277-B5A3-B575-59F207C056EB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9AB330B-9897-D564-54D7-04AC9BE01A1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47DF1C31-3F82-26CE-31DD-30391599C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003007"/>
              </p:ext>
            </p:extLst>
          </p:nvPr>
        </p:nvGraphicFramePr>
        <p:xfrm>
          <a:off x="4782961" y="2059493"/>
          <a:ext cx="3926574" cy="1548163"/>
        </p:xfrm>
        <a:graphic>
          <a:graphicData uri="http://schemas.openxmlformats.org/drawingml/2006/table">
            <a:tbl>
              <a:tblPr/>
              <a:tblGrid>
                <a:gridCol w="2760004">
                  <a:extLst>
                    <a:ext uri="{9D8B030D-6E8A-4147-A177-3AD203B41FA5}">
                      <a16:colId xmlns:a16="http://schemas.microsoft.com/office/drawing/2014/main" val="1094745640"/>
                    </a:ext>
                  </a:extLst>
                </a:gridCol>
                <a:gridCol w="1166570">
                  <a:extLst>
                    <a:ext uri="{9D8B030D-6E8A-4147-A177-3AD203B41FA5}">
                      <a16:colId xmlns:a16="http://schemas.microsoft.com/office/drawing/2014/main" val="3149789879"/>
                    </a:ext>
                  </a:extLst>
                </a:gridCol>
              </a:tblGrid>
              <a:tr h="2472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Indicador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Valor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924072"/>
                  </a:ext>
                </a:extLst>
              </a:tr>
              <a:tr h="420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Arquivos Markdown processados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8.048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707989"/>
                  </a:ext>
                </a:extLst>
              </a:tr>
              <a:tr h="2472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Notícias no corpus analítico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8.055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1574251"/>
                  </a:ext>
                </a:extLst>
              </a:tr>
              <a:tr h="420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Período coberto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dirty="0"/>
                        <a:t>2011–2026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066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9090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98D41193-E58B-0749-DA55-1F8B802B9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08EE1379-643B-0CC4-AF86-B0FD0B193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FB7A417C-8AC0-9434-E8A3-D73CE6B075E2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955FBCC-726A-CC64-390F-31C2BBAEB06B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83A2CD3-0810-CC3E-7D92-F8D281F1E2C2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54EE54DC-AC15-3DF2-226A-490F8B10CE99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04EBDF7E-3091-1EC2-AE4F-7825BB7BD6F3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1EC4E3A6-4231-9EAE-2538-9B95A1565B4F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7CFDB83F-B5EE-4FB6-7878-00C813ECAA28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1DFDE222-8137-0971-6846-2B83C788126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20D815B1-978A-68FB-FD56-B806CDC6629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2EF2C4C-5B9F-C3CB-2ACC-AAA10DBBCF04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CDEE2A2-892A-214C-0D2C-F4E83D59692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22BCCE2-38A6-6C76-1CA8-AFD725AA8A0A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06F65E46-819B-B1E5-9ED0-EC34285AA04E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19ABF60D-693F-17CE-7D2E-79B0DDAF6A7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F9536E6A-5AFA-FEB7-D4B1-3DD3931D52C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2B4B1F12-C1CE-1C42-0C3E-825A9BB3FA5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5E08AAD0-5E02-D1D5-8868-3B79D432D550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11B8035A-650A-A643-8264-AE6A1D8B720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0FF6C4A9-2EF6-A833-476D-CAC059AD926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E7461C8C-CFD8-8A2C-D37D-61EF0EF752CF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BB39DF6-3AE3-C986-4071-16931733AD99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70644217-15EC-5BDF-9162-54BFDD8A4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321E16E9-3667-529C-27AF-10F7A2AAFE18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E45B200-2229-B8EF-A623-775C25ECCF73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B7EE11DF-BE89-AEDB-EDF6-2F3FC4A1B1D8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96822500-EE8C-3DB5-B698-D9C83383CA1A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CFA72369-058B-EE4B-30B9-91DF15B6156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EEBEFAE-89A4-7CAD-8732-D8CA216C715D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77604FE5-D79F-D845-CCF5-2C892E4243E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535CA3D-2659-1F5F-7053-2A5E55C3856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75ECA644-A894-81EB-23D9-0EEBD4163F0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EEDE6487-2DFE-30C7-6D6E-26401919AA5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B01064A7-D9AC-BA86-6938-4C196D82447C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691340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Unidade de análise: notícia publicada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F11EA594-8EFC-877C-CC52-E3AB511F542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533079"/>
            <a:ext cx="4123551" cy="297928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A unidade de análise é a notícia publicada.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Uma notícia não corresponde necessariamente a uma operação policial única.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Uma operação pode gerar várias publicações.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Uma notícia pode reunir diferentes crimes, órgãos participantes ou ações operacionais.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As frequências devem ser lidas como frequências de notícias.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Não representam diretamente número de operações, inquéritos, mandados ou ocorrências criminais.</a:t>
            </a:r>
            <a:endParaRPr lang="pt-BR" sz="1400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77D23633-CBB9-CC98-B4F5-A66B89319279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6FAC1509-D4FE-0651-8893-0282EA71BC63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0C6DC798-7713-EE2D-E7B6-2BD12D1051C9}"/>
              </a:ext>
            </a:extLst>
          </p:cNvPr>
          <p:cNvSpPr txBox="1"/>
          <p:nvPr/>
        </p:nvSpPr>
        <p:spPr>
          <a:xfrm>
            <a:off x="4905396" y="2248799"/>
            <a:ext cx="395080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Notícia publicada ≠ operação policial</a:t>
            </a:r>
          </a:p>
          <a:p>
            <a:r>
              <a:rPr lang="pt-PT" dirty="0"/>
              <a:t>Notícia publicada ≠ inquérito</a:t>
            </a:r>
          </a:p>
          <a:p>
            <a:r>
              <a:rPr lang="pt-PT" dirty="0"/>
              <a:t>Notícia publicada ≠ ocorrência criminal</a:t>
            </a:r>
          </a:p>
          <a:p>
            <a:endParaRPr lang="pt-PT" dirty="0"/>
          </a:p>
          <a:p>
            <a:r>
              <a:rPr lang="pt-PT" dirty="0"/>
              <a:t>Notícia publicada = atuação publicizada</a:t>
            </a:r>
          </a:p>
        </p:txBody>
      </p:sp>
    </p:spTree>
    <p:extLst>
      <p:ext uri="{BB962C8B-B14F-4D97-AF65-F5344CB8AC3E}">
        <p14:creationId xmlns:p14="http://schemas.microsoft.com/office/powerpoint/2010/main" val="2526916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9C70FB6-6916-4DB6-FACF-8201BB1DA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75ADB5C-ED40-1169-F36F-92CC375E7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54EE7210-C290-7BDB-6254-42CAF95FB870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AA8099E5-6354-2B1C-F50A-A44740A90CC7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0D1DB5F8-E877-13DA-C759-2C9F6031D65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BE91494C-62A9-2462-E7EA-A4931E8699A7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A3840228-2FF2-C914-8E6A-5DE363FACDF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F94A2075-99F1-8A06-4DFC-1545EFDE0788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C19D1502-9D2A-8CC6-B31F-EFE5A93B3E78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0BAE7833-C0E8-73BF-3BC0-9F38AF6A8984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C19236F9-526E-6759-B5E1-CA525BA2744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04E46CDE-D1F5-B2C1-7622-5C6816506D2D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93850C45-2227-7EDC-D47C-A3ADEDD691B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A83593F2-1701-E206-1544-7B9C2FD6C2F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AD5E4B11-4FFD-0F7D-5548-E16194744E52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14D21CD-7516-42A6-6D7E-DBF8C4577AE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A4354902-C921-722D-9D18-CCC4BF42B58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A24A75CE-CC2F-10CF-F428-DB7D22597C2A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59D27947-61B8-93C9-6FB9-F00EE59B0A3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FE9FDA89-0078-0857-2217-62B86208BEF2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577A73DE-A3AA-244D-5904-9FEECEC6937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D7288AEE-F74A-05A1-CBE8-703DEBA91340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B2EA084-8263-DFAF-48F5-EFF238C09B99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9C3EFCC3-C300-FCC0-CFBF-DEA325293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CCEE2960-434D-60F4-B5D2-3142BFE4C80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3E773ED1-8A97-3595-58B8-778CF65E3729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374E7078-93BA-2455-F3F1-371EB0575DC9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C4B9D76C-B2FD-F8B6-6A41-1088236216CD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AD732CF8-E7CA-7E64-F128-7ED8A220C68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E9A8860-867B-9315-85CC-8BAE6AB4FB40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39D35F6-9ECE-6929-BAFE-538A3F85ED59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BF9B8E4-22B6-29BA-CD1C-8C46627EFD58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BD93D541-BD74-E6DA-E999-47BF3AFA628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AF2A631F-A46C-D0D0-C86A-C2A67C0D4C86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1610C7A0-1FC9-4CB6-770B-0C8CC6B920FC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400" dirty="0">
                <a:latin typeface="+mj-lt"/>
                <a:cs typeface="Arial" panose="020B0604020202020204" pitchFamily="34" charset="0"/>
              </a:rPr>
              <a:t>Representatividade: o que a base permite analisar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A7DC07F4-3911-60D5-253E-0EAE256DD98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533079"/>
            <a:ext cx="4123551" cy="2979286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A base permite observar a atuação publicizada da Polícia Federal.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b="1" dirty="0">
                <a:solidFill>
                  <a:schemeClr val="bg1"/>
                </a:solidFill>
                <a:latin typeface="+mj-lt"/>
              </a:rPr>
              <a:t>O corpus é adequado para analisar:</a:t>
            </a:r>
          </a:p>
          <a:p>
            <a:pPr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visibilidade pública;</a:t>
            </a:r>
          </a:p>
          <a:p>
            <a:pPr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	- recorrência temática;</a:t>
            </a:r>
          </a:p>
          <a:p>
            <a:pPr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mudanças na agenda comunicada;</a:t>
            </a:r>
          </a:p>
          <a:p>
            <a:pPr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padrões de apresentação institucional;</a:t>
            </a:r>
          </a:p>
          <a:p>
            <a:pPr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relações entre temas, territórios e tipos de crime.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36BEEFDC-B976-11CE-222E-40FD558A1704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AA70F755-C15F-0051-2C27-284334D9D5F5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7" name="Subtítulo 2">
            <a:extLst>
              <a:ext uri="{FF2B5EF4-FFF2-40B4-BE49-F238E27FC236}">
                <a16:creationId xmlns:a16="http://schemas.microsoft.com/office/drawing/2014/main" id="{950074A6-E13E-B2D4-2C75-3C24F7DD69BA}"/>
              </a:ext>
            </a:extLst>
          </p:cNvPr>
          <p:cNvSpPr txBox="1">
            <a:spLocks/>
          </p:cNvSpPr>
          <p:nvPr/>
        </p:nvSpPr>
        <p:spPr>
          <a:xfrm>
            <a:off x="4640552" y="1519580"/>
            <a:ext cx="4123551" cy="2979286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bg1"/>
                </a:solidFill>
                <a:latin typeface="+mj-lt"/>
              </a:rPr>
              <a:t>A base não mede diretamente:</a:t>
            </a:r>
          </a:p>
          <a:p>
            <a:pPr lvl="1"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incidência criminal;</a:t>
            </a:r>
          </a:p>
          <a:p>
            <a:pPr lvl="1"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produtividade policial;</a:t>
            </a:r>
          </a:p>
          <a:p>
            <a:pPr lvl="1"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orçamento mobilizado;</a:t>
            </a:r>
          </a:p>
          <a:p>
            <a:pPr lvl="1"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efetivo empregado;</a:t>
            </a:r>
          </a:p>
          <a:p>
            <a:pPr lvl="1" defTabSz="358775"/>
            <a:r>
              <a:rPr lang="pt-BR" b="1" dirty="0">
                <a:solidFill>
                  <a:schemeClr val="bg1"/>
                </a:solidFill>
                <a:latin typeface="+mj-lt"/>
              </a:rPr>
              <a:t> 	- esforço operacional total.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b="1" dirty="0">
              <a:solidFill>
                <a:schemeClr val="bg1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>
                <a:solidFill>
                  <a:schemeClr val="bg1"/>
                </a:solidFill>
                <a:latin typeface="+mj-lt"/>
              </a:rPr>
              <a:t>Para inferir prioridade institucional em sentido forte, seria necessário cruzar com bases administrativas e operacionais.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1292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C2005464-892E-8154-046C-7F6B5D5B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37179612-1299-535B-4EE9-DE67137ABF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A8EF6B48-7C4D-E86A-45E3-56486DBDCDA5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EE64BA89-10D9-CE47-AABD-A4E65667641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218D0413-1DC7-280C-8A61-75CC8B6E9A0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CFA7C02F-53EA-B1B7-757A-7C6410E0EA2C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03C42B2B-55A7-3070-D305-B46CAC204DAA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22C56BFD-83B8-964B-3248-2D1C2B4F1B3B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687185B-7993-919F-D39D-197C032E9015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71E7BBBB-FD8D-D42D-D372-54553BE8727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70AD2A4-A0B6-3140-A592-13A8ED07EF9C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32A3898B-7D76-40CA-03F7-7224A37301E6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C971AE12-CA19-9BBF-3D13-3EE0A87F4E9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6C63B670-2F7D-0349-4EF8-D6540EC866D5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0EAD4E78-DBFF-32EB-D4C0-044AFE2E0F7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C995C3E-B958-10B9-F891-57D891E81E64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6CDD4CF5-4B78-866F-5797-68DE88030CE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C87B61D1-C6AC-36AC-EA41-A93677824A9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8EA5FB7-F079-0AE9-AFCD-58552D573C2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F395BB13-DCD7-8879-3A96-FA06A2D040EC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A01A60E-E80D-F9EA-3C85-419B03A3523A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C0BF9ECD-FDB9-E268-FF1B-69059AD17E35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F368DA1-EFD3-5052-F0BF-37997F13BA4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77E694AB-8B5B-0B7B-3ADB-11E6E8B895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CF59B46F-2B2E-66B3-6793-6B53E153BCEA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73694C1-8AD7-138A-FE3A-53969931B4FA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436B9ECF-C9EC-B243-793F-F981B1E86754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5D63218A-C8AC-A5B2-A621-4B72E0BC42E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736A1570-55C4-9046-0D4B-69B7C2A2EDB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082BC705-01F8-96E4-106F-B3CA634558C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2C05A79C-15A9-88EA-FB75-0C9FAD0B467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54DD504-4FB4-05DF-138C-AF1B33EECDD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A87D55AA-2572-426C-7470-8B5B27B84BC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B13A8AFE-22A3-11FE-F848-33C3BF4F2C4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9421C37C-6231-C207-F9E5-7DCA68F05B8B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Notícias e inquéritos: convergência temática exploratória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3041F88E-514C-FE31-61CD-3B9A9283F2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4272871" cy="3284762"/>
          </a:xfrm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A comparação com inquéritos e tipos penais é exploratória.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As duas bases possuem unidades de análise diferentes.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Mesmo assim, há convergência em grandes eixos temáticos: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crimes contra crianças;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tráfico de drogas;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corrupção, desvios e fraudes públicas;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crimes ambientais;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	- falsificações;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contrabando;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lavagem de dinheiro;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fraude previdenciária.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A convergência sugere que a comunicação pública da PF não está completamente dissociada da prática investigativa registrada em bases administrativas.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As diferenças indicam possíveis efeitos de visibilidade, seleção comunicacional e relevância pública.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2C0F654A-B3B7-3A97-547F-C9429C9F14B4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56277B25-0246-841A-9798-A62532BD31E4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43120057-6F38-5825-80C5-3C55C8566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038661"/>
              </p:ext>
            </p:extLst>
          </p:nvPr>
        </p:nvGraphicFramePr>
        <p:xfrm>
          <a:off x="4944532" y="1392913"/>
          <a:ext cx="3570816" cy="3128943"/>
        </p:xfrm>
        <a:graphic>
          <a:graphicData uri="http://schemas.openxmlformats.org/drawingml/2006/table">
            <a:tbl>
              <a:tblPr/>
              <a:tblGrid>
                <a:gridCol w="1190272">
                  <a:extLst>
                    <a:ext uri="{9D8B030D-6E8A-4147-A177-3AD203B41FA5}">
                      <a16:colId xmlns:a16="http://schemas.microsoft.com/office/drawing/2014/main" val="4213930232"/>
                    </a:ext>
                  </a:extLst>
                </a:gridCol>
                <a:gridCol w="1190272">
                  <a:extLst>
                    <a:ext uri="{9D8B030D-6E8A-4147-A177-3AD203B41FA5}">
                      <a16:colId xmlns:a16="http://schemas.microsoft.com/office/drawing/2014/main" val="1503016581"/>
                    </a:ext>
                  </a:extLst>
                </a:gridCol>
                <a:gridCol w="1190272">
                  <a:extLst>
                    <a:ext uri="{9D8B030D-6E8A-4147-A177-3AD203B41FA5}">
                      <a16:colId xmlns:a16="http://schemas.microsoft.com/office/drawing/2014/main" val="2008780508"/>
                    </a:ext>
                  </a:extLst>
                </a:gridCol>
              </a:tblGrid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Tema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Inquéritos PF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 dirty="0"/>
                        <a:t>Notícias PF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1323766"/>
                  </a:ext>
                </a:extLst>
              </a:tr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Crimes contra criança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10,5%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17,0%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6242552"/>
                  </a:ext>
                </a:extLst>
              </a:tr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Tráfico de drogas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9,0%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16,3%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800118"/>
                  </a:ext>
                </a:extLst>
              </a:tr>
              <a:tr h="5408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Corrupção/desvio/fraudes públicas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24,9%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15,2%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4988632"/>
                  </a:ext>
                </a:extLst>
              </a:tr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Crimes ambientais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1,8%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9,0%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221865"/>
                  </a:ext>
                </a:extLst>
              </a:tr>
              <a:tr h="339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Falsificações/documentos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14,0%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6,9%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394188"/>
                  </a:ext>
                </a:extLst>
              </a:tr>
              <a:tr h="339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Contrabando/descaminho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5,4%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6,8%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6338229"/>
                  </a:ext>
                </a:extLst>
              </a:tr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Lavagem de dinheiro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4,8%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5,2%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369916"/>
                  </a:ext>
                </a:extLst>
              </a:tr>
              <a:tr h="31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800"/>
                        <a:t>Fraude previdenciária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/>
                        <a:t>7,8%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800" dirty="0"/>
                        <a:t>4,7%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17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113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D11DEA95-33B3-7566-09CA-6B6F58CCD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4855FF42-1481-37CD-24D4-1CC5D62BA7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E911455A-480F-1892-45BE-E00AFEF0F5DD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2EB74AFA-B1FF-9683-35E4-CF0BD76507CF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BC70B108-945A-8A4D-7131-B18D585DD7D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DCC1B509-1180-665E-07B5-2BE8446CECD6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02A38B04-DA85-4A3D-6F51-B19196778B60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78A5BADC-0935-0200-16A2-44B2C0D61FF6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D49907A-6D40-2DEE-7529-721AB0167AEE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F0E9DA8A-73EB-DE6A-0A4D-92A3B959756B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5EBD5D7C-43B6-8283-E1C0-C3C6CA486866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64923607-A2F9-81C5-D9A5-BD16BA939B44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D3403572-F83D-6A9A-7E27-5A5B9C310FA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9D9E0D9E-7C89-4DD1-C7D4-E55BAF6CB24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7BC09459-2B3C-F3A6-D1F8-97AEFCA09FE0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D0E43D19-6B8E-6A13-1FBD-6FE919FFB03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5744A6D7-F8E5-D689-FCD6-B0397AC3D69D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0C529E7F-4B1F-5283-3141-AA5057F14D8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0A17D426-5A56-5315-29FB-667C59A411D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73FCCBF1-6AF7-D212-A45D-2783FC785F9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CAB1641-A4C2-BFB2-07C9-F904C391412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B21310E-1412-FA89-B853-59664813D039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257AD116-EF27-6664-4B03-7DEC0AE0B3A3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7D92DA3B-CA7F-1EEB-9E17-3682B1603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74377648-0869-3777-2961-9AC1BEC7AD46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6116B046-A561-22CA-DDF2-28E4A2E9E08F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84422EFE-ECA6-95AB-0E1C-053FF380FF51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0E69B674-771B-D4E5-08EE-180A096BB8BC}"/>
              </a:ext>
            </a:extLst>
          </p:cNvPr>
          <p:cNvSpPr txBox="1">
            <a:spLocks/>
          </p:cNvSpPr>
          <p:nvPr/>
        </p:nvSpPr>
        <p:spPr>
          <a:xfrm>
            <a:off x="356686" y="446167"/>
            <a:ext cx="683761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METODOLOGIA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354E8FC1-36DC-2567-FCC0-71DF4A40B1C9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BB452753-7F33-7D94-36F3-436C9586938C}"/>
              </a:ext>
            </a:extLst>
          </p:cNvPr>
          <p:cNvSpPr txBox="1">
            <a:spLocks/>
          </p:cNvSpPr>
          <p:nvPr/>
        </p:nvSpPr>
        <p:spPr>
          <a:xfrm>
            <a:off x="831829" y="1302734"/>
            <a:ext cx="5774380" cy="31102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Visão geral da metodologia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Extração e estruturação dos textos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Classificação híbrida: regex +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Resultado operacional da classificação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Aprendizado contínuo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Exemplos auditáveis de classificação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Clusterização, consenso e validação</a:t>
            </a:r>
          </a:p>
        </p:txBody>
      </p:sp>
    </p:spTree>
    <p:extLst>
      <p:ext uri="{BB962C8B-B14F-4D97-AF65-F5344CB8AC3E}">
        <p14:creationId xmlns:p14="http://schemas.microsoft.com/office/powerpoint/2010/main" val="1080923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F4CB086-099D-962A-FCCA-CA872D0C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97E903AF-19B0-2BBA-0134-7162EEEC5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93FD9322-2A61-CE33-ADD2-85D567AC209A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3186F3B-D774-853E-6760-43E48A8A3B9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D5380B4E-426A-711C-5679-C0ADEDB7639C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1461D4CA-21B8-C2EB-4A22-D343A3580E6D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1D33685-B59B-A2AA-9F3D-D50BE8FD7A50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73BC723D-9E00-C558-10F8-8D42BA76348A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A94D1618-7EC2-28F2-B46A-8BD91EB10E6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E3405A75-A2BF-8950-61E3-00E08B6EE9AD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06941C8-0D98-BE0D-0C85-6198AB15B81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4E5758E1-191A-4350-57CF-C2A25214B03B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5FE871C-0634-DB5B-3E46-31D1BDEF055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F16EC379-05CE-3AB3-BEC6-681ADF652D9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DF3F2A2-5BF6-C3B7-A246-E61DC0ED6A3C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1F5E512D-3E12-7AF0-500D-974DFF36B2C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5CE6A972-2ADF-A585-339A-EF25EA6873A3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0C4F295B-B56A-2F9D-BB21-FC64A7E557F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B1ADFB4-35EA-3581-F5B7-006181177A8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ED07BD9D-86AE-A977-3DE3-351E031B397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CF1FEE3-FF6E-FCD7-0CE2-F8633861079E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16E57000-2DCF-1E01-AD6C-85A7A853D37E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98F05899-9D82-214C-F321-B8B50B45675A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48CFAD95-99E2-7FC0-FE8B-7E77306D3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4D0C5857-24DC-AEA0-1A4E-9276EDF7D392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41870237-D810-96F9-613F-9AB861239024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16FE1ED8-E2FC-B42E-489C-CF86363FD63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E46D9BC8-3324-CFC1-D7C1-4665CED3C132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EB7D588E-388E-4658-841F-41C375804FB8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D7B592EE-D7EF-FD4F-FA28-539ACB519E3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FCB8CB08-06DD-0CEC-CB4A-0BF94A430A8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2A3DF2A-D787-BB74-96EB-B4ADB36B1328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08D16658-FBAB-3FA5-F873-B504BF60CA2E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0FD4F588-B26D-2D68-DD19-B960FC269FA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C638EC1A-6CBE-A746-AD00-752036CFE850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Pipeline metodológica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3670C1D9-F068-1FEE-DE00-CCEA01DA02E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Conversão das notícias em arquivos Markdown.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Extração de metadados.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Classificação híbrida.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Representação vetorial e clusterização.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Consolidação em tabelas, séries anuais e clusters canônicos.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9DB87E98-24A6-54CA-59C6-A9DAE9582538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8BEA4DC9-BF19-6BAD-2188-ACB3ED786D30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A75E4E43-E647-907C-8CCE-0EAF408A0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6267" y="1229279"/>
            <a:ext cx="5006596" cy="2678902"/>
          </a:xfrm>
          <a:prstGeom prst="rect">
            <a:avLst/>
          </a:prstGeom>
        </p:spPr>
      </p:pic>
      <p:sp>
        <p:nvSpPr>
          <p:cNvPr id="42" name="CaixaDeTexto 41">
            <a:extLst>
              <a:ext uri="{FF2B5EF4-FFF2-40B4-BE49-F238E27FC236}">
                <a16:creationId xmlns:a16="http://schemas.microsoft.com/office/drawing/2014/main" id="{DA113C23-30C5-80B8-CA4D-3BE380FD7E43}"/>
              </a:ext>
            </a:extLst>
          </p:cNvPr>
          <p:cNvSpPr txBox="1"/>
          <p:nvPr/>
        </p:nvSpPr>
        <p:spPr>
          <a:xfrm>
            <a:off x="4174067" y="3853347"/>
            <a:ext cx="52188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00" dirty="0"/>
              <a:t>Figura 1 — Fluxo de dados da pipeline de extração, classificação e clusterização.</a:t>
            </a:r>
            <a:endParaRPr lang="pt-PT" sz="1000" dirty="0"/>
          </a:p>
        </p:txBody>
      </p:sp>
    </p:spTree>
    <p:extLst>
      <p:ext uri="{BB962C8B-B14F-4D97-AF65-F5344CB8AC3E}">
        <p14:creationId xmlns:p14="http://schemas.microsoft.com/office/powerpoint/2010/main" val="1208849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1287954-79E3-9A2E-7C59-269E864A0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247410A2-76F7-59A6-9C50-F5B6265268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3DCC6D91-1C9C-20C4-5778-B052574098F8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05370CD2-27C3-6530-5B2B-A828835A9201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31201E55-2016-84A2-4AE7-E03536D9C6D1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17728553-6FBE-F615-037E-080FF779326D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34C2A75-CA31-6117-3328-96C272B25B41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7854EF04-7C22-FED5-5951-669F3974074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2B1E5F4-4C0D-0964-2EE9-D7D63CCFDB2F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D7C1D807-B3EB-D98B-C036-284273E531D1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BBA8C817-8646-482A-991F-342BE256B74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D926CFBB-5BD0-23AE-692B-C3A6EEBDD27B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F5742BB3-8E75-0A1E-DC4C-1D97A1EF74F6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D45A8C65-BED4-FED6-D5B2-0A9496330EFB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7E4D18DF-D535-1CD3-5F32-B513DDFB3249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0E7809A-2DDE-76C5-8F3C-A73855FE482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C710D6D7-D3DB-054B-9880-59FD217756C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F3C65D4-64B5-9032-FA54-26B97F359DE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246540DC-FEBB-EC23-1AA1-2F5978FC1235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FBA90D7B-6378-2B23-A76A-A8004FDE671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BBF0C057-DEA4-5E68-1BE9-628FC40C8210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96457F36-BF93-038F-91F4-B39EA57FF757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AB6D6B20-49AC-C977-517D-6A679A186AF1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C087E8B-129A-C38C-C883-9C3A0E718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D8A8F85E-4484-260F-E63A-50348E4AC02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92969E9F-0AC0-E436-942D-6799ACABAB55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3FEC6C26-9F33-C4D7-741E-8C1D9B634845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8029BFE3-18F8-39A4-21F3-DF73B62A1B2A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8DBF7EEA-1DB0-6E55-923E-1FB4FDCABC24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20A72B32-7AD0-855E-CAC7-8FE46281CD5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CED52311-1141-0D14-4882-1D390D86B8F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5A41098C-CFF5-0A7F-DF51-EAC903096CF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2157CB20-D9C0-6096-1B28-0C71C37BFBA5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CCDBC19B-5BAB-92E4-0F82-7191305E67E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FD1D33A4-1629-CC5E-FF8C-48C4DC1924A2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Preparação textual e metadados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8DE8D661-F251-53C3-40EF-D5EAA8BA3BC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Notícias organizadas em arquivos Markdown.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Preservação da estrutura textual original.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Extração objetiva de campos sem uso de LLM.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Campos extraídos: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título;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subtítulo;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data;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tags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UF;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	- município, quando disponível;</a:t>
            </a:r>
          </a:p>
          <a:p>
            <a:pPr defTabSz="358775"/>
            <a:r>
              <a:rPr lang="pt-BR" dirty="0">
                <a:solidFill>
                  <a:schemeClr val="bg1"/>
                </a:solidFill>
                <a:latin typeface="+mj-lt"/>
              </a:rPr>
              <a:t> 	- arquivo de origem.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O campo 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arquivo_markdown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funciona como chave operacional.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1F591366-6B1F-F18F-9C0F-0CFA85F890AB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C67A15B4-3A94-37E3-FD4F-BBF03FF2DEA5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37" name="Google Shape;1847;p72">
            <a:extLst>
              <a:ext uri="{FF2B5EF4-FFF2-40B4-BE49-F238E27FC236}">
                <a16:creationId xmlns:a16="http://schemas.microsoft.com/office/drawing/2014/main" id="{D3441224-6B94-C8AF-93BF-FB66044C1BC9}"/>
              </a:ext>
            </a:extLst>
          </p:cNvPr>
          <p:cNvGrpSpPr/>
          <p:nvPr/>
        </p:nvGrpSpPr>
        <p:grpSpPr>
          <a:xfrm>
            <a:off x="5612306" y="2571750"/>
            <a:ext cx="460364" cy="440582"/>
            <a:chOff x="3309250" y="2368709"/>
            <a:chExt cx="460364" cy="440582"/>
          </a:xfrm>
        </p:grpSpPr>
        <p:sp>
          <p:nvSpPr>
            <p:cNvPr id="38" name="Google Shape;1848;p72">
              <a:extLst>
                <a:ext uri="{FF2B5EF4-FFF2-40B4-BE49-F238E27FC236}">
                  <a16:creationId xmlns:a16="http://schemas.microsoft.com/office/drawing/2014/main" id="{731BD448-CD20-CF86-67E9-E63894EACAAE}"/>
                </a:ext>
              </a:extLst>
            </p:cNvPr>
            <p:cNvSpPr/>
            <p:nvPr/>
          </p:nvSpPr>
          <p:spPr>
            <a:xfrm>
              <a:off x="3309250" y="2368709"/>
              <a:ext cx="460364" cy="440582"/>
            </a:xfrm>
            <a:custGeom>
              <a:avLst/>
              <a:gdLst/>
              <a:ahLst/>
              <a:cxnLst/>
              <a:rect l="l" t="t" r="r" b="b"/>
              <a:pathLst>
                <a:path w="460364" h="440582" extrusionOk="0">
                  <a:moveTo>
                    <a:pt x="446706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426924"/>
                  </a:lnTo>
                  <a:cubicBezTo>
                    <a:pt x="0" y="434468"/>
                    <a:pt x="6114" y="440583"/>
                    <a:pt x="13658" y="440583"/>
                  </a:cubicBezTo>
                  <a:lnTo>
                    <a:pt x="446706" y="440583"/>
                  </a:lnTo>
                  <a:cubicBezTo>
                    <a:pt x="454250" y="440583"/>
                    <a:pt x="460365" y="434468"/>
                    <a:pt x="460365" y="426924"/>
                  </a:cubicBezTo>
                  <a:lnTo>
                    <a:pt x="460365" y="13658"/>
                  </a:lnTo>
                  <a:cubicBezTo>
                    <a:pt x="460365" y="6114"/>
                    <a:pt x="454250" y="0"/>
                    <a:pt x="446706" y="0"/>
                  </a:cubicBezTo>
                  <a:close/>
                  <a:moveTo>
                    <a:pt x="433390" y="413617"/>
                  </a:moveTo>
                  <a:lnTo>
                    <a:pt x="27865" y="413617"/>
                  </a:lnTo>
                  <a:lnTo>
                    <a:pt x="27865" y="27874"/>
                  </a:lnTo>
                  <a:lnTo>
                    <a:pt x="433390" y="27874"/>
                  </a:lnTo>
                  <a:lnTo>
                    <a:pt x="433390" y="413617"/>
                  </a:lnTo>
                  <a:lnTo>
                    <a:pt x="433390" y="41361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1849;p72">
              <a:extLst>
                <a:ext uri="{FF2B5EF4-FFF2-40B4-BE49-F238E27FC236}">
                  <a16:creationId xmlns:a16="http://schemas.microsoft.com/office/drawing/2014/main" id="{224A3F87-5C92-A338-DEEB-B8036FFA7132}"/>
                </a:ext>
              </a:extLst>
            </p:cNvPr>
            <p:cNvSpPr/>
            <p:nvPr/>
          </p:nvSpPr>
          <p:spPr>
            <a:xfrm>
              <a:off x="3383863" y="2424683"/>
              <a:ext cx="62051" cy="86454"/>
            </a:xfrm>
            <a:custGeom>
              <a:avLst/>
              <a:gdLst/>
              <a:ahLst/>
              <a:cxnLst/>
              <a:rect l="l" t="t" r="r" b="b"/>
              <a:pathLst>
                <a:path w="62051" h="86454" extrusionOk="0">
                  <a:moveTo>
                    <a:pt x="39572" y="8047"/>
                  </a:moveTo>
                  <a:lnTo>
                    <a:pt x="39572" y="34681"/>
                  </a:lnTo>
                  <a:lnTo>
                    <a:pt x="26723" y="10179"/>
                  </a:lnTo>
                  <a:cubicBezTo>
                    <a:pt x="22155" y="1403"/>
                    <a:pt x="19062" y="0"/>
                    <a:pt x="11455" y="0"/>
                  </a:cubicBezTo>
                  <a:cubicBezTo>
                    <a:pt x="4604" y="0"/>
                    <a:pt x="0" y="3255"/>
                    <a:pt x="0" y="8111"/>
                  </a:cubicBezTo>
                  <a:lnTo>
                    <a:pt x="0" y="78299"/>
                  </a:lnTo>
                  <a:cubicBezTo>
                    <a:pt x="0" y="88919"/>
                    <a:pt x="22479" y="88928"/>
                    <a:pt x="22479" y="78299"/>
                  </a:cubicBezTo>
                  <a:lnTo>
                    <a:pt x="22479" y="51217"/>
                  </a:lnTo>
                  <a:lnTo>
                    <a:pt x="38475" y="80341"/>
                  </a:lnTo>
                  <a:cubicBezTo>
                    <a:pt x="41425" y="85763"/>
                    <a:pt x="46496" y="86455"/>
                    <a:pt x="50596" y="86455"/>
                  </a:cubicBezTo>
                  <a:cubicBezTo>
                    <a:pt x="57340" y="86455"/>
                    <a:pt x="62051" y="83119"/>
                    <a:pt x="62051" y="78344"/>
                  </a:cubicBezTo>
                  <a:lnTo>
                    <a:pt x="62051" y="8047"/>
                  </a:lnTo>
                  <a:cubicBezTo>
                    <a:pt x="62051" y="-2473"/>
                    <a:pt x="39572" y="-2482"/>
                    <a:pt x="39572" y="80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1850;p72">
              <a:extLst>
                <a:ext uri="{FF2B5EF4-FFF2-40B4-BE49-F238E27FC236}">
                  <a16:creationId xmlns:a16="http://schemas.microsoft.com/office/drawing/2014/main" id="{5211489E-2C83-AE21-9667-2B8522C5D02C}"/>
                </a:ext>
              </a:extLst>
            </p:cNvPr>
            <p:cNvSpPr/>
            <p:nvPr/>
          </p:nvSpPr>
          <p:spPr>
            <a:xfrm>
              <a:off x="3459411" y="2424458"/>
              <a:ext cx="56939" cy="86320"/>
            </a:xfrm>
            <a:custGeom>
              <a:avLst/>
              <a:gdLst/>
              <a:ahLst/>
              <a:cxnLst/>
              <a:rect l="l" t="t" r="r" b="b"/>
              <a:pathLst>
                <a:path w="56939" h="86320" extrusionOk="0">
                  <a:moveTo>
                    <a:pt x="49076" y="65639"/>
                  </a:moveTo>
                  <a:lnTo>
                    <a:pt x="22470" y="65639"/>
                  </a:lnTo>
                  <a:lnTo>
                    <a:pt x="22470" y="53051"/>
                  </a:lnTo>
                  <a:lnTo>
                    <a:pt x="36416" y="53051"/>
                  </a:lnTo>
                  <a:cubicBezTo>
                    <a:pt x="47134" y="53051"/>
                    <a:pt x="46999" y="34168"/>
                    <a:pt x="36416" y="34168"/>
                  </a:cubicBezTo>
                  <a:lnTo>
                    <a:pt x="22470" y="34168"/>
                  </a:lnTo>
                  <a:lnTo>
                    <a:pt x="22470" y="20681"/>
                  </a:lnTo>
                  <a:lnTo>
                    <a:pt x="49076" y="20681"/>
                  </a:lnTo>
                  <a:cubicBezTo>
                    <a:pt x="59462" y="20681"/>
                    <a:pt x="59660" y="0"/>
                    <a:pt x="49076" y="0"/>
                  </a:cubicBezTo>
                  <a:lnTo>
                    <a:pt x="10143" y="0"/>
                  </a:lnTo>
                  <a:cubicBezTo>
                    <a:pt x="4262" y="0"/>
                    <a:pt x="0" y="3408"/>
                    <a:pt x="0" y="8111"/>
                  </a:cubicBezTo>
                  <a:lnTo>
                    <a:pt x="0" y="78210"/>
                  </a:lnTo>
                  <a:cubicBezTo>
                    <a:pt x="0" y="82912"/>
                    <a:pt x="4271" y="86320"/>
                    <a:pt x="10143" y="86320"/>
                  </a:cubicBezTo>
                  <a:lnTo>
                    <a:pt x="49076" y="86320"/>
                  </a:lnTo>
                  <a:cubicBezTo>
                    <a:pt x="59660" y="86320"/>
                    <a:pt x="59453" y="65639"/>
                    <a:pt x="49076" y="656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1851;p72">
              <a:extLst>
                <a:ext uri="{FF2B5EF4-FFF2-40B4-BE49-F238E27FC236}">
                  <a16:creationId xmlns:a16="http://schemas.microsoft.com/office/drawing/2014/main" id="{ABD26F5D-1648-7536-F6E1-09FD6B09CA70}"/>
                </a:ext>
              </a:extLst>
            </p:cNvPr>
            <p:cNvSpPr/>
            <p:nvPr/>
          </p:nvSpPr>
          <p:spPr>
            <a:xfrm>
              <a:off x="3520740" y="2424850"/>
              <a:ext cx="106292" cy="86784"/>
            </a:xfrm>
            <a:custGeom>
              <a:avLst/>
              <a:gdLst/>
              <a:ahLst/>
              <a:cxnLst/>
              <a:rect l="l" t="t" r="r" b="b"/>
              <a:pathLst>
                <a:path w="106292" h="86784" extrusionOk="0">
                  <a:moveTo>
                    <a:pt x="84291" y="5164"/>
                  </a:moveTo>
                  <a:lnTo>
                    <a:pt x="70453" y="51858"/>
                  </a:lnTo>
                  <a:lnTo>
                    <a:pt x="64096" y="24649"/>
                  </a:lnTo>
                  <a:cubicBezTo>
                    <a:pt x="62118" y="15747"/>
                    <a:pt x="44179" y="15792"/>
                    <a:pt x="42219" y="24622"/>
                  </a:cubicBezTo>
                  <a:lnTo>
                    <a:pt x="35853" y="51858"/>
                  </a:lnTo>
                  <a:lnTo>
                    <a:pt x="22024" y="5182"/>
                  </a:lnTo>
                  <a:cubicBezTo>
                    <a:pt x="19065" y="-5158"/>
                    <a:pt x="-3081" y="1496"/>
                    <a:pt x="363" y="11854"/>
                  </a:cubicBezTo>
                  <a:lnTo>
                    <a:pt x="22302" y="79121"/>
                  </a:lnTo>
                  <a:cubicBezTo>
                    <a:pt x="25593" y="89578"/>
                    <a:pt x="47740" y="89146"/>
                    <a:pt x="50078" y="78887"/>
                  </a:cubicBezTo>
                  <a:lnTo>
                    <a:pt x="53144" y="64905"/>
                  </a:lnTo>
                  <a:lnTo>
                    <a:pt x="56219" y="78905"/>
                  </a:lnTo>
                  <a:cubicBezTo>
                    <a:pt x="58521" y="88967"/>
                    <a:pt x="80352" y="89749"/>
                    <a:pt x="83967" y="79184"/>
                  </a:cubicBezTo>
                  <a:lnTo>
                    <a:pt x="105925" y="11872"/>
                  </a:lnTo>
                  <a:cubicBezTo>
                    <a:pt x="109396" y="1478"/>
                    <a:pt x="87213" y="-5131"/>
                    <a:pt x="84282" y="515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1852;p72">
              <a:extLst>
                <a:ext uri="{FF2B5EF4-FFF2-40B4-BE49-F238E27FC236}">
                  <a16:creationId xmlns:a16="http://schemas.microsoft.com/office/drawing/2014/main" id="{C04880A6-31D4-9594-B7AF-5E6DF0F6DAF7}"/>
                </a:ext>
              </a:extLst>
            </p:cNvPr>
            <p:cNvSpPr/>
            <p:nvPr/>
          </p:nvSpPr>
          <p:spPr>
            <a:xfrm>
              <a:off x="3631278" y="2424206"/>
              <a:ext cx="59623" cy="87856"/>
            </a:xfrm>
            <a:custGeom>
              <a:avLst/>
              <a:gdLst/>
              <a:ahLst/>
              <a:cxnLst/>
              <a:rect l="l" t="t" r="r" b="b"/>
              <a:pathLst>
                <a:path w="59623" h="87856" extrusionOk="0">
                  <a:moveTo>
                    <a:pt x="24664" y="23909"/>
                  </a:moveTo>
                  <a:cubicBezTo>
                    <a:pt x="24664" y="21553"/>
                    <a:pt x="27919" y="20024"/>
                    <a:pt x="32963" y="20024"/>
                  </a:cubicBezTo>
                  <a:cubicBezTo>
                    <a:pt x="41434" y="20024"/>
                    <a:pt x="42980" y="24215"/>
                    <a:pt x="48078" y="24215"/>
                  </a:cubicBezTo>
                  <a:cubicBezTo>
                    <a:pt x="54840" y="24215"/>
                    <a:pt x="57646" y="16545"/>
                    <a:pt x="57646" y="12436"/>
                  </a:cubicBezTo>
                  <a:cubicBezTo>
                    <a:pt x="57646" y="890"/>
                    <a:pt x="38754" y="0"/>
                    <a:pt x="32963" y="0"/>
                  </a:cubicBezTo>
                  <a:cubicBezTo>
                    <a:pt x="18676" y="0"/>
                    <a:pt x="1987" y="6699"/>
                    <a:pt x="1987" y="25563"/>
                  </a:cubicBezTo>
                  <a:cubicBezTo>
                    <a:pt x="1987" y="52637"/>
                    <a:pt x="36956" y="52260"/>
                    <a:pt x="36956" y="62411"/>
                  </a:cubicBezTo>
                  <a:cubicBezTo>
                    <a:pt x="36956" y="66835"/>
                    <a:pt x="29808" y="66961"/>
                    <a:pt x="28989" y="66961"/>
                  </a:cubicBezTo>
                  <a:cubicBezTo>
                    <a:pt x="19629" y="66961"/>
                    <a:pt x="16940" y="58797"/>
                    <a:pt x="10233" y="58797"/>
                  </a:cubicBezTo>
                  <a:cubicBezTo>
                    <a:pt x="4082" y="58797"/>
                    <a:pt x="0" y="66017"/>
                    <a:pt x="0" y="70791"/>
                  </a:cubicBezTo>
                  <a:cubicBezTo>
                    <a:pt x="0" y="91023"/>
                    <a:pt x="59624" y="99439"/>
                    <a:pt x="59624" y="60640"/>
                  </a:cubicBezTo>
                  <a:cubicBezTo>
                    <a:pt x="59624" y="31893"/>
                    <a:pt x="24655" y="31390"/>
                    <a:pt x="24655" y="239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1853;p72">
              <a:extLst>
                <a:ext uri="{FF2B5EF4-FFF2-40B4-BE49-F238E27FC236}">
                  <a16:creationId xmlns:a16="http://schemas.microsoft.com/office/drawing/2014/main" id="{89664C09-3952-3960-2CBD-AF96F62631DD}"/>
                </a:ext>
              </a:extLst>
            </p:cNvPr>
            <p:cNvSpPr/>
            <p:nvPr/>
          </p:nvSpPr>
          <p:spPr>
            <a:xfrm>
              <a:off x="3366797" y="2608787"/>
              <a:ext cx="139362" cy="153748"/>
            </a:xfrm>
            <a:custGeom>
              <a:avLst/>
              <a:gdLst/>
              <a:ahLst/>
              <a:cxnLst/>
              <a:rect l="l" t="t" r="r" b="b"/>
              <a:pathLst>
                <a:path w="139362" h="153748" extrusionOk="0">
                  <a:moveTo>
                    <a:pt x="125703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140090"/>
                  </a:lnTo>
                  <a:cubicBezTo>
                    <a:pt x="0" y="147634"/>
                    <a:pt x="6114" y="153749"/>
                    <a:pt x="13658" y="153749"/>
                  </a:cubicBezTo>
                  <a:lnTo>
                    <a:pt x="125703" y="153749"/>
                  </a:lnTo>
                  <a:cubicBezTo>
                    <a:pt x="133248" y="153749"/>
                    <a:pt x="139362" y="147634"/>
                    <a:pt x="139362" y="140090"/>
                  </a:cubicBezTo>
                  <a:lnTo>
                    <a:pt x="139362" y="13658"/>
                  </a:lnTo>
                  <a:cubicBezTo>
                    <a:pt x="139362" y="6114"/>
                    <a:pt x="133248" y="0"/>
                    <a:pt x="125703" y="0"/>
                  </a:cubicBezTo>
                  <a:close/>
                  <a:moveTo>
                    <a:pt x="112387" y="125883"/>
                  </a:moveTo>
                  <a:lnTo>
                    <a:pt x="27865" y="125883"/>
                  </a:lnTo>
                  <a:lnTo>
                    <a:pt x="27865" y="26975"/>
                  </a:lnTo>
                  <a:lnTo>
                    <a:pt x="112387" y="26975"/>
                  </a:lnTo>
                  <a:lnTo>
                    <a:pt x="112387" y="125883"/>
                  </a:lnTo>
                  <a:lnTo>
                    <a:pt x="112387" y="12588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1854;p72">
              <a:extLst>
                <a:ext uri="{FF2B5EF4-FFF2-40B4-BE49-F238E27FC236}">
                  <a16:creationId xmlns:a16="http://schemas.microsoft.com/office/drawing/2014/main" id="{F2F5BAA4-9086-FFB3-DBB1-4E6541832F93}"/>
                </a:ext>
              </a:extLst>
            </p:cNvPr>
            <p:cNvSpPr/>
            <p:nvPr/>
          </p:nvSpPr>
          <p:spPr>
            <a:xfrm>
              <a:off x="3367197" y="2541349"/>
              <a:ext cx="335667" cy="26975"/>
            </a:xfrm>
            <a:custGeom>
              <a:avLst/>
              <a:gdLst/>
              <a:ahLst/>
              <a:cxnLst/>
              <a:rect l="l" t="t" r="r" b="b"/>
              <a:pathLst>
                <a:path w="335667" h="26975" extrusionOk="0">
                  <a:moveTo>
                    <a:pt x="322005" y="0"/>
                  </a:moveTo>
                  <a:lnTo>
                    <a:pt x="13923" y="0"/>
                  </a:lnTo>
                  <a:cubicBezTo>
                    <a:pt x="6631" y="0"/>
                    <a:pt x="337" y="5593"/>
                    <a:pt x="13" y="12876"/>
                  </a:cubicBezTo>
                  <a:cubicBezTo>
                    <a:pt x="-328" y="20600"/>
                    <a:pt x="5912" y="26975"/>
                    <a:pt x="13663" y="26975"/>
                  </a:cubicBezTo>
                  <a:lnTo>
                    <a:pt x="321744" y="26975"/>
                  </a:lnTo>
                  <a:cubicBezTo>
                    <a:pt x="329037" y="26975"/>
                    <a:pt x="335331" y="21382"/>
                    <a:pt x="335655" y="14099"/>
                  </a:cubicBezTo>
                  <a:cubicBezTo>
                    <a:pt x="335996" y="6375"/>
                    <a:pt x="329756" y="0"/>
                    <a:pt x="3220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1855;p72">
              <a:extLst>
                <a:ext uri="{FF2B5EF4-FFF2-40B4-BE49-F238E27FC236}">
                  <a16:creationId xmlns:a16="http://schemas.microsoft.com/office/drawing/2014/main" id="{20104CB4-0F52-1E08-0E59-650D4F8F20AA}"/>
                </a:ext>
              </a:extLst>
            </p:cNvPr>
            <p:cNvSpPr/>
            <p:nvPr/>
          </p:nvSpPr>
          <p:spPr>
            <a:xfrm>
              <a:off x="3558674" y="2608787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1856;p72">
              <a:extLst>
                <a:ext uri="{FF2B5EF4-FFF2-40B4-BE49-F238E27FC236}">
                  <a16:creationId xmlns:a16="http://schemas.microsoft.com/office/drawing/2014/main" id="{D3DF48D8-3A3B-E0F9-ED71-A4DD3B5EA6F7}"/>
                </a:ext>
              </a:extLst>
            </p:cNvPr>
            <p:cNvSpPr/>
            <p:nvPr/>
          </p:nvSpPr>
          <p:spPr>
            <a:xfrm>
              <a:off x="3558674" y="2667233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1857;p72">
              <a:extLst>
                <a:ext uri="{FF2B5EF4-FFF2-40B4-BE49-F238E27FC236}">
                  <a16:creationId xmlns:a16="http://schemas.microsoft.com/office/drawing/2014/main" id="{5020A1B9-E31F-A8AF-10EE-7B894491D520}"/>
                </a:ext>
              </a:extLst>
            </p:cNvPr>
            <p:cNvSpPr/>
            <p:nvPr/>
          </p:nvSpPr>
          <p:spPr>
            <a:xfrm>
              <a:off x="3558674" y="2726578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" name="Google Shape;1813;p72">
            <a:extLst>
              <a:ext uri="{FF2B5EF4-FFF2-40B4-BE49-F238E27FC236}">
                <a16:creationId xmlns:a16="http://schemas.microsoft.com/office/drawing/2014/main" id="{5F55CC2A-10D1-EC7A-286B-951EB977EA39}"/>
              </a:ext>
            </a:extLst>
          </p:cNvPr>
          <p:cNvGrpSpPr/>
          <p:nvPr/>
        </p:nvGrpSpPr>
        <p:grpSpPr>
          <a:xfrm>
            <a:off x="6586798" y="2561855"/>
            <a:ext cx="372255" cy="460373"/>
            <a:chOff x="3892792" y="2978345"/>
            <a:chExt cx="372255" cy="460373"/>
          </a:xfrm>
        </p:grpSpPr>
        <p:sp>
          <p:nvSpPr>
            <p:cNvPr id="52" name="Google Shape;1814;p72">
              <a:extLst>
                <a:ext uri="{FF2B5EF4-FFF2-40B4-BE49-F238E27FC236}">
                  <a16:creationId xmlns:a16="http://schemas.microsoft.com/office/drawing/2014/main" id="{A04D1E1D-74AF-7D5A-5099-662055521A2C}"/>
                </a:ext>
              </a:extLst>
            </p:cNvPr>
            <p:cNvSpPr/>
            <p:nvPr/>
          </p:nvSpPr>
          <p:spPr>
            <a:xfrm>
              <a:off x="3892792" y="2978345"/>
              <a:ext cx="372255" cy="460373"/>
            </a:xfrm>
            <a:custGeom>
              <a:avLst/>
              <a:gdLst/>
              <a:ahLst/>
              <a:cxnLst/>
              <a:rect l="l" t="t" r="r" b="b"/>
              <a:pathLst>
                <a:path w="372255" h="460373" extrusionOk="0">
                  <a:moveTo>
                    <a:pt x="358498" y="47656"/>
                  </a:moveTo>
                  <a:lnTo>
                    <a:pt x="321003" y="47656"/>
                  </a:lnTo>
                  <a:lnTo>
                    <a:pt x="321003" y="13757"/>
                  </a:lnTo>
                  <a:cubicBezTo>
                    <a:pt x="321003" y="6159"/>
                    <a:pt x="314843" y="0"/>
                    <a:pt x="307245" y="0"/>
                  </a:cubicBezTo>
                  <a:lnTo>
                    <a:pt x="13640" y="0"/>
                  </a:lnTo>
                  <a:cubicBezTo>
                    <a:pt x="6105" y="0"/>
                    <a:pt x="0" y="6159"/>
                    <a:pt x="0" y="13748"/>
                  </a:cubicBezTo>
                  <a:lnTo>
                    <a:pt x="0" y="398969"/>
                  </a:lnTo>
                  <a:cubicBezTo>
                    <a:pt x="0" y="406558"/>
                    <a:pt x="6105" y="412718"/>
                    <a:pt x="13640" y="412718"/>
                  </a:cubicBezTo>
                  <a:lnTo>
                    <a:pt x="51253" y="412718"/>
                  </a:lnTo>
                  <a:lnTo>
                    <a:pt x="51253" y="446616"/>
                  </a:lnTo>
                  <a:cubicBezTo>
                    <a:pt x="51253" y="454214"/>
                    <a:pt x="57412" y="460373"/>
                    <a:pt x="65010" y="460373"/>
                  </a:cubicBezTo>
                  <a:lnTo>
                    <a:pt x="358498" y="460373"/>
                  </a:lnTo>
                  <a:cubicBezTo>
                    <a:pt x="366105" y="460373"/>
                    <a:pt x="372255" y="454214"/>
                    <a:pt x="372255" y="446625"/>
                  </a:cubicBezTo>
                  <a:lnTo>
                    <a:pt x="372255" y="61404"/>
                  </a:lnTo>
                  <a:cubicBezTo>
                    <a:pt x="372255" y="53815"/>
                    <a:pt x="366096" y="47656"/>
                    <a:pt x="358498" y="47656"/>
                  </a:cubicBezTo>
                  <a:close/>
                  <a:moveTo>
                    <a:pt x="52152" y="60514"/>
                  </a:moveTo>
                  <a:lnTo>
                    <a:pt x="52152" y="384843"/>
                  </a:lnTo>
                  <a:lnTo>
                    <a:pt x="27874" y="384843"/>
                  </a:lnTo>
                  <a:lnTo>
                    <a:pt x="27874" y="26975"/>
                  </a:lnTo>
                  <a:lnTo>
                    <a:pt x="293128" y="26975"/>
                  </a:lnTo>
                  <a:lnTo>
                    <a:pt x="293128" y="46757"/>
                  </a:lnTo>
                  <a:lnTo>
                    <a:pt x="65909" y="46757"/>
                  </a:lnTo>
                  <a:cubicBezTo>
                    <a:pt x="58311" y="46757"/>
                    <a:pt x="52152" y="52916"/>
                    <a:pt x="52152" y="60514"/>
                  </a:cubicBezTo>
                  <a:close/>
                  <a:moveTo>
                    <a:pt x="345280" y="432499"/>
                  </a:moveTo>
                  <a:lnTo>
                    <a:pt x="79127" y="432499"/>
                  </a:lnTo>
                  <a:lnTo>
                    <a:pt x="79127" y="74631"/>
                  </a:lnTo>
                  <a:lnTo>
                    <a:pt x="345280" y="74631"/>
                  </a:lnTo>
                  <a:lnTo>
                    <a:pt x="345280" y="43249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1815;p72">
              <a:extLst>
                <a:ext uri="{FF2B5EF4-FFF2-40B4-BE49-F238E27FC236}">
                  <a16:creationId xmlns:a16="http://schemas.microsoft.com/office/drawing/2014/main" id="{53AB681C-E68E-DD4B-FCD6-EFCCF5E76F21}"/>
                </a:ext>
              </a:extLst>
            </p:cNvPr>
            <p:cNvSpPr/>
            <p:nvPr/>
          </p:nvSpPr>
          <p:spPr>
            <a:xfrm>
              <a:off x="4006278" y="3109443"/>
              <a:ext cx="159159" cy="159166"/>
            </a:xfrm>
            <a:custGeom>
              <a:avLst/>
              <a:gdLst/>
              <a:ahLst/>
              <a:cxnLst/>
              <a:rect l="l" t="t" r="r" b="b"/>
              <a:pathLst>
                <a:path w="159159" h="159166" extrusionOk="0">
                  <a:moveTo>
                    <a:pt x="145402" y="65819"/>
                  </a:moveTo>
                  <a:lnTo>
                    <a:pt x="93331" y="65819"/>
                  </a:lnTo>
                  <a:lnTo>
                    <a:pt x="93331" y="13757"/>
                  </a:lnTo>
                  <a:cubicBezTo>
                    <a:pt x="93331" y="6159"/>
                    <a:pt x="87163" y="0"/>
                    <a:pt x="79565" y="0"/>
                  </a:cubicBezTo>
                  <a:cubicBezTo>
                    <a:pt x="35164" y="0"/>
                    <a:pt x="-865" y="36569"/>
                    <a:pt x="16" y="81168"/>
                  </a:cubicBezTo>
                  <a:cubicBezTo>
                    <a:pt x="843" y="123105"/>
                    <a:pt x="34562" y="157507"/>
                    <a:pt x="76472" y="159108"/>
                  </a:cubicBezTo>
                  <a:cubicBezTo>
                    <a:pt x="121763" y="160834"/>
                    <a:pt x="159159" y="124490"/>
                    <a:pt x="159159" y="79576"/>
                  </a:cubicBezTo>
                  <a:cubicBezTo>
                    <a:pt x="159159" y="71987"/>
                    <a:pt x="153009" y="65819"/>
                    <a:pt x="145402" y="65819"/>
                  </a:cubicBezTo>
                  <a:close/>
                  <a:moveTo>
                    <a:pt x="80114" y="132016"/>
                  </a:moveTo>
                  <a:cubicBezTo>
                    <a:pt x="51403" y="132016"/>
                    <a:pt x="28052" y="108655"/>
                    <a:pt x="28052" y="79936"/>
                  </a:cubicBezTo>
                  <a:cubicBezTo>
                    <a:pt x="28052" y="56000"/>
                    <a:pt x="44300" y="35769"/>
                    <a:pt x="66356" y="29717"/>
                  </a:cubicBezTo>
                  <a:lnTo>
                    <a:pt x="66356" y="79936"/>
                  </a:lnTo>
                  <a:cubicBezTo>
                    <a:pt x="66356" y="87534"/>
                    <a:pt x="72516" y="93693"/>
                    <a:pt x="80114" y="93693"/>
                  </a:cubicBezTo>
                  <a:lnTo>
                    <a:pt x="130341" y="93693"/>
                  </a:lnTo>
                  <a:cubicBezTo>
                    <a:pt x="124299" y="115759"/>
                    <a:pt x="104076" y="132016"/>
                    <a:pt x="80114" y="13201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1816;p72">
              <a:extLst>
                <a:ext uri="{FF2B5EF4-FFF2-40B4-BE49-F238E27FC236}">
                  <a16:creationId xmlns:a16="http://schemas.microsoft.com/office/drawing/2014/main" id="{DACBE6F2-2AE1-3CAE-44AB-DC72F462720D}"/>
                </a:ext>
              </a:extLst>
            </p:cNvPr>
            <p:cNvSpPr/>
            <p:nvPr/>
          </p:nvSpPr>
          <p:spPr>
            <a:xfrm>
              <a:off x="4110399" y="3072038"/>
              <a:ext cx="93342" cy="93333"/>
            </a:xfrm>
            <a:custGeom>
              <a:avLst/>
              <a:gdLst/>
              <a:ahLst/>
              <a:cxnLst/>
              <a:rect l="l" t="t" r="r" b="b"/>
              <a:pathLst>
                <a:path w="93342" h="93333" extrusionOk="0">
                  <a:moveTo>
                    <a:pt x="13865" y="0"/>
                  </a:moveTo>
                  <a:cubicBezTo>
                    <a:pt x="6222" y="-9"/>
                    <a:pt x="0" y="6114"/>
                    <a:pt x="0" y="13757"/>
                  </a:cubicBezTo>
                  <a:lnTo>
                    <a:pt x="0" y="79576"/>
                  </a:lnTo>
                  <a:cubicBezTo>
                    <a:pt x="0" y="87174"/>
                    <a:pt x="6150" y="93334"/>
                    <a:pt x="13757" y="93334"/>
                  </a:cubicBezTo>
                  <a:lnTo>
                    <a:pt x="79585" y="93334"/>
                  </a:lnTo>
                  <a:cubicBezTo>
                    <a:pt x="87102" y="93334"/>
                    <a:pt x="93325" y="87309"/>
                    <a:pt x="93342" y="79792"/>
                  </a:cubicBezTo>
                  <a:cubicBezTo>
                    <a:pt x="93459" y="35499"/>
                    <a:pt x="57394" y="54"/>
                    <a:pt x="13865" y="0"/>
                  </a:cubicBezTo>
                  <a:close/>
                  <a:moveTo>
                    <a:pt x="26975" y="65459"/>
                  </a:moveTo>
                  <a:lnTo>
                    <a:pt x="26975" y="28998"/>
                  </a:lnTo>
                  <a:cubicBezTo>
                    <a:pt x="44653" y="33845"/>
                    <a:pt x="58590" y="47782"/>
                    <a:pt x="63445" y="65459"/>
                  </a:cubicBezTo>
                  <a:lnTo>
                    <a:pt x="26975" y="654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1817;p72">
              <a:extLst>
                <a:ext uri="{FF2B5EF4-FFF2-40B4-BE49-F238E27FC236}">
                  <a16:creationId xmlns:a16="http://schemas.microsoft.com/office/drawing/2014/main" id="{07752173-86B9-745A-D98C-C996B6485977}"/>
                </a:ext>
              </a:extLst>
            </p:cNvPr>
            <p:cNvSpPr/>
            <p:nvPr/>
          </p:nvSpPr>
          <p:spPr>
            <a:xfrm>
              <a:off x="3994309" y="3299347"/>
              <a:ext cx="218010" cy="27874"/>
            </a:xfrm>
            <a:custGeom>
              <a:avLst/>
              <a:gdLst/>
              <a:ahLst/>
              <a:cxnLst/>
              <a:rect l="l" t="t" r="r" b="b"/>
              <a:pathLst>
                <a:path w="218010" h="27874" extrusionOk="0">
                  <a:moveTo>
                    <a:pt x="217606" y="10502"/>
                  </a:moveTo>
                  <a:cubicBezTo>
                    <a:pt x="216140" y="4262"/>
                    <a:pt x="210331" y="0"/>
                    <a:pt x="203920" y="0"/>
                  </a:cubicBezTo>
                  <a:lnTo>
                    <a:pt x="13756" y="0"/>
                  </a:lnTo>
                  <a:cubicBezTo>
                    <a:pt x="5034" y="0"/>
                    <a:pt x="-1773" y="8209"/>
                    <a:pt x="412" y="17399"/>
                  </a:cubicBezTo>
                  <a:cubicBezTo>
                    <a:pt x="1896" y="23630"/>
                    <a:pt x="7686" y="27874"/>
                    <a:pt x="14088" y="27874"/>
                  </a:cubicBezTo>
                  <a:lnTo>
                    <a:pt x="204253" y="27874"/>
                  </a:lnTo>
                  <a:cubicBezTo>
                    <a:pt x="212948" y="27874"/>
                    <a:pt x="219773" y="19701"/>
                    <a:pt x="217606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1818;p72">
              <a:extLst>
                <a:ext uri="{FF2B5EF4-FFF2-40B4-BE49-F238E27FC236}">
                  <a16:creationId xmlns:a16="http://schemas.microsoft.com/office/drawing/2014/main" id="{E87706B5-5BE6-D9B3-3CAD-7F7C852E0ABD}"/>
                </a:ext>
              </a:extLst>
            </p:cNvPr>
            <p:cNvSpPr/>
            <p:nvPr/>
          </p:nvSpPr>
          <p:spPr>
            <a:xfrm>
              <a:off x="3994308" y="3351499"/>
              <a:ext cx="218020" cy="27874"/>
            </a:xfrm>
            <a:custGeom>
              <a:avLst/>
              <a:gdLst/>
              <a:ahLst/>
              <a:cxnLst/>
              <a:rect l="l" t="t" r="r" b="b"/>
              <a:pathLst>
                <a:path w="218020" h="27874" extrusionOk="0">
                  <a:moveTo>
                    <a:pt x="217606" y="10502"/>
                  </a:moveTo>
                  <a:cubicBezTo>
                    <a:pt x="216141" y="4262"/>
                    <a:pt x="210332" y="0"/>
                    <a:pt x="203921" y="0"/>
                  </a:cubicBezTo>
                  <a:lnTo>
                    <a:pt x="13756" y="0"/>
                  </a:lnTo>
                  <a:cubicBezTo>
                    <a:pt x="4989" y="0"/>
                    <a:pt x="-1808" y="8290"/>
                    <a:pt x="431" y="17471"/>
                  </a:cubicBezTo>
                  <a:cubicBezTo>
                    <a:pt x="1941" y="23666"/>
                    <a:pt x="7723" y="27874"/>
                    <a:pt x="14098" y="27874"/>
                  </a:cubicBezTo>
                  <a:lnTo>
                    <a:pt x="204263" y="27874"/>
                  </a:lnTo>
                  <a:cubicBezTo>
                    <a:pt x="212958" y="27874"/>
                    <a:pt x="219782" y="19701"/>
                    <a:pt x="217615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7" name="Conector de Seta Reta 56">
            <a:extLst>
              <a:ext uri="{FF2B5EF4-FFF2-40B4-BE49-F238E27FC236}">
                <a16:creationId xmlns:a16="http://schemas.microsoft.com/office/drawing/2014/main" id="{BF563D22-22EA-E2C6-C60B-B69CCE724E2D}"/>
              </a:ext>
            </a:extLst>
          </p:cNvPr>
          <p:cNvCxnSpPr>
            <a:cxnSpLocks/>
          </p:cNvCxnSpPr>
          <p:nvPr/>
        </p:nvCxnSpPr>
        <p:spPr>
          <a:xfrm>
            <a:off x="6152182" y="2805980"/>
            <a:ext cx="3657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104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F76CDEE9-EB0C-9F37-4F7C-646E52E8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71EC4D8F-3D95-21E6-8730-14DECDBED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39D4ABE6-C922-B591-922B-9475D537D592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0650D19E-4A34-22BB-4757-D69508ADF2E9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081B30D8-79B5-CEC7-1049-AF1C8F3E6441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5A070F34-AA9B-C67B-0F9A-80B58E2C084B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E52D3B04-3169-DDF9-3522-01D09C196D70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65B27809-C3FE-6C1E-E578-1CD3F43F8C0E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30F79078-23E4-CEFC-AAB0-E391F05EF61D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E76A7EB0-1811-1F0D-938A-45CA1ED7A4D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89158E04-C62C-90FB-B553-C8F1614A166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6E6D022-4487-EC38-4276-337C0BDDF45A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2A5FD008-0400-A859-EAFA-E5C4ECB57AD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CB79CAAF-3E4B-C1CE-4D56-808F38387D8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C94107F0-50C2-7825-01F5-C7080225B5C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BD038CB6-C1E8-3524-E513-4916A227AB0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85851402-FA57-BC59-222B-D1A7AA12939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DBA54566-1BA5-A3AE-FB84-7AA559B6940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8E2DAF3-8ADB-9581-9949-8FC1169B6A8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C7611278-2861-51A3-473C-198DA038166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2C092D5-684A-B092-034B-4321F3D9BFDC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F9E1F40D-94E7-01E0-D4CF-DD03CE04C73C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AAAC341B-0B1F-EADA-E265-6D8E60A1EA10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0C4EC81F-6A36-F4A0-1E4F-174136E59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7BCE2C4E-657C-99C9-36B7-973CDC27CC43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B115C675-5F72-6EB7-8146-B7741B0B5AE4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3403672-2C90-2B35-E73B-9882B28452B4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A63C137D-DA54-E2BB-311E-E9E0E8CE2EA6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60377BF9-CB88-53AF-D749-23064B945699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3B6C3F03-B0C4-BCFE-332F-23DBB502A16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D0DDE808-9B1B-4FF1-4839-85085C36807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D8697340-60A1-B747-85C2-741496300C1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193F55B1-9AE8-8E3D-9CD5-A1B3818FEC6F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010BBE99-4683-03F4-6E08-4E93BB1D0F4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656413B3-3060-0A30-AE71-F8D0EDCCB8D6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Classificação híbrida e auditável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1A13D4D1-631D-D552-D50A-FB0DCBAF6C1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Primeira camada: regras regex determinísticas.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As regras identificam evidências lexicais associadas a categorias recorrentes. Categorias frequentes: </a:t>
            </a:r>
          </a:p>
          <a:p>
            <a:pPr defTabSz="358775"/>
            <a:r>
              <a:rPr lang="pt-BR" dirty="0"/>
              <a:t> 	- tráfico de drogas; </a:t>
            </a:r>
          </a:p>
          <a:p>
            <a:pPr defTabSz="358775"/>
            <a:r>
              <a:rPr lang="pt-BR" dirty="0"/>
              <a:t> 	- crimes ambientais; </a:t>
            </a:r>
          </a:p>
          <a:p>
            <a:pPr defTabSz="358775"/>
            <a:r>
              <a:rPr lang="pt-BR" dirty="0"/>
              <a:t> 	- corrupção; </a:t>
            </a:r>
          </a:p>
          <a:p>
            <a:pPr defTabSz="358775"/>
            <a:r>
              <a:rPr lang="pt-BR" dirty="0"/>
              <a:t> 	- contrabando; </a:t>
            </a:r>
          </a:p>
          <a:p>
            <a:pPr defTabSz="358775"/>
            <a:r>
              <a:rPr lang="pt-BR" dirty="0"/>
              <a:t> 	- crimes contra crianças; </a:t>
            </a:r>
          </a:p>
          <a:p>
            <a:pPr defTabSz="358775"/>
            <a:r>
              <a:rPr lang="pt-BR" dirty="0"/>
              <a:t> 	- lavagem de dinheiro; </a:t>
            </a:r>
          </a:p>
          <a:p>
            <a:pPr defTabSz="358775"/>
            <a:r>
              <a:rPr lang="pt-BR" dirty="0"/>
              <a:t> 	- falsificações; </a:t>
            </a:r>
          </a:p>
          <a:p>
            <a:pPr defTabSz="358775"/>
            <a:r>
              <a:rPr lang="pt-BR" dirty="0"/>
              <a:t> 	- fraudes previdenciárias.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Limiar operacional padrão: </a:t>
            </a:r>
            <a:r>
              <a:rPr lang="pt-BR" b="1" dirty="0"/>
              <a:t>0,85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Casos abaixo do limiar são encaminhados à LLM.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LLM opera com taxonomia fechada e resposta estruturada em JSON.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C951B4E9-8ECF-6C3A-63D6-787B3010219C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3AD3F2B0-617F-49FE-28E2-2B940A347234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58" name="Imagem 57">
            <a:extLst>
              <a:ext uri="{FF2B5EF4-FFF2-40B4-BE49-F238E27FC236}">
                <a16:creationId xmlns:a16="http://schemas.microsoft.com/office/drawing/2014/main" id="{3673B5D5-E75A-EAF6-887F-B573291ECC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020" t="9344" r="12142" b="50244"/>
          <a:stretch>
            <a:fillRect/>
          </a:stretch>
        </p:blipFill>
        <p:spPr>
          <a:xfrm>
            <a:off x="4000492" y="1727278"/>
            <a:ext cx="4445856" cy="154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285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DF57CF02-CF73-D129-446A-DFD6344D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B1861A3D-8BFA-CED1-2ADC-978FC89385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43A96F6A-3967-E8BD-4DDA-C49EE8DFCFC6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74E9A497-9006-CB87-9681-F6F9AE5C7C54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4499172B-E045-E7E0-2A09-413781B63B3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C9BBC161-9F9B-A8A5-AE1E-829E9D2B80F0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AE3AB4F-EF7F-AFDB-CD31-9AD7750AAFCE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B05E3AD2-AD01-6E81-652F-DD1042EBAB9E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4ED0D93-A02F-1FD4-AB21-DBFCF7369CAF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61490809-EC5D-92D1-FC5A-D7F0326BA9A4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30EFF3DD-BF57-47D5-F203-F122666AC360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8D3E8BDA-B413-11C4-6314-67136712600E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3171A393-7C2D-27FB-B6EE-82098DF0651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93982C2-90A8-131C-33D7-D7759727F9C8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6101F568-24E4-2D5A-853A-7CB9EA9FCC7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D3ACDD91-75B2-AAF1-1D45-6A06F6B4630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60AF2DA-4318-A06D-F2CC-3FB5D113284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D20AAFA2-BE7B-6393-F6B4-4D8039338AA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FB3AFB1-D961-3FAD-7202-4C3C6FC2128E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55A2D883-E40C-F770-082C-665B26D6D7C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6495F5E9-081F-6241-F248-0555B12AD332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77977511-40EA-512A-E36A-50EEEFB04BC5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6C594AD-49E6-D1A5-A1CD-BD32B6425BCB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BAE279E8-970D-2DC9-EE00-37440D5A8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EBBC7793-FFB6-4241-9D05-BBA9AC4DAFA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30897A2F-FF9A-C02D-3594-70CEA0EAB64C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CBADCDAF-03AA-EA5E-08AE-76E3FD0F9CB2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AF3B3FEC-CFCA-29C7-9F00-30587339F2C4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B152D658-A31C-F694-E965-77C6F818603F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0D1004C5-3533-C8FF-17B2-8D7DE03C5F7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E75C6D62-5F46-E655-47B0-6793021B9F3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DFC8983D-BB2E-310B-6E0B-9E36C4CEAEB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E3641AE0-5A03-3D16-6A36-F42810786A43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EAE57AAF-120F-36A0-8B18-4DFBBA5DAA1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88B64F08-338A-FBB3-2BEB-A2380BE1A37D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Preparação textual e metadados como o regex enxerga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D78E77AE-70E3-D34F-4692-39AC03B8C8A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7832108" cy="328476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bg1"/>
                </a:solidFill>
                <a:latin typeface="+mj-lt"/>
              </a:rPr>
              <a:t>("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crimes_ambientais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", (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bgarimpo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ilegal\b",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bdesmatamento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bextracao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(?: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ilegal|ilicita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) de (?: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ouro|minerios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?|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madeira|areia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)\b",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bmadeira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ilegal\b",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bexploracao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ilegal de madeira\b",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  r"\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bcomercio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ilegal de animais silvestres\b",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), 1.1)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60F89208-665D-74FE-7BC2-A6D17B690332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C29626BF-DE0C-FF9D-04B9-9947D2FB3B81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489C5232-ECAC-4E78-71C0-798D6CB5E898}"/>
              </a:ext>
            </a:extLst>
          </p:cNvPr>
          <p:cNvSpPr txBox="1"/>
          <p:nvPr/>
        </p:nvSpPr>
        <p:spPr>
          <a:xfrm>
            <a:off x="530123" y="3235516"/>
            <a:ext cx="80302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Assim, quando uma notícia contém expressões como “garimpo ilegal” ou “exploração ilegal de madeira”, a camada regex registra o rótulo substantivo, a evidência textual encontrada e a confiança atribuída. Esse desenho permite reexecutar a classificação e verificar exatamente qual padrão sustentou a decisão.</a:t>
            </a:r>
          </a:p>
        </p:txBody>
      </p:sp>
    </p:spTree>
    <p:extLst>
      <p:ext uri="{BB962C8B-B14F-4D97-AF65-F5344CB8AC3E}">
        <p14:creationId xmlns:p14="http://schemas.microsoft.com/office/powerpoint/2010/main" val="861209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E021BBE0-7FAE-4C98-D928-A6FDEB20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981E511D-B7DF-9DCA-B194-984F941ECE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849EF50A-4577-E07D-D772-C5B42D1A28E7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7280474A-F128-BB68-1C16-BE653BC81E0A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9CEB36A0-F49D-3249-A47E-93FA24B8F562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42DCFCE-579A-7B7C-5189-3F21357635C1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A1010D57-7031-3C60-02BA-3B34C1BD6BD1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82C9494D-0A1A-9D02-073A-B060A475B249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BEC9708D-2422-5512-A54C-200F48695C5C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F2F569B6-50B9-2001-68F2-72AD5E82BD89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A6F7F1C-A1E2-146A-ED42-D93AD7BA87CE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6FD6F1CC-4957-0B7B-A533-33E8DC3025E7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CC35FF05-A559-3C6F-EE63-FFDEF61695F7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0A4FA3D9-81B8-E5E4-5942-955D306E9EC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2E8BB1C1-632E-F4DA-A371-DE0B0D71E35C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542794CD-DAD2-2EFB-8149-17D1F7AB0A4C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AEDB43AC-B6E4-C0FC-79CE-C543FD327EE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E74D5D5-C9E3-E250-4652-529B0876CD13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3C1D00D1-43D5-0D85-6A37-A250EB822BF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96DE021-6633-1BEB-A51A-E6F17F30DA98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04411F65-31B3-0844-9AEE-6BD46DE70F07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2A4CAD54-70B2-AA8C-6108-B74EE87C3E7E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116C8AD-4751-3E8B-EBC7-5BA2002C807F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C9F8E342-9004-525B-DA4D-1AE5FB7FF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076ACE4E-C003-152B-2D21-A9D52EA4695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7150FEC2-0CDC-9910-CF56-6138BB1885C5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40EA4BFA-E7BA-316F-84BE-A8CC540B7F56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7ABBF5A5-ED77-FFC6-BC80-CE4E69C34924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D17D197B-CF3D-B130-BD8D-8C07B9A41E9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A2822B34-2409-2FDA-D17F-FECC4946FF9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764EB82D-E55F-4348-DBB5-E36521D2C267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3D8B97D4-8FB7-3B5C-2066-052FD75497F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4E9AC34F-62CA-FC0D-D52C-29CB661AA2E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2E0FECE7-D1F0-99A0-5C07-61F1EF78A08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8EE218CA-0F87-3EA0-292D-7B36F99EC70F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Preparação textual e metadados como a LLM enxerga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23B940C2-5B6E-5FF6-BB20-0FCD1C096B84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336689" y="1395073"/>
            <a:ext cx="5805165" cy="3284762"/>
          </a:xfrm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r>
              <a:rPr lang="pt-BR" dirty="0">
                <a:solidFill>
                  <a:schemeClr val="bg1"/>
                </a:solidFill>
                <a:latin typeface="+mj-lt"/>
              </a:rPr>
              <a:t>Você é um assistente de classificação.</a:t>
            </a:r>
          </a:p>
          <a:p>
            <a:endParaRPr lang="pt-BR" dirty="0">
              <a:solidFill>
                <a:schemeClr val="bg1"/>
              </a:solidFill>
              <a:latin typeface="+mj-lt"/>
            </a:endParaRP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Conforme o contexto abaixo, classifique em qual categoria ele cai.</a:t>
            </a:r>
          </a:p>
          <a:p>
            <a:endParaRPr lang="pt-BR" dirty="0">
              <a:solidFill>
                <a:schemeClr val="bg1"/>
              </a:solidFill>
              <a:latin typeface="+mj-lt"/>
            </a:endParaRP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Contexto: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&lt;texto da notícia em Markdown&gt;</a:t>
            </a:r>
          </a:p>
          <a:p>
            <a:endParaRPr lang="pt-BR" dirty="0">
              <a:solidFill>
                <a:schemeClr val="bg1"/>
              </a:solidFill>
              <a:latin typeface="+mj-lt"/>
            </a:endParaRP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Lista de categorias permitidas: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{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"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classificacao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": ["Por crime", "Com 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operacao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nomeada", "Outras"],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"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crimes_mais_presentes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": [...],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"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modus_operandi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": [...],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  "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setor_afetado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": [...]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}</a:t>
            </a:r>
          </a:p>
          <a:p>
            <a:endParaRPr lang="pt-BR" dirty="0">
              <a:solidFill>
                <a:schemeClr val="bg1"/>
              </a:solidFill>
              <a:latin typeface="+mj-lt"/>
            </a:endParaRP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Regras: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- use somente as categorias permitidas;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- não crie categorias novas;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- gere 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evidência_textual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como trecho curto do contexto;</a:t>
            </a:r>
          </a:p>
          <a:p>
            <a:r>
              <a:rPr lang="pt-BR" dirty="0">
                <a:solidFill>
                  <a:schemeClr val="bg1"/>
                </a:solidFill>
                <a:latin typeface="+mj-lt"/>
              </a:rPr>
              <a:t>- marque 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precisa_reprocessamento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=</a:t>
            </a:r>
            <a:r>
              <a:rPr lang="pt-BR" dirty="0" err="1">
                <a:solidFill>
                  <a:schemeClr val="bg1"/>
                </a:solidFill>
                <a:latin typeface="+mj-lt"/>
              </a:rPr>
              <a:t>true</a:t>
            </a:r>
            <a:r>
              <a:rPr lang="pt-BR" dirty="0">
                <a:solidFill>
                  <a:schemeClr val="bg1"/>
                </a:solidFill>
                <a:latin typeface="+mj-lt"/>
              </a:rPr>
              <a:t> quando houver ambiguidade.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A96EC7C4-989B-1B80-4281-374C654C32B1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EB90B970-E88A-2983-D90C-79F45C888995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1F7A2B4A-FF6E-5D57-6D96-ADB5C13D3D84}"/>
              </a:ext>
            </a:extLst>
          </p:cNvPr>
          <p:cNvSpPr txBox="1"/>
          <p:nvPr/>
        </p:nvSpPr>
        <p:spPr>
          <a:xfrm>
            <a:off x="5770416" y="1466672"/>
            <a:ext cx="331055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Esse formato limita o espaço de decisão da LLM e facilita validação automática por schema. A resposta esperada não é um comentário livre, mas um objeto estruturado com campos padronizados, como </a:t>
            </a:r>
            <a:r>
              <a:rPr lang="pt-PT" b="1" dirty="0"/>
              <a:t>`classificacao`, `identidade_canonica`, `crimes_mais_presentes`, `modus_operandi`, `resumo_curto`, `evidencia_textual`, `setor_afetado` </a:t>
            </a:r>
            <a:r>
              <a:rPr lang="pt-PT" dirty="0"/>
              <a:t>e</a:t>
            </a:r>
            <a:r>
              <a:rPr lang="pt-PT" b="1" dirty="0"/>
              <a:t> `precisa_reprocessamento`.</a:t>
            </a:r>
          </a:p>
        </p:txBody>
      </p:sp>
    </p:spTree>
    <p:extLst>
      <p:ext uri="{BB962C8B-B14F-4D97-AF65-F5344CB8AC3E}">
        <p14:creationId xmlns:p14="http://schemas.microsoft.com/office/powerpoint/2010/main" val="1499745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854E0CF-12A3-CE62-A825-D9F573BFA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CC3D1121-FE4A-0C73-FC0D-D557B3D6D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33B793E1-DB71-2A60-7CF8-4BEDB42BBA2D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1C59C418-C45F-0391-3B14-75779EA3D933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74FF7AC5-7F38-56D5-272E-936AF299E94D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D352D2D7-90B5-7BD7-E24C-67F1A5C9A6E1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448B6A51-C842-A615-0891-4771B7E647AD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695F5039-81D6-2F66-B293-15BB29C24404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23702EBE-E646-4DB2-5B50-D3DB16E34CB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F404481E-2CC5-951D-0079-6128D253BD81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102B32A1-BD0B-02A9-EF37-60E4D4E60858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1711BE90-251F-5787-5BB0-8AD6134A6739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4E5B719E-A072-5E1A-3749-8E2F9B12AE4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AE2A04B-6B8B-C3A2-F5E4-9FD96CA43925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76998866-3DD1-3EA1-B8C3-A71939AFED5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6F4F6E6B-779B-2C17-05F6-DF98679E6E0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EF2B8656-19A8-9C68-C386-3783233C186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FAF41709-69CE-C5EC-B98E-43A13F2FCC2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1EA7B5C-096D-7108-1734-8106E850179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2050CCD1-9114-FC84-01CE-57A0B83044D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E328FBB-170A-8107-D566-65315A86BAF3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1B0647C-FAC3-CE7A-8CB4-5649DDF906D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5FA5395-5CCA-6852-8A24-2F948FA950A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31EAE83-17DE-A4F2-C038-7E205BCDF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3787CFF9-AA9D-DB9C-A79B-C6C6182A8653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4DD55E89-945A-6A4E-B5F5-AF588D574ECE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38A74B5-EC91-E66D-8081-164196049758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8A4AB27E-2DA7-389E-AC36-850107C547B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1FBBF62F-B325-27D5-380E-1DACD1058A6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3AAC05D1-C47A-2E8C-E81C-A3A5A4077AE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B3A452B1-C981-71BE-B406-F47575B069CD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C938AF2-13DB-1C95-8E47-CEF6DCBE5AAF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D2248151-EE46-9A4C-8257-398888C80DF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9BF97A1E-91BD-E1AB-A145-1B155E8E214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AF58B020-9E52-7B3C-5BAB-EC433AA85275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Distribuição por fonte da classificação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60198E20-1F1F-3497-950E-C9BA72DDE2C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maior parte do corpus foi resolvida pela camada determinística.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LLM atuou como camada residual.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resultado sustenta a proposta de reduzir custo e preservar rastreabilidade.</a:t>
            </a:r>
            <a:br>
              <a:rPr lang="pt-BR" dirty="0"/>
            </a:b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+mj-lt"/>
              </a:rPr>
              <a:t>Esse resultado foi alcançado depois de 60 rodadas com aprendizado.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5A5C7747-E956-0CDE-4D28-D241783A9C56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ADD99E6C-AF3E-F46E-4078-1263919BFAF3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7" name="Tabela 36">
            <a:extLst>
              <a:ext uri="{FF2B5EF4-FFF2-40B4-BE49-F238E27FC236}">
                <a16:creationId xmlns:a16="http://schemas.microsoft.com/office/drawing/2014/main" id="{0CCD3844-EA11-EF2C-D8F5-B056B4200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563287"/>
              </p:ext>
            </p:extLst>
          </p:nvPr>
        </p:nvGraphicFramePr>
        <p:xfrm>
          <a:off x="4584579" y="1892774"/>
          <a:ext cx="4092363" cy="1473636"/>
        </p:xfrm>
        <a:graphic>
          <a:graphicData uri="http://schemas.openxmlformats.org/drawingml/2006/table">
            <a:tbl>
              <a:tblPr/>
              <a:tblGrid>
                <a:gridCol w="1364121">
                  <a:extLst>
                    <a:ext uri="{9D8B030D-6E8A-4147-A177-3AD203B41FA5}">
                      <a16:colId xmlns:a16="http://schemas.microsoft.com/office/drawing/2014/main" val="1909643005"/>
                    </a:ext>
                  </a:extLst>
                </a:gridCol>
                <a:gridCol w="1364121">
                  <a:extLst>
                    <a:ext uri="{9D8B030D-6E8A-4147-A177-3AD203B41FA5}">
                      <a16:colId xmlns:a16="http://schemas.microsoft.com/office/drawing/2014/main" val="3319091693"/>
                    </a:ext>
                  </a:extLst>
                </a:gridCol>
                <a:gridCol w="1364121">
                  <a:extLst>
                    <a:ext uri="{9D8B030D-6E8A-4147-A177-3AD203B41FA5}">
                      <a16:colId xmlns:a16="http://schemas.microsoft.com/office/drawing/2014/main" val="3256457247"/>
                    </a:ext>
                  </a:extLst>
                </a:gridCol>
              </a:tblGrid>
              <a:tr h="318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Fonte da classificação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Notícias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Participação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314983"/>
                  </a:ext>
                </a:extLst>
              </a:tr>
              <a:tr h="318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Regex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7.891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98,0%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66552"/>
                  </a:ext>
                </a:extLst>
              </a:tr>
              <a:tr h="318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LLM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164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2,0%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551734"/>
                  </a:ext>
                </a:extLst>
              </a:tr>
              <a:tr h="318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/>
                        <a:t>8.055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dirty="0"/>
                        <a:t>100,0%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2092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770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AF46B97-8083-AA16-ED14-57AF6F449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441D1BBB-4679-C0CE-432D-35D6973A9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6D76BFB1-F1DD-AF89-3A2F-B1816756581A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1CA6BA5D-8B75-721C-0A51-EB790CFA7080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EE21FCDD-E71B-DFEA-6551-09DF000CB355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B2767635-F723-5F68-53DB-F23CF1E94456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BD3D738C-E383-3C08-F219-248D5F04338D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33483540-99BD-29CF-7A52-962B7065B98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10BF4E21-1C70-ADED-AE58-AA014AE883C1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17869F25-3269-5DC2-ED69-6ED94CC74B74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9ABAE2C8-15BB-5191-9D86-A71C55D68873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475661F6-D446-0414-5A6B-7FE8B93AFDB7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8191CBAB-5184-361A-841F-F67D0D6D76CB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159CAC38-FDFB-F459-ED98-20741B6F2280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1181B9C2-17F9-444C-2BC5-699FD3EB0B5C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82345FD0-9950-F085-04BA-9077E82CE4B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F7D38E4B-EF3A-7BD2-E3C3-3F7F82D6BF2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A89EAF9-887A-63A4-9792-F3586B5732D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2250B8AA-98BE-2175-E28C-F2BFE52B293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91B18BFF-F321-FDFD-0CC0-0077E891C076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87449C6-B8C8-F52D-6A48-5CADC3B5D6EA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AEBBBC0C-9CA9-A369-18A7-1EEB9AD756E2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31CB0604-2DB6-0A67-ABC7-C1D0BAE20AA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F83E2A4C-FE34-63B4-A9D6-A1916D98D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8C84D1EF-4649-6473-2C92-84D04BEC476E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E8DCF6BC-C127-636A-C440-7791722F9E58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C9567DA-2C30-655A-7676-0A09752DAA37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B7B1152B-D7C7-31FF-560A-6722A51AC23C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4CA94762-E2A0-E461-4A87-3D3EC556BC24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0A6C65DB-AA11-5A4E-470B-525DA9346D9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B7251F1-75E2-E75C-C7ED-F233F878C35F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256FB52-79A9-59C2-9A0B-6C3D3D0EA4D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1C5A3D45-63D6-942A-57B1-5E9A295B856E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91108E4A-6929-DE57-99B6-DC1A3673999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E7735632-11ED-EEA3-F22F-FF18685AA52D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Ciclo de aprendizado contínuo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7686877D-9146-834B-D82D-34D9768CD0E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LLM resolve casos não cobertos pelas regras.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resposta da LLM gera evidências textuais estruturadas.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pipeline extrai padrões candidatos.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As regras candidatas são filtradas.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Regras aprovadas entram na próxima execução.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Casos semelhantes passam a ser resolvidos localmente.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663A89B4-7799-BD2F-047D-FE7325DFC068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DE0C8348-74C5-67A7-32B2-E6DECC2910C9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58" name="Imagem 57">
            <a:extLst>
              <a:ext uri="{FF2B5EF4-FFF2-40B4-BE49-F238E27FC236}">
                <a16:creationId xmlns:a16="http://schemas.microsoft.com/office/drawing/2014/main" id="{100EB384-F4F9-29A9-12AB-CF706D21AE9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506" t="-1310" r="7618" b="-519"/>
          <a:stretch>
            <a:fillRect/>
          </a:stretch>
        </p:blipFill>
        <p:spPr>
          <a:xfrm>
            <a:off x="4203549" y="1369246"/>
            <a:ext cx="4473393" cy="2648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50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0F0C081-BFD7-9F68-B574-EEC8B2763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7536326A-0F0F-3CFB-9FC9-BE94381EFD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A635DCC-1133-9A4C-57A4-EDA97FD7A940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01F89AA-F0ED-7533-69E8-812654FDDCD7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37628818-270D-1CF4-1FF5-753600DCA6EB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DF53730D-08F5-1FDA-F1F7-A1401132560E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A2EC8827-3673-56D6-A588-4D4A85AFB20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7073A4D8-7BFD-4CDB-35D8-89AD3F4FCE69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5C5BC9D-CD49-8F75-4050-8E14DFA75A7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38B87771-F43A-90AC-500C-C20AC10A3216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1B247C2-A281-EE53-FFC7-89843E73EC22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4222D92-CF20-9005-A149-034849B8BAD9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5A9BD16-5BF4-AB91-4F18-0D3019B8332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A1B296EF-BD30-3377-8E60-22A4E406CD3B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7E4997AD-61FD-89CE-718D-D9978146E2D3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CD1DC90-40F3-00AC-98C8-A20D4E7909E4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3E55BBEC-CE85-47A9-CF43-51CA8405CB86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4F0CDE09-23D5-1501-3E1E-FC541548D8C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FFAC8A8-096E-BDA3-9703-43BC50ED32D4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98ADD0F3-6311-B58D-36E4-25BF0475E3B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10FDF820-6155-E006-63CB-D035800FC85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5E6B9AC-3881-6FE4-FFF3-AABCE333F22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249968B1-66A9-4CE3-D001-C6AF42D1655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26E976ED-A7D3-2712-B7B7-2BD40801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D95C1B9A-54CE-22B7-714B-86FC095D0FA7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61702BB0-409F-592B-E8D8-ABA0EF55B56A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7CD9871-540D-8E2C-DE2C-975CE9F6D076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F79B9B6B-29C5-00A8-6326-26ADB2C28C62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7CA1CDD5-203B-E1D2-5C2B-455563F6BDC4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0E9BE4FC-C704-40C7-8585-A54F1B254CD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9E54C7A-BF46-53C7-EA43-880DFBF6E66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A8AF6FD2-A79D-276F-C3E7-2BBF08F78BC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9B56B448-61C9-A732-6D45-AA93F3A755E3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38DEB286-917F-4DF3-F607-051B975549DC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E2BDD946-0CCF-CD90-3AB8-3F093D09BBBB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Auditabilidade das decisões classificatórias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D79D874C-6F95-71B7-1FA8-08D0A6F42279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8C95829A-6CA5-0F19-FF52-5C1B6684EC6C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7" name="Tabela 36">
            <a:extLst>
              <a:ext uri="{FF2B5EF4-FFF2-40B4-BE49-F238E27FC236}">
                <a16:creationId xmlns:a16="http://schemas.microsoft.com/office/drawing/2014/main" id="{8606764D-D4ED-C1E7-EC6E-146BC69A6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547938"/>
              </p:ext>
            </p:extLst>
          </p:nvPr>
        </p:nvGraphicFramePr>
        <p:xfrm>
          <a:off x="757650" y="1795046"/>
          <a:ext cx="7886700" cy="173736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224141916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8753844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Caso resolvido por regex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Caso encaminhado à LLM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3453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Crimes ambientais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Comércio ilegal de medicamentos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271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Evidências lexicais explícitas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Vocabulário menos aderente às regras iniciais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59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Ex.: garimpo ilegal, madeira ilegal, terra indígena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Ex.: produtos farmacêuticos, emagrecimento, introdução ilícita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745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Sem chamada à LLM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Classificação semântica controlada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056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827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CDEE510B-22E2-2156-3B9A-1C9DFCDF3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97045FAE-67EA-CDB2-BD6D-95AE7E74E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F934756F-45B4-BF00-25E2-087C91D59525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AC27FACD-4332-ECC5-F4F8-054A10C5A1A1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67290C73-A1A0-2613-ACAC-8E688028E5ED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B8A6F30D-84B8-214E-652E-21B05D50D094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CC41D056-8E9A-19FC-D29F-4C66B0CEF990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9F747F5A-39A9-71FA-D6DD-F87DE3C1CF39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E521AAA5-8CA7-3124-75A8-C8AAD84EF95D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4EA20652-23B9-8B10-79E6-F669F9FDDC1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D76E2C75-BDBC-B281-6FEB-F2A0342F625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509B432-1385-6553-5810-A4061144DE99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8A7E0509-9D0A-A462-2A96-38A4FD54B74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D25B8B1E-3106-2D74-C391-21876EE18C2A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B88E6F54-69CF-3019-94BA-B77688173963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552080F7-ACE6-8668-4A51-47259B9EDD10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632804EF-519D-9A1C-0B48-3B9EC8A3391D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1D4AA588-CFDE-01B7-C30F-675D03A95E61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0ECFF48F-93E6-7241-D197-1F6BCE52D265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CA331A6D-497D-ADC2-E517-277A62257BF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8F77AA2E-2DBC-B81F-7955-1641582E695D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A90D578B-201C-F4DC-142D-C29397D5EE33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989CE71-C095-81D7-2D81-6597C9D40550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CED70DF0-3302-6BCD-E4C3-6EB0A828E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F7ED0F7-0289-9E15-EF27-946DBD799411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DB4540F3-335E-CE56-353F-D0A2307B7DEB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EA57A5DA-DF11-256C-FD5C-71AC9794084B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6EB16733-8D6A-D7BC-A191-17FF561557EE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A4F5AB03-BC64-A1C8-68DF-AA5EDCF7047B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97376E6C-AE2C-DD00-65FF-E9330579F24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172A655B-E7AF-0562-7023-BC6B736F968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31E8276E-D83A-C388-DD7F-656B0A223EC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B8FE00DD-1358-882E-6006-27AC86AF54E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129A7D06-60D2-6298-A241-4F519C981D1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A52D570D-A975-F6C2-EA1F-0603A5268A4A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Clusterização semântica e estabilidade dos agrupamentos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286A0AAF-39B7-5159-DAA3-FB589C8581B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3412659" cy="3284762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Após a classificação, os textos são convertidos em representações vetoriais.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Foram usadas três representações:</a:t>
            </a:r>
          </a:p>
          <a:p>
            <a:pPr lvl="2" defTabSz="358775"/>
            <a:r>
              <a:rPr lang="pt-BR" dirty="0"/>
              <a:t>	- texto integral;</a:t>
            </a:r>
          </a:p>
          <a:p>
            <a:pPr defTabSz="358775"/>
            <a:r>
              <a:rPr lang="pt-BR" dirty="0"/>
              <a:t>	- texto resumido;</a:t>
            </a:r>
          </a:p>
          <a:p>
            <a:pPr defTabSz="358775"/>
            <a:r>
              <a:rPr lang="pt-BR" dirty="0"/>
              <a:t>	- representação híbrida.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Vetorização por TF-IDF com </a:t>
            </a:r>
            <a:r>
              <a:rPr lang="pt-BR" dirty="0" err="1"/>
              <a:t>unigramas</a:t>
            </a:r>
            <a:r>
              <a:rPr lang="pt-BR" dirty="0"/>
              <a:t> e bigramas.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Redução de dimensionalidade por SVD.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Clusterização principal com </a:t>
            </a:r>
            <a:r>
              <a:rPr lang="pt-BR" dirty="0" err="1"/>
              <a:t>Mini-Batch</a:t>
            </a:r>
            <a:r>
              <a:rPr lang="pt-BR" dirty="0"/>
              <a:t>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HDBSCAN usado como camada diagnóstica.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Consenso entre especificações para identificar pares semanticamente estáveis.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C7D4EA98-BF1C-8543-B228-5315CBA39002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3DBFA456-AD8D-AEA6-4AD5-6BD2141671C4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97B97675-44ED-5627-9C82-4E8CC0CAE2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3872" y="1553646"/>
            <a:ext cx="5076571" cy="253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54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6FF70040-947C-D3FA-400C-F97BB69FE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485F8544-DFC2-250A-FC66-457721648B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255DBCE-145A-9C51-8B3B-06F39D5CD75E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C5A86173-1DBB-E7D8-08FA-5233113EC58B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4215551B-B4D9-0044-C107-F21013DC4C63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603C6D73-4887-9D5A-33AA-993A25F3A2E8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FD816225-8156-5749-06E6-B6E43F165F0E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E54C9B35-6AA7-7FA5-83E0-D2418552788C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A5A3547-DAC7-8A54-A348-3C1BBEE041B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CE2F4E74-5A6F-25D7-E546-022126C4730B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03A14954-D6A7-28D9-8432-8F29CB2F21F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29095262-7498-5609-FCE3-7575F3A5504C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F259CEE3-8060-4C4E-9D2D-7D3D5EF030B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372E5B4B-4D15-9941-6791-0D154CF44165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AE8ED686-7964-0496-7FA4-24F3264126D6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47B37AC8-2A09-859B-3B2A-81DF8A67305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EF721041-A3D6-511A-A92F-4BF5460A6CC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D2A01275-A09F-22FE-EA8D-DE7FC4974A9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1BB5B44C-95C3-A5CD-5176-15EA3C487DF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129A624-74E3-3A94-61CA-9770EA70685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51532F0F-7759-E1F8-5FF4-07F8EFF91DBA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0DCCE8C8-823F-78B3-9443-4D46EDAFE659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EA58E12-E5D2-9C22-8976-96EF1170F43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0D1084AF-DF63-3CFD-3606-44B2B0085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BC16E26-AF2B-BA06-7CAB-E4091F3202F7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4E00A1E-4AC8-1C55-ED62-2161FC417401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C829D4AA-5DBE-5D5E-3137-3FC24808AC00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04BC7B1F-CE99-7A7C-8916-C005F33C4822}"/>
              </a:ext>
            </a:extLst>
          </p:cNvPr>
          <p:cNvSpPr txBox="1">
            <a:spLocks/>
          </p:cNvSpPr>
          <p:nvPr/>
        </p:nvSpPr>
        <p:spPr>
          <a:xfrm>
            <a:off x="356686" y="446167"/>
            <a:ext cx="683761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RESULTADOS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FD82EDB5-E4D0-F4DB-801E-390DE5286292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0895A39B-9E77-D9A9-D51E-4A82A6076639}"/>
              </a:ext>
            </a:extLst>
          </p:cNvPr>
          <p:cNvSpPr txBox="1">
            <a:spLocks/>
          </p:cNvSpPr>
          <p:nvPr/>
        </p:nvSpPr>
        <p:spPr>
          <a:xfrm>
            <a:off x="831829" y="1302734"/>
            <a:ext cx="5774380" cy="31102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Síntese geral dos resultados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Principais clusters canônicos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Maiores clusters e termos fortes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Frequência anual das categorias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Leitura substantiva dos principais achados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HDBSCAN, ruído e consenso</a:t>
            </a:r>
          </a:p>
        </p:txBody>
      </p:sp>
    </p:spTree>
    <p:extLst>
      <p:ext uri="{BB962C8B-B14F-4D97-AF65-F5344CB8AC3E}">
        <p14:creationId xmlns:p14="http://schemas.microsoft.com/office/powerpoint/2010/main" val="3523648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FAF9D08F-9A4C-7841-579A-D320A252F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0DF7EDD7-1949-D83C-5DD0-3E49DD90CD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8916CC58-D09E-D1ED-94C8-CCBA63C8301B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F9A985DF-5F8D-529F-D8C2-5E217A75534D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4A08CE86-CB8B-A11B-8714-ACC9B29D2112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9F60C78E-CC47-EAF3-9231-CD6A093DA66F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58ABE1A0-9235-956E-991C-10BEFE9BC740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A9E32496-D5DD-5087-3588-864432FCE224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3CA4963-63C5-F450-5155-F3036BF16169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7403E419-AFEF-76CC-68AA-E724D8529AE6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CBB9E78F-A9C9-E370-F469-D8F494F49084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1986E4AE-EC7F-2F0F-E568-045D081D05E2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FD8BB54-2C50-0636-2665-4ED9BDF145DB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03693DA3-E90E-7BAB-294C-1920925ACCEA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2BE72D4-819B-0740-785B-D01DA85442B0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D17068C1-0A2F-3441-18CB-CB6A315D4DF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5EB9023-60C7-68F6-3E64-BA034F5D5DC9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1A52D10F-2020-90D1-E545-F5A762311C21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8117476-FDEC-6D9D-3B88-58F0AB99369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9600121-B5ED-D4C9-71A3-5BE837F7C4F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C71043D-F753-56BA-6E77-57ABEB3B1C37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8EDE5E73-C3F8-45ED-EBE6-1FBC1C3C747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DD1DEAE-1C19-2BB3-3879-713CF01E708C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C5F201C9-8A6C-D0B8-2728-D3B1C054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99246F0-B71E-F899-C1C1-F8E9F370B7C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7D512306-68E8-260C-CB23-10738637CC51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2F604F4-4298-690A-3763-DF4DF172AD4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F8D73179-5B95-0E10-9CF9-D8B8BAF5189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A6B387D0-A086-4FAF-3F74-08ABC671C79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69434643-4D4F-3FBA-C137-D4623F6B90FF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B3147318-8456-490F-41DC-4F53D6627E97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35D2950-8721-3BB6-C13D-C7506F1CC3B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4378B1EF-A32C-8966-0C18-869B0BB7F9AE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D5AE0834-D200-7F87-01FF-4412E6CCC9B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1F015E27-5F83-C34C-9184-5BA9A30177C2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organização temática, temporal e semântica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1FB5B2AE-DC12-FA13-CA2D-2D9C5DC64A5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8" y="1395073"/>
            <a:ext cx="7984942" cy="328476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pipeline transformou notícias públicas da PF em uma base analítica estruturada.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resultados permitem observar:</a:t>
            </a:r>
          </a:p>
          <a:p>
            <a:pPr defTabSz="358775"/>
            <a:r>
              <a:rPr lang="pt-BR" dirty="0"/>
              <a:t> 	- temas mais recorrentes;</a:t>
            </a:r>
          </a:p>
          <a:p>
            <a:pPr defTabSz="358775"/>
            <a:r>
              <a:rPr lang="pt-BR" dirty="0"/>
              <a:t> 	- variações anuais de visibilidade;</a:t>
            </a:r>
          </a:p>
          <a:p>
            <a:pPr defTabSz="358775"/>
            <a:r>
              <a:rPr lang="pt-BR" dirty="0"/>
              <a:t> 	- clusters canônicos;</a:t>
            </a:r>
          </a:p>
          <a:p>
            <a:pPr defTabSz="358775"/>
            <a:r>
              <a:rPr lang="pt-BR" dirty="0"/>
              <a:t> 	- agrupamentos semânticos;</a:t>
            </a:r>
          </a:p>
          <a:p>
            <a:pPr defTabSz="358775"/>
            <a:r>
              <a:rPr lang="pt-BR" dirty="0"/>
              <a:t> 	- estabilidade entre diferentes representações textuais.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maior parte das classificações foi resolvida pela camada determinística.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LLM atuou apenas como camada residual, em casos ambíguos ou não cobertos pelas regras.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resultados devem ser lidos como evidências sobre atuação publicizada, não como medida direta de incidência criminal ou produtividade policial.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5252372F-1511-A760-EBF2-A1D8BED7ED15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04FD933-A426-F0B8-153E-71E4580F9C2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2452041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450E850B-388F-F445-8A5C-255BD9A94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349C858-2AC3-C8EF-A7C8-CFC63FD3D2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6B321B5E-1279-90E2-FF86-1E3F8E65B9C2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F4CDD1A-A5E8-FBE1-D6A1-A9DFF230FEDC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05BBC64F-07C7-6385-F91E-0E1454B464DE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EA569B2-AD71-9880-328C-B1EA6FA1FA2B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C0C76A39-E160-DE69-DC08-0515E6127A2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DB4F6727-DBFA-4A75-AAF5-02ACADB96F4B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3B14EF9C-B231-558C-9CDE-E5E548CF580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B6445BF-9683-F9C8-4126-D72C8FCF20D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17E6EBE7-C24A-52CB-03F1-A146A90577F3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E1A16A94-4ADD-70D2-1978-4F953A2DC66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FF74D4D-529D-3E99-E3A9-2D06AFB7934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5A877F55-0F05-E2B9-93E4-434DD807875D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2453AC11-DEDB-CB60-B975-AECC60EE129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D5FECB4-5AE8-C872-6686-57C724799D8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E8AAEB8-92C7-2528-8603-F5141ECB50CF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6F9A7C63-091F-4076-D464-3CFB9A278A5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C0B73B44-833B-DDE7-1127-58505CB7BB2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06E5E0AD-4855-B002-34A2-78D92D9725F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5BFF62E-ADB0-80AA-9C24-BFA49466E6BD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F3F8E288-809C-2A69-173E-0F9B69EA21B6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1DEEDEB-B34C-471E-A8A8-C997DC13A55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A963E54A-B050-81DD-4FAB-70689BB78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CDDF7032-AEF7-66E0-6D92-9FC9FB8815B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F3242FF4-72CB-EFD8-6166-160DEDCC2B7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15D460C3-2C96-E7BA-BCDE-7DFD655C75D1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B3345B21-66EE-7E12-D756-62F35583288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E0D4750C-2716-6EB9-1D50-7F1482F2F4D6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29698244-37DA-AD3B-3A63-B0C8FA820D8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76411C4B-4081-A42A-D93A-B3DB1DE6FCA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4BD382D-A488-4369-B768-4F36440219E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95F14B78-33A2-5D6E-91B7-04ACF719A3B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4D3973A8-5F84-42B0-F411-683CB3CB0626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45857552-560E-5826-3086-E15640F50F68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Principais clusters canônicos nas notícias da PF</a:t>
            </a: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02821165-00C1-DA7C-7DF1-379A2A6F325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583609" y="1395073"/>
            <a:ext cx="3982108" cy="3284762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clusters canônicos consolidam categorias temáticas, evidências textuais e padronização de rótulos.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distribuição mostra concentração em poucos eixos substantivos.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grupos de maior visibilidade são: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crimes contra crianças;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tráfico de drogas;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corrupção/desvio;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crimes ambientais;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falsificações;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contrabando/descaminho;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lavagem de dinheiro; </a:t>
            </a:r>
          </a:p>
          <a:p>
            <a:pPr defTabSz="358775">
              <a:tabLst>
                <a:tab pos="358775" algn="l"/>
              </a:tabLst>
            </a:pPr>
            <a:r>
              <a:rPr lang="pt-BR" dirty="0"/>
              <a:t>	- fraude previdenciária.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comunicação pública da PF não se distribui aleatoriamente entre muitos temas de peso semelhante.</a:t>
            </a:r>
            <a:endParaRPr lang="pt-BR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19A917EA-AD1C-A94B-B0E6-DF9403C0C7E8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587AA23-6863-AC11-2E27-AF6B296F2203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EE6D58AF-381C-0581-4F8B-5FEFF180A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290" y="1321926"/>
            <a:ext cx="4576463" cy="323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9320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B06028B-43EA-5C64-42E7-B758017B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5F884A9B-374A-9164-22B2-703D0CE8E5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E5D4C7A-29F8-CC5F-DF6F-D1FAACAB98B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1E4A39F7-FA7A-CB06-7573-3BACD85C2EE3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40618092-E556-0F5F-C0AC-1C76F2887CB7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CC4AACAD-36A7-FD00-58BB-74841835D6C3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BB873C2-A536-69D1-CC85-915F0E291AA4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F4F6311A-4AE1-2228-223F-AFCA45548578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F382A7B1-8050-C9C2-769B-0BEE9B982D5F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C75C7C75-5E1B-018E-9F92-7F3E50FF0A00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3E48D575-0A65-8F7D-3715-471197084694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22587851-1A2D-6076-EAAD-A59590B9BE3A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E3D9B545-675E-7C8E-8867-822F6C9D6E7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6D770C54-3E52-8F43-03B4-A5F0FEE7DD0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EB37BF9F-96BE-11F1-BE08-CE4A3394E904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118DE1F0-2DFC-BB06-BFC9-7D422E1356F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511D59C6-C08F-68DC-3BCB-DDE388A3E3A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E788DFE0-AB68-3DC8-BDE5-5585C1EA475A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55B0D8D-A9FD-FC4A-C93B-CA5F2A59811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3A05D59D-6637-3E14-1064-A74513581AF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3C5859C-AFB5-71A6-CEFC-B0869F50981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0FA9A5C9-5D87-0B4D-BFAD-C2806BACB052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8A1133F-5BE3-0C80-05A4-6D38A8096B5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FC62FDE-C73B-555C-D48C-5619A8832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D53E631-C7D9-52DF-DA04-C3F5CCB730C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D27FF901-C1A8-E765-DFAA-D96AC07F95CF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2C3F4A1A-B2B3-C07B-07D7-5D7596BDC805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12CB22B5-47B1-1338-82DF-CFFA48BEF567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E3E7AB49-94A1-74D3-BA25-CD8725538F44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20F0050C-AA96-95EC-DE58-A65B435A02DF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3E00FAB1-9E50-4E2B-F221-8FCF986A464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893F6326-428B-2525-F66A-7DE3001A861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1F9C84B0-F357-8199-87CC-B267D17C394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53D84469-9D3E-1CF4-FCB5-1D95C923045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C939AD2D-39B9-15F5-0B7A-51591E17B061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Clusters canônicos: volume, persistência e evidências textuais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E5DA0CCB-52B8-6926-6003-771A54E74376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A7E0C01-09BF-3F14-45D5-E22007273E6F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7" name="Tabela 36">
            <a:extLst>
              <a:ext uri="{FF2B5EF4-FFF2-40B4-BE49-F238E27FC236}">
                <a16:creationId xmlns:a16="http://schemas.microsoft.com/office/drawing/2014/main" id="{F735EECF-D690-31F2-CA83-7A5C80176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891495"/>
              </p:ext>
            </p:extLst>
          </p:nvPr>
        </p:nvGraphicFramePr>
        <p:xfrm>
          <a:off x="922564" y="1370016"/>
          <a:ext cx="7510237" cy="1702672"/>
        </p:xfrm>
        <a:graphic>
          <a:graphicData uri="http://schemas.openxmlformats.org/drawingml/2006/table">
            <a:tbl>
              <a:tblPr/>
              <a:tblGrid>
                <a:gridCol w="2233809">
                  <a:extLst>
                    <a:ext uri="{9D8B030D-6E8A-4147-A177-3AD203B41FA5}">
                      <a16:colId xmlns:a16="http://schemas.microsoft.com/office/drawing/2014/main" val="2452451451"/>
                    </a:ext>
                  </a:extLst>
                </a:gridCol>
                <a:gridCol w="704427">
                  <a:extLst>
                    <a:ext uri="{9D8B030D-6E8A-4147-A177-3AD203B41FA5}">
                      <a16:colId xmlns:a16="http://schemas.microsoft.com/office/drawing/2014/main" val="3985951120"/>
                    </a:ext>
                  </a:extLst>
                </a:gridCol>
                <a:gridCol w="968587">
                  <a:extLst>
                    <a:ext uri="{9D8B030D-6E8A-4147-A177-3AD203B41FA5}">
                      <a16:colId xmlns:a16="http://schemas.microsoft.com/office/drawing/2014/main" val="3415857052"/>
                    </a:ext>
                  </a:extLst>
                </a:gridCol>
                <a:gridCol w="3603414">
                  <a:extLst>
                    <a:ext uri="{9D8B030D-6E8A-4147-A177-3AD203B41FA5}">
                      <a16:colId xmlns:a16="http://schemas.microsoft.com/office/drawing/2014/main" val="4185383523"/>
                    </a:ext>
                  </a:extLst>
                </a:gridCol>
              </a:tblGrid>
              <a:tr h="189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Categoria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Notícias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Anos ativos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Evidências textuais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4064587"/>
                  </a:ext>
                </a:extLst>
              </a:tr>
              <a:tr h="321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Crimes contra crianças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1.289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8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/>
                        <a:t>pornografia infantil; abuso sexual; exploração sexual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356534"/>
                  </a:ext>
                </a:extLst>
              </a:tr>
              <a:tr h="235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Tráfico de drogas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1.235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9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cocaína; maconha; entorpecentes; fronteira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7118246"/>
                  </a:ext>
                </a:extLst>
              </a:tr>
              <a:tr h="235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Corrupção/desvio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1.154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9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/>
                        <a:t>licitação; vantagem indevida; verbas públicas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907471"/>
                  </a:ext>
                </a:extLst>
              </a:tr>
              <a:tr h="235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 dirty="0"/>
                        <a:t>Crimes ambientais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682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8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/>
                        <a:t>garimpo ilegal; desmatamento; madeira ilegal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320095"/>
                  </a:ext>
                </a:extLst>
              </a:tr>
              <a:tr h="235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Falsificações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523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8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000"/>
                        <a:t>documento falso; moeda falsa; identidade falsa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047455"/>
                  </a:ext>
                </a:extLst>
              </a:tr>
              <a:tr h="189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/>
                        <a:t>Contrabando/descaminho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517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t-PT" sz="1000"/>
                        <a:t>8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000" dirty="0"/>
                        <a:t>cigarros; mercadoria estrangeira; fronteira</a:t>
                      </a:r>
                    </a:p>
                  </a:txBody>
                  <a:tcPr marL="66578" marR="66578" marT="33289" marB="332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045805"/>
                  </a:ext>
                </a:extLst>
              </a:tr>
            </a:tbl>
          </a:graphicData>
        </a:graphic>
      </p:graphicFrame>
      <p:sp>
        <p:nvSpPr>
          <p:cNvPr id="41" name="CaixaDeTexto 40">
            <a:extLst>
              <a:ext uri="{FF2B5EF4-FFF2-40B4-BE49-F238E27FC236}">
                <a16:creationId xmlns:a16="http://schemas.microsoft.com/office/drawing/2014/main" id="{01E4470C-9FAA-2CAD-B61C-A58002C8A2D5}"/>
              </a:ext>
            </a:extLst>
          </p:cNvPr>
          <p:cNvSpPr txBox="1"/>
          <p:nvPr/>
        </p:nvSpPr>
        <p:spPr>
          <a:xfrm>
            <a:off x="831829" y="3245375"/>
            <a:ext cx="77577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A execução consolidada gerou </a:t>
            </a:r>
            <a:r>
              <a:rPr lang="pt-BR" sz="1200" b="1" dirty="0"/>
              <a:t>38 clusters canônicos</a:t>
            </a:r>
            <a:r>
              <a:rPr lang="pt-BR" sz="12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Os maiores grupos combinam volume, persistência temporal e evidências lexicais fortes.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Os termos fortes ajudam a tornar a classificação auditável.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A tabela mostra não apenas o tamanho dos grupos, mas também os sinais textuais que sustentam cada agregação</a:t>
            </a: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2501761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0308A6EF-AA94-F49A-2C46-4BA1BFBD4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626EEDF-627D-F589-7F49-4777F664F7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730CA4EB-AFC5-6D12-A661-CE654052580D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C18B5631-1B11-D339-5153-F0F7D182C83F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3EB39A7C-00A8-242F-9AE5-824C84DEC9AE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85FE8E11-17E0-AFF2-2634-BE69991447F7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20DF82BB-49DD-275D-D50F-4CA7BDBA9F7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3024C428-45F6-7D3D-3F2B-02A6EE1EFC0D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B1A92A7-699C-9EE0-3344-BA1188DB07EC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82ED4500-5A6C-F2C6-F923-5716F218EDC7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51A81888-CDC6-D97B-62E2-D46F88495F38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489BEF3-A1C3-C1FD-0D88-58CB1E9D057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F76ECBF8-4719-7394-8F0C-0FA47E71F192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116FED91-8ED1-A147-AD7D-959F227E862E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314515A-CE0C-9F35-8C1D-12B867D9EA6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DFBEAC84-1374-5C27-914C-4433FCD51A0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3983E6BD-7B67-2020-C5DE-B0D4F5A6360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4CE0177D-9276-6576-16D7-098514EE141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0EA668E2-C100-1A66-7716-6CFE69CAA7A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AF002B1B-5F4C-B7C0-975D-7D1D34D599B2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5C46F209-512E-6AD0-0EFC-5A4553B21778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E064B976-2E8B-0C21-FC18-14AFA52ADFDD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288E6D2-25AA-3433-E4FF-EF64D9763766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2A91D292-0D09-A250-E22D-8B7CAF734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8608F9BA-2F54-0BA8-FA1D-F727A14EC7B8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325AE92F-0507-775F-6FE1-F30BF0AF686D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668C35E8-5E48-BBEE-0177-4F45A9F55C16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36338397-D3DB-4ACF-16DA-FF8A6F0AEA8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56EF218D-65F1-A690-962A-066089F7F992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BAF6098-CC66-9CDE-7C41-4C7CB89A0260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DCF0D8D9-67FA-02BA-9005-070B4C66507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4ECDF49D-4554-934E-57B4-B9F15D369EA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EBCFC5F1-73CA-2966-E0FC-E862957E224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BDD25A27-07B1-84EF-7FED-CC48C9E2E14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6C872E41-14B1-67B0-7131-F6B6256137E4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Variação anual da visibilidade temática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8F53FDB3-E230-09B1-F6B2-8ACCF640E3BB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ED926E8-3A17-45A0-02E5-C1814C6F09B9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C6ABAB50-B617-3D43-43EB-FCC67F4A9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1982" y="1174726"/>
            <a:ext cx="5580945" cy="374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010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D262387-C8A1-25F9-6C3E-AF80FC55A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5665AD78-8A7F-A64A-47D4-75223B77C1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610AF86-2707-B41A-FB9F-D9987E8FAEB7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F3F7134-61F4-938B-65F9-7CBB68CD6E6A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AE6CE4D6-D642-3568-8EF0-D6A164DFB3A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1CE91194-75A9-271B-122D-26E211FC067A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4619EAC3-236E-A63C-3638-BE22237E6F39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AC50A2C5-32DB-72F7-D3BF-772B1795078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D9007F00-2D30-6AAD-BF31-7C2CFB09A158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84A36C9E-7C78-E11C-32AC-EA07F25E1C5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B4B1E0E9-50DE-BF3B-9218-DBB35A38B761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D1DAD31F-25C9-56CB-875B-1272524710B6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C67797F8-420C-9101-42BC-62EDB1D6672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A3037121-836D-F336-B096-FB4E0AD133F7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27E5A68B-E10F-6D2F-0604-4B9998CFAC46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BE34896D-7934-78C0-EBE4-59F1131C4AD0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6876637E-59E6-CD9E-2A32-F86764972F0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5C4BF154-E2C2-8EEB-5B16-74FB524F3C4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634E892-B688-E3DE-3880-2A7E8C3D4A2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BA975088-EC7D-65BB-F8E7-47C80060E8A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DDADD5BC-C731-AECE-8C7A-230CF72DFC80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85575EA4-E636-BFB9-4E0A-0C1E53B96B98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4AFDAA0-3C1A-539C-9E39-349E56245F80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FDC4EFB-FECF-D36B-EC12-D347E3F268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F267CBD-CA45-2CC3-3043-3F1C39BF440A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073072A-2FB0-A63F-8EB5-4FF6E16EAF6A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03B07C5-F9C4-573C-08D3-9130DEF8E035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EA22FEB2-052D-19F3-33B2-9973F6DD15C0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6CD9EDE2-52F0-0DC6-C23E-6F6B2D069189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A44C4B98-0D72-CD82-DC9F-237A466576F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C5B9708D-1C1B-2002-6C4F-55780837BAB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7C0CF9D-A1F6-7EFB-95D5-FA27240E859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F281A358-063E-ACD6-A509-4AFEA3BC70B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E8093146-C25C-6508-0BF1-6B115D289B8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3AFE730F-32C5-768D-81F7-3AF91E4EB685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Interpretação dos principais padrões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A961F8B1-D059-D5B4-D83E-195BDC7CC435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B4AAA47C-66B8-7808-67D3-4BB309C3CB38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7" name="Tabela 36">
            <a:extLst>
              <a:ext uri="{FF2B5EF4-FFF2-40B4-BE49-F238E27FC236}">
                <a16:creationId xmlns:a16="http://schemas.microsoft.com/office/drawing/2014/main" id="{1CF5B400-00AE-F306-C0E6-41D7317AD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589898"/>
              </p:ext>
            </p:extLst>
          </p:nvPr>
        </p:nvGraphicFramePr>
        <p:xfrm>
          <a:off x="628649" y="1644809"/>
          <a:ext cx="8276437" cy="2072640"/>
        </p:xfrm>
        <a:graphic>
          <a:graphicData uri="http://schemas.openxmlformats.org/drawingml/2006/table">
            <a:tbl>
              <a:tblPr/>
              <a:tblGrid>
                <a:gridCol w="2233261">
                  <a:extLst>
                    <a:ext uri="{9D8B030D-6E8A-4147-A177-3AD203B41FA5}">
                      <a16:colId xmlns:a16="http://schemas.microsoft.com/office/drawing/2014/main" val="2394877719"/>
                    </a:ext>
                  </a:extLst>
                </a:gridCol>
                <a:gridCol w="6043176">
                  <a:extLst>
                    <a:ext uri="{9D8B030D-6E8A-4147-A177-3AD203B41FA5}">
                      <a16:colId xmlns:a16="http://schemas.microsoft.com/office/drawing/2014/main" val="3191504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Eixo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Interpretação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495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Crimes contra crianças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Forte crescimento em 2024 e 2025; associado a vocabulário padronizado e operações comunicadas sobre crimes digitais e exploração sexual infantil.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3161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Tráfico de drogas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Tema persistente; envolve apreensões, rotas, aeroportos, fronteiras e transporte de entorpecentes.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99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Corrupção/desvio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Grupo expressivo; reúne fraudes em licitações, verbas públicas, vantagem indevida e agentes públicos.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196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23421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F4EAB64B-61D2-7E13-2D4C-771FE9E4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48056812-14CE-ADD7-C344-311A068142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5F77EA16-E300-6FA0-BE61-76A160A4B4AD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4CFD039-99FA-4E9A-6A5B-73E9F882E8B3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523F2C8E-FD66-8E7A-1DAC-9F85E05243B3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93DAA9E-1270-8F2B-DFE4-4B83AE85E047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DC01C5B-3388-2BE5-EB51-79F04C5BAF1A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8DD81D5F-FC55-F61D-3971-24CD73A5F18C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E3F237B7-57DD-A905-A795-401C9C4A162D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5E7C7680-3E3F-2628-F99C-1B0969D23CB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DA61C8F5-29C1-72B9-DA94-ACAE7483B451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A83EF3AA-3E69-9FDA-3D51-13E664F349A9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F2A5D27-C8BA-23DC-6F0D-C5FE7A2E60F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ED085898-2DB1-7FCD-4030-AF8BC908DA62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BB3CCA67-FF4C-9893-1BBE-8A48AC0D609C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0C508F1-B9BA-0F08-DFC7-7B28513DD14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922E9708-F2A0-37BE-848F-C84794989C9B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518EDA1-5F58-9AED-24F3-CD0F31E3BF5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3C3563D-EDAB-F536-1656-813DFCEDB21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95503A2E-5C9C-F7B8-17CA-5A026F61A92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35A56549-DEA0-4CB8-BC42-31081412DC04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71E4C572-D02A-DB95-6315-347687B66B0B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2204FAB9-9648-FDFE-2A9F-E3B90DD2511B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32B922A1-1A3B-E9A6-9D48-5EDDEDEBD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1CEF58F9-21FF-EBEB-02CE-2FCB49A02AB2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B023604-B56C-7A12-9012-92FC076C2B9C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84885B0F-F1D4-0398-38A5-88F3455F973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BE490C5A-18CB-0BF3-0DCB-CFA9BA639EC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866AF588-1970-5EBE-4217-FEC080CF81F3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447275D3-42EA-652D-2372-3F173C886BEB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E315726E-5BE8-A0A7-3747-253FEAEC53F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70E9586-EB56-D8D1-EA92-30FCA1EFC87A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2CE25494-1984-4E91-AC1D-2DFA0E8A54D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AFAB7AA5-0696-659B-F9A3-9C0424711B7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6509D55D-88DC-A5CA-B194-4BFD6CD3ACF9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HDBSCAN, ruído e estabilidade semântica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F1D6C383-DF6E-45DF-B7BD-39901AD3C2B4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69DB2E1D-3D12-2D35-5DFD-B054FAE6374C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9C3506E-F590-1F89-19F8-1A65850B0F4A}"/>
              </a:ext>
            </a:extLst>
          </p:cNvPr>
          <p:cNvSpPr txBox="1"/>
          <p:nvPr/>
        </p:nvSpPr>
        <p:spPr>
          <a:xfrm>
            <a:off x="756048" y="1371037"/>
            <a:ext cx="401787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 </a:t>
            </a:r>
            <a:r>
              <a:rPr lang="pt-BR" sz="1200" dirty="0" err="1"/>
              <a:t>Mini-Batch</a:t>
            </a:r>
            <a:r>
              <a:rPr lang="pt-BR" sz="1200" dirty="0"/>
              <a:t> K-</a:t>
            </a:r>
            <a:r>
              <a:rPr lang="pt-BR" sz="1200" dirty="0" err="1"/>
              <a:t>means</a:t>
            </a:r>
            <a:r>
              <a:rPr lang="pt-BR" sz="1200" dirty="0"/>
              <a:t> foi usado como método operacional principal.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 HDBSCAN foi usado como camada diagnóstica.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E identifica grupos densos e documentos tratados como ruído.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A representação híbrida teve melhor capacidade de agrupamento.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 HDBSCAN é útil para diagnóstico, mas inadequado como classificador final isolado.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dirty="0"/>
              <a:t>O consenso entre especificações ajuda a identificar pares de notícias semanticamente estáveis.</a:t>
            </a:r>
            <a:endParaRPr lang="pt-PT" sz="1200" dirty="0"/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E709E3C5-E380-0E43-2986-CE222EAAC5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999"/>
          <a:stretch>
            <a:fillRect/>
          </a:stretch>
        </p:blipFill>
        <p:spPr>
          <a:xfrm>
            <a:off x="4904295" y="1395526"/>
            <a:ext cx="4163753" cy="224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6783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38171DC7-F799-19DD-31FF-432B0A60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27CF6A5F-284E-6D25-1D85-5B9C9F3BBB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54827D49-B2B8-346B-E15D-F7F3305F083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FC510258-81E7-1A2C-FADD-2E7A1897F2CA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E2E6772C-4749-B8F7-C8B1-59BCCBD8CF5C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B92807B9-755A-0866-8B72-7915755D3AEF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2436B648-8DEB-0859-BAB1-AEEC64F3ACEB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7C94AA5E-EC7E-0DF8-CE2C-017502E9271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5FC612F-E04D-ECEF-6304-96EBE5AB27DB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EA917E43-0D3C-252F-4BA2-3D0B5DB625D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74CBD16A-B9C6-A261-51DA-560594D029E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B2DE0A6B-3487-FE31-2C50-7E5813B01D59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C50C87AB-DBFC-0B3F-4920-4D04F9DD2FFF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D1343221-29FE-6251-2DC4-E1313F550979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DD38163F-371A-A40E-5BA7-13579E9428E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CB637709-AB88-AD0A-20F3-03ED11ADAF3D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250C337-91BF-38F7-416B-166868DADA6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C364F2F8-DB4E-082C-86E0-26BAA09C563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FFE6963E-9AAE-193C-7788-00D4ABEB855B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51F4DD2-C7D9-B441-31AB-C7ED3469595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340D8FEF-3B23-8F50-7931-444F152A8689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CF610119-5A02-D978-6EC9-858878409B24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75F6C0B8-53D6-0AB3-0279-230F3EC86BBF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7C5E9D3E-39BD-5D59-BE31-23F2E8E317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08A1A806-B43A-8C3B-EE71-ABA5068A25B4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53A6A59D-4902-65FE-AF40-484EEC8DB35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8093B0A3-7ACE-0946-C3A3-17EF34C50CC1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8DDC0A08-E59B-B917-E78F-13FA8F380AC0}"/>
              </a:ext>
            </a:extLst>
          </p:cNvPr>
          <p:cNvSpPr txBox="1">
            <a:spLocks/>
          </p:cNvSpPr>
          <p:nvPr/>
        </p:nvSpPr>
        <p:spPr>
          <a:xfrm>
            <a:off x="356686" y="446167"/>
            <a:ext cx="6837619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DISCUSSÃO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72325013-63B2-241F-0CB1-49FDA3F06BEF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48F61CCE-AE5C-4814-1159-37A5A13704CD}"/>
              </a:ext>
            </a:extLst>
          </p:cNvPr>
          <p:cNvSpPr txBox="1">
            <a:spLocks/>
          </p:cNvSpPr>
          <p:nvPr/>
        </p:nvSpPr>
        <p:spPr>
          <a:xfrm>
            <a:off x="831829" y="1302734"/>
            <a:ext cx="6673024" cy="31102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Uso controlado de </a:t>
            </a:r>
            <a:r>
              <a:rPr lang="pt-BR" sz="1800" dirty="0" err="1">
                <a:solidFill>
                  <a:schemeClr val="bg2"/>
                </a:solidFill>
                <a:latin typeface="+mj-lt"/>
              </a:rPr>
              <a:t>LLMs</a:t>
            </a:r>
            <a:r>
              <a:rPr lang="pt-BR" sz="1800" dirty="0">
                <a:solidFill>
                  <a:schemeClr val="bg2"/>
                </a:solidFill>
                <a:latin typeface="+mj-lt"/>
              </a:rPr>
              <a:t> em pipelines auditáveis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Atuação publicizada da PF: interpretação substantiva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Limites de interpretação dos resultados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2"/>
                </a:solidFill>
                <a:latin typeface="+mj-lt"/>
              </a:rPr>
              <a:t>Usos futuros e agenda de pesquisa</a:t>
            </a:r>
          </a:p>
        </p:txBody>
      </p:sp>
    </p:spTree>
    <p:extLst>
      <p:ext uri="{BB962C8B-B14F-4D97-AF65-F5344CB8AC3E}">
        <p14:creationId xmlns:p14="http://schemas.microsoft.com/office/powerpoint/2010/main" val="42665839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2DF370DC-F4DF-EE09-1210-BF0E9925B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1487EBA-31C4-951F-5863-60D943285C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1D20D5BF-F6E4-877E-2765-A0CF5E874F67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8A3A74C6-F064-F2A2-1071-542785FB12BA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E3A9F0B3-8806-D60F-058C-9D14DD705229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DE4CA7B-9194-BD1A-3A37-21EB482D6423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0B24A41C-DCF0-DC59-2D4E-0A550874437C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DDC36A9A-D42B-CE5E-FEAB-1FBC651AAC5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F0D3AAF7-D09D-F907-9D60-7467AA36EB96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A82D381F-2746-3C69-2605-7149E60CBFC7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E351CC6-8A09-17FF-6FCC-6636FC35822F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DDD89FA5-551C-EDB6-AC5E-E75B3569AC43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87E399A6-04BD-CC81-181F-7099C93BDEC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F382F6A4-15F5-A469-8E9A-D441EF25CEAE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570A9156-571B-0805-C9DF-C6CB9FB7CD5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2F0B5BF8-943E-3291-199D-781B22221A3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84BF0BE4-32CC-4E75-15C8-1812C436DF2B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7882ACB-2F06-B178-D204-30C2D82FF8DA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4849D1FF-C709-E648-8F8C-068ECAC4787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99D10A96-53B4-0410-A7B4-FCCBDB1599B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0034C023-8653-0BB6-130D-565A5D726647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087703DE-B947-DA46-89A1-B23B1E8530B7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B5EC29C6-2A75-E1C4-F002-08DABF3D412B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ADFECF0D-A6EA-76BD-AE56-03C539E17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8C02D919-6077-0ACD-2D01-803B2A255482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7D46D193-8504-677A-310B-AC6F0B0423F3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19C694A-1EAE-5DEA-53AA-4BD2B7759672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C2D6353E-3A7C-C2AB-9F49-F8FCC01D52A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5DACC579-B890-25F0-FFD8-D964353B60BB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19570B13-8469-30A7-618F-BF3000F71DF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9ED5ECE4-B20A-BC8C-CEAA-D9C1A0A6FD2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8FFF8516-45FE-0C91-B037-523A00D7145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CCEED9E2-BBCE-425D-E052-F5B155A9274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C4B376EA-D60B-05DC-304B-99F9642A5FF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DAD34736-0F4D-56B7-9C61-110240ECA29D}"/>
              </a:ext>
            </a:extLst>
          </p:cNvPr>
          <p:cNvSpPr txBox="1">
            <a:spLocks/>
          </p:cNvSpPr>
          <p:nvPr/>
        </p:nvSpPr>
        <p:spPr>
          <a:xfrm>
            <a:off x="737108" y="504150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Uso controlado de </a:t>
            </a:r>
            <a:r>
              <a:rPr lang="pt-BR" sz="2000" dirty="0" err="1">
                <a:latin typeface="+mj-lt"/>
                <a:cs typeface="Arial" panose="020B0604020202020204" pitchFamily="34" charset="0"/>
              </a:rPr>
              <a:t>LLMs</a:t>
            </a:r>
            <a:r>
              <a:rPr lang="pt-BR" sz="2000" dirty="0">
                <a:latin typeface="+mj-lt"/>
                <a:cs typeface="Arial" panose="020B0604020202020204" pitchFamily="34" charset="0"/>
              </a:rPr>
              <a:t> em pipelines auditáveis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DACC9EB9-146C-A2C3-E81D-B8ECEAEC86DE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1AA3C1F5-6FFB-979F-B39B-E4BB95D986B7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1838891-1881-D1DF-D01B-CD67E00B5A46}"/>
              </a:ext>
            </a:extLst>
          </p:cNvPr>
          <p:cNvSpPr txBox="1"/>
          <p:nvPr/>
        </p:nvSpPr>
        <p:spPr>
          <a:xfrm>
            <a:off x="756048" y="1371037"/>
            <a:ext cx="7888302" cy="2828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principal contribuição não está apenas em classificar notícias, mas em propor uma arquitetura rastreável e reprodutível.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LLM não atua como classificador universal.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 modelo é acionado apenas em casos ambíguos, incompletos ou não cobertos por regras determinísticas.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classificação passa a ter duas fontes explícitas:</a:t>
            </a:r>
          </a:p>
          <a:p>
            <a:pPr defTabSz="358775">
              <a:lnSpc>
                <a:spcPct val="150000"/>
              </a:lnSpc>
            </a:pPr>
            <a:r>
              <a:rPr lang="pt-BR" sz="1200" b="1" dirty="0"/>
              <a:t> 	- regex</a:t>
            </a:r>
            <a:r>
              <a:rPr lang="pt-BR" sz="1200" dirty="0"/>
              <a:t>, para decisões determinísticas;</a:t>
            </a:r>
          </a:p>
          <a:p>
            <a:pPr defTabSz="358775">
              <a:lnSpc>
                <a:spcPct val="150000"/>
              </a:lnSpc>
            </a:pPr>
            <a:r>
              <a:rPr lang="pt-BR" sz="1200" b="1" dirty="0"/>
              <a:t> 	- LLM</a:t>
            </a:r>
            <a:r>
              <a:rPr lang="pt-BR" sz="1200" dirty="0"/>
              <a:t>, para inferências semânticas controladas.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Essa separação permite avaliar quais resultados dependem de regras estáveis e quais exigiram interpretação probabilística.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arquitetura reduz custo, dependência externa e instabilidade em reprocessamentos futuros.</a:t>
            </a: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6392682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0CC0EF07-A4B6-FB2F-D4AE-6198B3DF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20AFAB7E-0BFC-2DF5-3D80-C291E059FF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08C181D4-0D14-E4EB-1262-62E5AEF3502A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890965ED-6ACA-73F9-CC95-DE79D36F8E9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F167F3C-7DA5-BDBA-088E-0C1401C1055C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FF10318F-FA32-873B-975B-8D4D222EAA01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98B9CAF-4ED6-2EBE-0A50-A65CD0924DA9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974FFEC2-3E15-6E94-AE82-7270244BB3EC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C67E5FF0-EB8C-EFF5-EFB3-BF1E6C4F12CE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4BEE9FD4-EE13-E67D-6059-7436C4FACC82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7F769683-0851-4B83-CF7C-837B3EAEDA73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4A8F0714-9C00-38C8-E7D9-D379464330FF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C73CFFC1-CDF3-9EE9-F9C1-CDC6D6D03F82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00F77257-D48E-D15E-4B0E-EC281B47E3E5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1FEE0BBF-F965-859E-34CD-44268F069F7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23F607BD-CC70-CA64-1D21-D94DB5B7A47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3897AB15-4537-225C-CD87-F61FE4072C8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9D2F14CC-7DDB-03CA-C62F-08E4B919B0A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92BABAFA-2FD9-0AFD-2925-12F2E6BCC63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38946141-86A5-EEA1-67F5-BAAEC1FDE95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343E3B80-64C5-C222-BA06-C26E531D125B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8A4B2ADB-4385-6421-29DC-D8F25B0F2FE9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37802EE3-8A28-FB94-A5F9-C0A13849E0D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7189636-D10E-0C24-9D2D-0B5B3D9CC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D2FD5E0B-3C9B-CEEE-7CB2-25EDA0881D26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7C4482E1-DB04-F875-52D6-23F704AFD995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F20A3B36-9BB4-C0EF-3DB0-081384979BE5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5469B70A-3D34-DBAB-33FD-98C990C40D55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354E7EFA-1620-9798-F4FA-3D83EC2D752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4910850E-50FB-6672-87B6-C7441B1C51D9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C6926AE-F5A8-9A9E-921F-9FB14FD0E86F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BE9DC27B-88AA-A663-4268-C42230E1519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77D1DB97-75F4-4D60-2168-3AB03A3BEE2C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1138B123-EFBF-3E93-8DCB-5E46D628165F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00B4DBE1-BF1E-9F07-9180-2BCC2667D830}"/>
              </a:ext>
            </a:extLst>
          </p:cNvPr>
          <p:cNvSpPr txBox="1">
            <a:spLocks/>
          </p:cNvSpPr>
          <p:nvPr/>
        </p:nvSpPr>
        <p:spPr>
          <a:xfrm>
            <a:off x="473968" y="698694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O que os resultados indicam sobre a atuação publicizada da PF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3CFC11EA-BA26-082F-F58C-D2F199000F9E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FA796E4E-6CB5-5F39-A676-C5E08D80B5B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C5C6AF63-38ED-DA17-49FC-A14C63CBFF86}"/>
              </a:ext>
            </a:extLst>
          </p:cNvPr>
          <p:cNvSpPr txBox="1"/>
          <p:nvPr/>
        </p:nvSpPr>
        <p:spPr>
          <a:xfrm>
            <a:off x="756048" y="1371037"/>
            <a:ext cx="7888302" cy="3428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resultados apontam temas centrais na comunicação pública da Polícia Federal: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crimes contra crianças;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tráfico de drogas;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corrupção e desvios;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crimes ambientais;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falsificações;</a:t>
            </a:r>
          </a:p>
          <a:p>
            <a:pPr lvl="1" defTabSz="358775">
              <a:lnSpc>
                <a:spcPct val="150000"/>
              </a:lnSpc>
            </a:pPr>
            <a:r>
              <a:rPr lang="pt-BR" sz="1200" dirty="0"/>
              <a:t>	- contrabando e descaminho.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Esses temas aparecem de forma recorrente nos clusters canônicos e nas séries anuais.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base permite observar padrões de </a:t>
            </a:r>
            <a:r>
              <a:rPr lang="pt-BR" sz="1200" b="1" dirty="0"/>
              <a:t>visibilidade institucional.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frequência de uma categoria no portal não equivale automaticamente à incidência real do crime.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 objeto analisado é a </a:t>
            </a:r>
            <a:r>
              <a:rPr lang="pt-PT" sz="1200" b="1" dirty="0"/>
              <a:t>atuação publicizada</a:t>
            </a:r>
            <a:r>
              <a:rPr lang="pt-BR" sz="1200" dirty="0"/>
              <a:t>, isto é, aquilo que a instituição comunica, padroniza e disponibiliza ao público.</a:t>
            </a: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12374831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96333C81-CD6D-C139-5A1D-65FFDEA8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A25D9FAE-9E02-A126-2D43-563F23FA0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BDED2C83-E957-C981-4DAF-C406BD94C48F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23028ED2-E4C4-4567-11A1-1EF512CEFFBB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1EE59145-1F54-202A-8091-08F40379F447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B0667B8-40ED-A735-670C-44C929B032A3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274B471D-C8EC-E197-E975-4C72467B484B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534525D3-5CFD-789D-5EA8-F811E54A84F2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54330E32-C85A-C647-2BB5-BE74FC01D7A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D4972DC6-C40E-947B-AD7C-13237BF3457A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99AE963B-6E75-3ADF-D5B0-366689CCBD0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A40F0F03-7357-25E8-6D3F-4242CFE112B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32CEEE8-8C35-8D9C-EECA-36A06E1A65C9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5E2F4D28-52A9-0DD8-B508-936CAFDBCAE0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723D3F12-5A4B-D689-5FC2-9F9A761126AB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4963838E-EEE1-124D-E5D4-E01DE35154A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D4BFC327-981C-16AE-E797-88FD927221C3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1779675-5746-6931-1862-1ED000FE3B1F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6EC1CA9-5683-6986-2C96-C1A6953DAFFB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A4DBAA98-AD86-0C02-59DD-5F130471A893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74471854-C163-7DA7-A4FF-AAFD04B25E99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ABA02016-874D-15D2-3A4D-9C77EE42905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4B697BB-7004-09A7-365F-F89EE26D814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A94FD3E-F298-4B90-B42F-64B4B8CA7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939BBCF-0893-F938-5953-4BF3B32D6914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41B76DB0-3DF9-A2BB-EBA8-D96DA3DED21E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B3238EEF-8908-158F-9A33-03CED2FC19A9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3763DD1C-484F-137A-6DAF-A2CAD61C7397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BB5BCB90-1C26-19BE-00DA-34B15C0EA15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52F9D976-8DFC-3E2A-80B9-4B307404BE90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E0751D72-5041-99F6-3F86-66920797BCC6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7523EE2C-E1AB-4A25-9A82-B0ADC60C36E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4697D191-9D0C-390B-3F58-2BB153950D1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A55190AF-F500-4559-4CC7-DBA187B855F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D8C36C7E-CDCB-F0A7-0984-7B0CA8A4F4A7}"/>
              </a:ext>
            </a:extLst>
          </p:cNvPr>
          <p:cNvSpPr txBox="1">
            <a:spLocks/>
          </p:cNvSpPr>
          <p:nvPr/>
        </p:nvSpPr>
        <p:spPr>
          <a:xfrm>
            <a:off x="473968" y="698694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Limites de interpretação dos resultados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0DEC5C50-F1C5-B342-16E2-C36588BE9CC3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23EA48F-759C-625E-2514-DE10E2BEC694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C62695D7-6CBD-EACE-9B4D-44B478BD6337}"/>
              </a:ext>
            </a:extLst>
          </p:cNvPr>
          <p:cNvSpPr txBox="1"/>
          <p:nvPr/>
        </p:nvSpPr>
        <p:spPr>
          <a:xfrm>
            <a:off x="756048" y="1371037"/>
            <a:ext cx="7888302" cy="2274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 unidade de análise é a notícia, não a operação, o inquérito ou a ocorrência criminal.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Uma mesma operação pode gerar várias notícias.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Uma notícia pode reunir múltiplos crimes, atores e ações operacionais.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As frequências são sensíveis a escolhas editoriais, campanhas institucionais e padrões de comunicação.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 estudo não realiza uma comparação exaustiva entre diferentes </a:t>
            </a:r>
            <a:r>
              <a:rPr lang="pt-BR" sz="1200" dirty="0" err="1"/>
              <a:t>LLMs</a:t>
            </a:r>
            <a:r>
              <a:rPr lang="pt-BR" sz="1200" dirty="0"/>
              <a:t>, prompts, modelos comerciais, modelos locais e taxonomias.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 ano de 2026 deve ser lido como parcial, pois a coleta vai apenas até </a:t>
            </a:r>
            <a:r>
              <a:rPr lang="pt-BR" sz="1200" b="1" dirty="0"/>
              <a:t>08/05/2026.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Comparações anuais exigem cuidado ou normalização por período de cobertura.</a:t>
            </a: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1721489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43725E3B-C05F-E650-6CDF-99F1294A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E11BE14-63BF-1921-80B4-730E74B18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1476A0A4-4DC9-E448-60AA-A22E47EEB604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08772AE-F94C-D75B-30F9-EA1229648199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6FFADA4F-82F6-1964-97C0-6C7CC654C445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FFFEBE8A-A83F-1ECD-D6CA-05E5AD228ABD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E12CCCE-992C-81CB-B1A6-11DE9704AFB1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B744BD39-C08F-B47F-2078-66838E308AF0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F9141C03-F54F-EBDB-3A3A-E9772BF7444F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458946CF-B7BC-7B0D-EE55-926ABE479E17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209D5FFA-31EA-E5A9-45F9-4D896D528F0B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8BBC229C-EB28-C7E6-B4CF-6473C66F7F2E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39056413-C98D-8392-D7C1-349BB275EB4F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23BE05E0-E210-40B2-8B3E-D12419151685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DA1892AE-3764-CF1E-0977-52E297BD933A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D86DD668-5D4A-921E-2D0A-1B19CD5AD5A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915E9473-A402-D267-8741-5E05927C7DD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477DA2C1-BBC8-09E8-9DF4-5AF04DEB189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08D28A08-69A7-7CFB-C715-46E2F107FC6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2479D14B-1067-53A0-2C14-36FC0BA26F7C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AD07110-4C16-CB5F-FC0D-994359C9DA0E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1E71063A-9CF4-B784-8B80-77ED8E80F863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6190362-4398-2CF3-007F-9F15BC6D4E4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EF69E196-01E0-8075-49BD-67E693F02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ED08BE03-C289-AA74-7AA4-76003BF1A63C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75DA7956-FAEC-BF48-F1D6-5B13319B6695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70A347B4-DB21-BBC3-B3CA-3A907C9AA65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14F165E0-A71A-108F-4322-439BD87CB253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3C0B9506-DDD0-3BD1-2EB3-7C0DA553CA3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6718D4A8-9F47-3F6A-7CB3-4B9DCCB9F914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A9FBD15A-17DD-FF40-959D-A9ABA3CBD843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614D9788-C336-4163-72FB-83BA7949E0CD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9A1348A6-5E0E-54E5-1AED-0FF1523B669B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9657C8CD-D6FE-8FBB-9769-2B239C0B812C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F0EAA6E0-94A0-C8AF-FBD3-C712979DBE7F}"/>
              </a:ext>
            </a:extLst>
          </p:cNvPr>
          <p:cNvSpPr txBox="1">
            <a:spLocks/>
          </p:cNvSpPr>
          <p:nvPr/>
        </p:nvSpPr>
        <p:spPr>
          <a:xfrm>
            <a:off x="473968" y="698694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Da comunicação institucional à análise integrada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FAAE8115-4A6A-F767-E1AF-AB07216D7050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A58B503A-6AE3-0C3E-D4EB-5D5EAB296DCB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A2C0B1C8-C535-0AF6-81CE-59063AB7419B}"/>
              </a:ext>
            </a:extLst>
          </p:cNvPr>
          <p:cNvSpPr txBox="1"/>
          <p:nvPr/>
        </p:nvSpPr>
        <p:spPr>
          <a:xfrm>
            <a:off x="461283" y="1444817"/>
            <a:ext cx="3521438" cy="2346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Cruzar a base de notícias com dados administrativos: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operações;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mandados;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apreensões;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inquéritos;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orçamento;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efetivo mobilizado;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relatórios de gestão.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4A4B46C-2551-DA6D-27F1-6E29325750A7}"/>
              </a:ext>
            </a:extLst>
          </p:cNvPr>
          <p:cNvSpPr txBox="1"/>
          <p:nvPr/>
        </p:nvSpPr>
        <p:spPr>
          <a:xfrm>
            <a:off x="3587790" y="1444609"/>
            <a:ext cx="5056560" cy="2600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Aprimorar a análise territorial com normalização geográfica de estados, municípios, fronteiras, aeroportos, terras indígenas e áreas protegidas.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Construir redes de cooperação institucional a partir dos órgãos mencionados nas notícias.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Acompanhar mudanças discursivas ao longo do tempo, como: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crescimento de termos ligados a crimes digitais;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maior destaque a bloqueio de bens;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mudanças na linguagem sobre proteção de crianças;</a:t>
            </a:r>
          </a:p>
          <a:p>
            <a:pPr defTabSz="358775">
              <a:lnSpc>
                <a:spcPct val="150000"/>
              </a:lnSpc>
            </a:pPr>
            <a:r>
              <a:rPr lang="pt-BR" sz="1100" dirty="0"/>
              <a:t>	- aumento da centralidade de temas ambientais.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Manter validação qualitativa e monitoramento da estabilidade das regras.</a:t>
            </a:r>
            <a:endParaRPr lang="pt-PT" sz="1100" dirty="0"/>
          </a:p>
        </p:txBody>
      </p:sp>
    </p:spTree>
    <p:extLst>
      <p:ext uri="{BB962C8B-B14F-4D97-AF65-F5344CB8AC3E}">
        <p14:creationId xmlns:p14="http://schemas.microsoft.com/office/powerpoint/2010/main" val="3917996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51E51CDF-1ED0-5B9D-078E-27A2399D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AE42AEF-432C-6AFB-D998-B609DCC211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588A2DBC-8665-9875-5139-B80C919F3250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76BADB12-918F-6891-1BDD-1EE8775D353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826E4DDB-E2D1-339F-E34C-FED63B871BDA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783B551-B9FC-1928-065B-C1D67AD87D56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33ABCCCC-FE02-BF3F-CC2A-DA7068F08D15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8F6E95DF-3235-235D-6859-BAB1EA999835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197CB66-0CC5-EE21-1E50-E51C8585561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2675C271-E9CA-E3FE-E3A1-D26D1A627A7A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70312A8E-86F2-9D80-5210-37239D562080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D4AF3149-41F3-89DD-64CD-A48B3AF56C8D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934EA43E-0ED7-60FF-5E8E-E59431FD5D0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A269BCF3-0E5A-B7FD-EBC9-A31264B4E5A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B9AB08AC-E4AF-5B5B-75B9-A444E510BDBB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458D3D09-CCBC-88A0-FC86-96A9B6D058C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56916BE6-528B-6AE9-BF53-9ECF9B9E0E7D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27DEF1D0-E041-B237-5554-12BA8289ED3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05D03BD7-ED8F-05E7-C0BE-33B27AD4844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94D1C67C-0BB5-0336-F828-A4A6B14FA6A2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5CC4E98-0E36-8A1A-9DF2-DBA1F09B4B0B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A8BDCC5-1BD6-596C-E338-04013E7E54CD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E4C65F2C-3A05-E830-71BB-99A7D74A683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310D4DA6-2DB6-C321-07D4-6A89968F7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F6CD100-181D-E156-4CB3-FCAF61F13A6F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E8D773D4-01D0-8F5F-79DA-3C79C397A723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1731DC2-00AF-5EE0-EA4C-2E0F5AF9DB24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0E73867A-E9F6-CD66-85BB-06D67BE2CF39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F857E45F-26C6-5AEA-0D80-34CCDEB5AEF7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ABD512B5-ACA0-3397-9CB8-389C2782270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4219DF7D-C05D-A345-753C-794C85A29E1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D13690CB-8718-48E0-13C5-F92FEE51565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CF7EB95E-61A0-691B-7849-BF1E13922FEB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5142754B-24AB-53F8-0B5A-5C75C9ECEAA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BF0D8C24-D6AE-F81B-6CFB-8A86A721C732}"/>
              </a:ext>
            </a:extLst>
          </p:cNvPr>
          <p:cNvSpPr txBox="1">
            <a:spLocks/>
          </p:cNvSpPr>
          <p:nvPr/>
        </p:nvSpPr>
        <p:spPr>
          <a:xfrm>
            <a:off x="473968" y="698694"/>
            <a:ext cx="8467638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dirty="0">
                <a:latin typeface="+mj-lt"/>
                <a:cs typeface="Arial" panose="020B0604020202020204" pitchFamily="34" charset="0"/>
              </a:rPr>
              <a:t>Contribuições metodológicas e substantivas</a:t>
            </a:r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14F59F06-B3B5-51A4-B783-ABA6152D83BF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3B99C35D-E6B3-7B8A-006A-5D8B1C1684F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CF67E25E-5F2F-E615-E414-C770623ABB9D}"/>
              </a:ext>
            </a:extLst>
          </p:cNvPr>
          <p:cNvSpPr txBox="1"/>
          <p:nvPr/>
        </p:nvSpPr>
        <p:spPr>
          <a:xfrm>
            <a:off x="461282" y="1444817"/>
            <a:ext cx="4110717" cy="2012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b="1" dirty="0"/>
              <a:t>Contribuição metodológica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Uso seletivo de LLM em uma arquitetura híbrida.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Redução de custo computacional e dependência externa.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Separação clara entre decisão determinística e inferência semântica.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Registro da fonte da classificação, permitindo auditoria e reprocessamento.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Aprendizado contínuo por expansão de regras regex.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198FC0F8-2171-CD31-C0B1-BA9B8EA04FA5}"/>
              </a:ext>
            </a:extLst>
          </p:cNvPr>
          <p:cNvSpPr txBox="1"/>
          <p:nvPr/>
        </p:nvSpPr>
        <p:spPr>
          <a:xfrm>
            <a:off x="4572000" y="1444609"/>
            <a:ext cx="4072349" cy="2497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b="1" dirty="0"/>
              <a:t>Contribuição substantiva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Identificação de temas recorrentes na comunicação pública da PF.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Destaque para crimes contra crianças, tráfico de drogas, corrupção/desvio, crimes ambientais, falsificações e contrabando.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Análise de variações temporais na visibilidade das categorias.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050" dirty="0"/>
              <a:t>Produção de clusters semânticos e clusters canônicos para síntese interpretativa.</a:t>
            </a:r>
            <a:endParaRPr lang="pt-PT" sz="1050" dirty="0"/>
          </a:p>
        </p:txBody>
      </p:sp>
    </p:spTree>
    <p:extLst>
      <p:ext uri="{BB962C8B-B14F-4D97-AF65-F5344CB8AC3E}">
        <p14:creationId xmlns:p14="http://schemas.microsoft.com/office/powerpoint/2010/main" val="2027381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61B70E1-C526-0CD6-8E52-2D67A508E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B1D69A67-65F3-3E5B-4649-BB08ACB08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9B84159-2BCB-A991-0F04-DBD02F82FB60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2D1C6E6D-0FDC-DA15-40F5-608DCCA6E16A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E0BA94B-1686-17F3-3322-E1561C1D35B6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4BAE49AD-397C-EF2F-25B0-A2D01958924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B2F83C7E-643D-3D18-DD8C-EBE93FD41D5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999D45FC-42A9-2951-B0E9-24FA017A845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935EC24-BC39-2293-D394-12A34C07A56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5D79EAB-B8C5-B16B-5055-8AD40D9101E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3CEA9FE6-84C2-786F-5C87-C0A8193D7350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CA0E63F-7631-F41D-DC5C-12A9E916971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C319B369-A404-2ADE-E9E4-4B523688273E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3A8C798A-78AF-A7A8-4FD9-87E410C9DF6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C95997F-FB26-C289-8237-DB092CE8B62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21312F5-FBE6-E7B6-0A71-A281B5BDEF3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7A28E1E-47D4-49D4-5862-4556F42F03D8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EE721771-AD66-F8FC-ECE7-A468DBC6E9B7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1EDAB212-9FB2-3D21-A5B9-540C06D7A663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F0BB03B4-9D9B-6920-C8BD-F104FFDD91A5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10A77DF5-883B-B395-9E4E-C04E30097D99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Imagem 22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8718E1C6-C2DC-8729-D0D8-CB62FFFA7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6164" y="313083"/>
            <a:ext cx="3214252" cy="756779"/>
          </a:xfrm>
          <a:prstGeom prst="rect">
            <a:avLst/>
          </a:prstGeom>
        </p:spPr>
      </p:pic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95C9C076-7A28-803D-7B6C-AE5E99F0F01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21638D1A-A95C-D955-3701-8E4DE48C0EBB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7F49B1C6-65B2-C0B4-6C3C-A2EA25948509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1F0ACE85-F7DD-FE88-C3E3-3EF9D5087BC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7EBED03C-5240-2113-E49F-9A6F4F498869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DB5F2ECC-2D80-3C18-8654-E8FA30C980A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908EB33-ABAD-8308-ABA7-7AA8C8774E7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6DD6B9DD-5D5E-7793-2C9E-9A121C51AE3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F83CEBEC-7046-BD61-824A-90858FBFA09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" name="Google Shape;1695;p71">
            <a:extLst>
              <a:ext uri="{FF2B5EF4-FFF2-40B4-BE49-F238E27FC236}">
                <a16:creationId xmlns:a16="http://schemas.microsoft.com/office/drawing/2014/main" id="{D6CDC742-CED8-EA2C-23F9-718DCFEFC43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481245" y="2012263"/>
            <a:ext cx="6004091" cy="15937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Você tem alguma dúvida?</a:t>
            </a:r>
            <a:endParaRPr sz="1600" b="1" dirty="0">
              <a:solidFill>
                <a:schemeClr val="bg1"/>
              </a:solidFill>
              <a:latin typeface="+mj-lt"/>
            </a:endParaRPr>
          </a:p>
          <a:p>
            <a:pPr marL="0" lvl="0" indent="0" algn="ctr">
              <a:buClr>
                <a:schemeClr val="lt1"/>
              </a:buClr>
              <a:buSzPts val="1100"/>
            </a:pPr>
            <a:br>
              <a:rPr lang="pt-BR" sz="1100" b="0" dirty="0">
                <a:solidFill>
                  <a:schemeClr val="bg1"/>
                </a:solidFill>
                <a:latin typeface="+mj-lt"/>
              </a:rPr>
            </a:br>
            <a:r>
              <a:rPr lang="pt-BR" sz="1200" dirty="0">
                <a:solidFill>
                  <a:schemeClr val="bg1"/>
                </a:solidFill>
                <a:latin typeface="+mj-lt"/>
              </a:rPr>
              <a:t>Entre em contato com: </a:t>
            </a:r>
            <a:br>
              <a:rPr lang="pt-BR" sz="1200" b="0" dirty="0">
                <a:solidFill>
                  <a:schemeClr val="bg1"/>
                </a:solidFill>
                <a:latin typeface="+mj-lt"/>
              </a:rPr>
            </a:br>
            <a:r>
              <a:rPr lang="pt-BR" sz="1200" b="0" dirty="0">
                <a:solidFill>
                  <a:schemeClr val="bg1"/>
                </a:solidFill>
                <a:latin typeface="+mj-lt"/>
              </a:rPr>
              <a:t>xxxxxxxxxx@ipea.gov.br</a:t>
            </a:r>
          </a:p>
          <a:p>
            <a:pPr marL="0" lvl="0" indent="0" algn="ctr">
              <a:buClr>
                <a:schemeClr val="lt1"/>
              </a:buClr>
              <a:buSzPts val="1100"/>
            </a:pPr>
            <a:r>
              <a:rPr lang="pt-BR" sz="1200" b="0" dirty="0">
                <a:solidFill>
                  <a:schemeClr val="bg1"/>
                </a:solidFill>
                <a:latin typeface="+mj-lt"/>
              </a:rPr>
              <a:t>Telefone: +55 61 2026- XXXX </a:t>
            </a:r>
          </a:p>
          <a:p>
            <a:pPr marL="0" lvl="0" indent="0" algn="ctr">
              <a:buClr>
                <a:schemeClr val="lt1"/>
              </a:buClr>
              <a:buSzPts val="1100"/>
            </a:pPr>
            <a:endParaRPr sz="1100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2" name="Google Shape;937;p37">
            <a:extLst>
              <a:ext uri="{FF2B5EF4-FFF2-40B4-BE49-F238E27FC236}">
                <a16:creationId xmlns:a16="http://schemas.microsoft.com/office/drawing/2014/main" id="{96F46459-1935-02DF-CDCB-0DA11E63B36B}"/>
              </a:ext>
            </a:extLst>
          </p:cNvPr>
          <p:cNvSpPr/>
          <p:nvPr/>
        </p:nvSpPr>
        <p:spPr>
          <a:xfrm flipH="1" flipV="1">
            <a:off x="8807311" y="-14236"/>
            <a:ext cx="366035" cy="272845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6035" h="272845">
                <a:moveTo>
                  <a:pt x="0" y="0"/>
                </a:moveTo>
                <a:lnTo>
                  <a:pt x="236986" y="14748"/>
                </a:lnTo>
                <a:cubicBezTo>
                  <a:pt x="308258" y="14748"/>
                  <a:pt x="366035" y="72525"/>
                  <a:pt x="366035" y="143797"/>
                </a:cubicBezTo>
                <a:cubicBezTo>
                  <a:pt x="366035" y="186813"/>
                  <a:pt x="366034" y="229829"/>
                  <a:pt x="366034" y="272845"/>
                </a:cubicBezTo>
                <a:lnTo>
                  <a:pt x="8951" y="262022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7E466C10-C420-B371-8968-E4F721784166}"/>
              </a:ext>
            </a:extLst>
          </p:cNvPr>
          <p:cNvGrpSpPr/>
          <p:nvPr/>
        </p:nvGrpSpPr>
        <p:grpSpPr>
          <a:xfrm>
            <a:off x="2495264" y="1408527"/>
            <a:ext cx="3976052" cy="519398"/>
            <a:chOff x="2495259" y="1408527"/>
            <a:chExt cx="3976052" cy="519398"/>
          </a:xfrm>
        </p:grpSpPr>
        <p:sp>
          <p:nvSpPr>
            <p:cNvPr id="36" name="Google Shape;1694;p71">
              <a:extLst>
                <a:ext uri="{FF2B5EF4-FFF2-40B4-BE49-F238E27FC236}">
                  <a16:creationId xmlns:a16="http://schemas.microsoft.com/office/drawing/2014/main" id="{0D91782E-8F08-73FA-9CED-40C175CF5B88}"/>
                </a:ext>
              </a:extLst>
            </p:cNvPr>
            <p:cNvSpPr txBox="1">
              <a:spLocks/>
            </p:cNvSpPr>
            <p:nvPr/>
          </p:nvSpPr>
          <p:spPr>
            <a:xfrm>
              <a:off x="2876164" y="1408527"/>
              <a:ext cx="3214252" cy="5193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9pPr>
            </a:lstStyle>
            <a:p>
              <a:pPr algn="ctr"/>
              <a:r>
                <a:rPr lang="pt-BR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Muito obrigada!</a:t>
              </a:r>
            </a:p>
          </p:txBody>
        </p:sp>
        <p:cxnSp>
          <p:nvCxnSpPr>
            <p:cNvPr id="43" name="Conector reto 42">
              <a:extLst>
                <a:ext uri="{FF2B5EF4-FFF2-40B4-BE49-F238E27FC236}">
                  <a16:creationId xmlns:a16="http://schemas.microsoft.com/office/drawing/2014/main" id="{890290BA-4CED-8998-0A34-8E62EFD87942}"/>
                </a:ext>
              </a:extLst>
            </p:cNvPr>
            <p:cNvCxnSpPr>
              <a:cxnSpLocks/>
            </p:cNvCxnSpPr>
            <p:nvPr/>
          </p:nvCxnSpPr>
          <p:spPr>
            <a:xfrm>
              <a:off x="2495259" y="1665102"/>
              <a:ext cx="752089" cy="6249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446A092A-EBB6-2689-640D-9956E612F08F}"/>
                </a:ext>
              </a:extLst>
            </p:cNvPr>
            <p:cNvCxnSpPr>
              <a:cxnSpLocks/>
            </p:cNvCxnSpPr>
            <p:nvPr/>
          </p:nvCxnSpPr>
          <p:spPr>
            <a:xfrm>
              <a:off x="5719222" y="1665102"/>
              <a:ext cx="752089" cy="6249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2C310AD6-FA2C-CE52-23E8-25F1686DE723}"/>
              </a:ext>
            </a:extLst>
          </p:cNvPr>
          <p:cNvSpPr txBox="1">
            <a:spLocks/>
          </p:cNvSpPr>
          <p:nvPr/>
        </p:nvSpPr>
        <p:spPr>
          <a:xfrm>
            <a:off x="1823580" y="3464101"/>
            <a:ext cx="5319421" cy="47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12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Acompanhe o nosso trabalho: </a:t>
            </a:r>
            <a:r>
              <a:rPr lang="pt-PT" sz="1200" dirty="0"/>
              <a:t>https://github.com/0rakul0/NT_PF/blob/main/artigo/TD_clusterizacao_noticias_pf.md</a:t>
            </a:r>
          </a:p>
        </p:txBody>
      </p:sp>
      <p:pic>
        <p:nvPicPr>
          <p:cNvPr id="22" name="Imagem 21">
            <a:extLst>
              <a:ext uri="{FF2B5EF4-FFF2-40B4-BE49-F238E27FC236}">
                <a16:creationId xmlns:a16="http://schemas.microsoft.com/office/drawing/2014/main" id="{311E89AA-1D7D-9CD6-18DF-FFD92BA7624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4" t="39334" r="34987" b="41580"/>
          <a:stretch>
            <a:fillRect/>
          </a:stretch>
        </p:blipFill>
        <p:spPr>
          <a:xfrm>
            <a:off x="2124075" y="4029356"/>
            <a:ext cx="1061220" cy="334294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4FFC0DA0-F1D3-48E8-DBAA-2FA503E176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5" r="30100" b="77875"/>
          <a:stretch>
            <a:fillRect/>
          </a:stretch>
        </p:blipFill>
        <p:spPr>
          <a:xfrm>
            <a:off x="5597623" y="4495678"/>
            <a:ext cx="1084798" cy="387513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38859C31-4763-AFB9-B32D-3800F24B03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49" t="21214" b="59700"/>
          <a:stretch>
            <a:fillRect/>
          </a:stretch>
        </p:blipFill>
        <p:spPr>
          <a:xfrm>
            <a:off x="3889968" y="4029356"/>
            <a:ext cx="1186644" cy="334294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A40BE2A4-9B3B-FD72-53CE-135E7DEE718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0" t="58219" r="10078" b="22695"/>
          <a:stretch>
            <a:fillRect/>
          </a:stretch>
        </p:blipFill>
        <p:spPr>
          <a:xfrm>
            <a:off x="5597623" y="4029356"/>
            <a:ext cx="1041639" cy="334294"/>
          </a:xfrm>
          <a:prstGeom prst="rect">
            <a:avLst/>
          </a:prstGeom>
        </p:spPr>
      </p:pic>
      <p:pic>
        <p:nvPicPr>
          <p:cNvPr id="38" name="Imagem 37">
            <a:extLst>
              <a:ext uri="{FF2B5EF4-FFF2-40B4-BE49-F238E27FC236}">
                <a16:creationId xmlns:a16="http://schemas.microsoft.com/office/drawing/2014/main" id="{474E2B79-9B5D-9459-4D6A-E40536B0FD1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65" t="77937" r="30300"/>
          <a:stretch>
            <a:fillRect/>
          </a:stretch>
        </p:blipFill>
        <p:spPr>
          <a:xfrm>
            <a:off x="3940891" y="4496214"/>
            <a:ext cx="1084798" cy="386441"/>
          </a:xfrm>
          <a:prstGeom prst="rect">
            <a:avLst/>
          </a:prstGeom>
        </p:spPr>
      </p:pic>
      <p:pic>
        <p:nvPicPr>
          <p:cNvPr id="39" name="Imagem 38" descr="Logotipo&#10;&#10;O conteúdo gerado por IA pode estar incorreto.">
            <a:extLst>
              <a:ext uri="{FF2B5EF4-FFF2-40B4-BE49-F238E27FC236}">
                <a16:creationId xmlns:a16="http://schemas.microsoft.com/office/drawing/2014/main" id="{8237CE98-11BE-1841-41A0-B7C252BD2B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093"/>
          <a:stretch>
            <a:fillRect/>
          </a:stretch>
        </p:blipFill>
        <p:spPr>
          <a:xfrm>
            <a:off x="2116946" y="4465986"/>
            <a:ext cx="1186644" cy="44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63931"/>
      </p:ext>
    </p:extLst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5873665-62ec-4446-9267-2f203ff13dee">
      <Terms xmlns="http://schemas.microsoft.com/office/infopath/2007/PartnerControls"/>
    </lcf76f155ced4ddcb4097134ff3c332f>
    <TaxCatchAll xmlns="041c005b-97a6-41cd-be39-444a64c543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8090A2923F69846A3DD3F02C3CD8249" ma:contentTypeVersion="12" ma:contentTypeDescription="Crie um novo documento." ma:contentTypeScope="" ma:versionID="c3dd2e45013416fde6343332d239a29a">
  <xsd:schema xmlns:xsd="http://www.w3.org/2001/XMLSchema" xmlns:xs="http://www.w3.org/2001/XMLSchema" xmlns:p="http://schemas.microsoft.com/office/2006/metadata/properties" xmlns:ns2="65873665-62ec-4446-9267-2f203ff13dee" xmlns:ns3="041c005b-97a6-41cd-be39-444a64c543cc" targetNamespace="http://schemas.microsoft.com/office/2006/metadata/properties" ma:root="true" ma:fieldsID="0d2990016cc621e4a830899b0e423e27" ns2:_="" ns3:_="">
    <xsd:import namespace="65873665-62ec-4446-9267-2f203ff13dee"/>
    <xsd:import namespace="041c005b-97a6-41cd-be39-444a64c543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873665-62ec-4446-9267-2f203ff13d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Marcações de imagem" ma:readOnly="false" ma:fieldId="{5cf76f15-5ced-4ddc-b409-7134ff3c332f}" ma:taxonomyMulti="true" ma:sspId="7b36a4e3-a74c-4876-9192-b48d9869b3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1c005b-97a6-41cd-be39-444a64c543cc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dc751159-8ba8-49e3-a9d0-5d201dd61df1}" ma:internalName="TaxCatchAll" ma:showField="CatchAllData" ma:web="041c005b-97a6-41cd-be39-444a64c543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1C9619-F164-4C17-8D16-18262D4EEAB9}">
  <ds:schemaRefs>
    <ds:schemaRef ds:uri="http://schemas.microsoft.com/office/2006/metadata/properties"/>
    <ds:schemaRef ds:uri="http://www.w3.org/2000/xmlns/"/>
    <ds:schemaRef ds:uri="65873665-62ec-4446-9267-2f203ff13dee"/>
    <ds:schemaRef ds:uri="http://schemas.microsoft.com/office/infopath/2007/PartnerControls"/>
    <ds:schemaRef ds:uri="041c005b-97a6-41cd-be39-444a64c543cc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0C8238F8-984F-4596-8B48-3C14C32268A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65873665-62ec-4446-9267-2f203ff13dee"/>
    <ds:schemaRef ds:uri="041c005b-97a6-41cd-be39-444a64c543cc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5F64619-2B02-474B-89B6-42F5C7B5554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3603</TotalTime>
  <Words>3511</Words>
  <Application>Microsoft Office PowerPoint</Application>
  <PresentationFormat>Apresentação na tela (16:9)</PresentationFormat>
  <Paragraphs>473</Paragraphs>
  <Slides>38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1" baseType="lpstr">
      <vt:lpstr>Maven Pro</vt:lpstr>
      <vt:lpstr>Arial</vt:lpstr>
      <vt:lpstr>Business Annual Report by Slidesgo</vt:lpstr>
      <vt:lpstr>Há mais de 60 anos pensando o Brasil</vt:lpstr>
      <vt:lpstr>Jefferson Silva dos Anjos  Pesquisador / Mestrando PPCIC-CEFET</vt:lpstr>
      <vt:lpstr>01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Há mais de 60 anos pensando o Brasil</dc:title>
  <dc:creator>Flaviane Dias de Santàna</dc:creator>
  <cp:lastModifiedBy>jefferson silva dos anjos</cp:lastModifiedBy>
  <cp:revision>31</cp:revision>
  <dcterms:modified xsi:type="dcterms:W3CDTF">2026-05-14T10:14:21Z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0x01010098090A2923F69846A3DD3F02C3CD8249</vt:lpwstr>
  </property>
</Properties>
</file>