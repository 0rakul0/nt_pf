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3" autoAdjust="0"/>
    <p:restoredTop sz="94660"/>
  </p:normalViewPr>
  <p:slideViewPr>
    <p:cSldViewPr snapToGrid="0">
      <p:cViewPr varScale="1">
        <p:scale>
          <a:sx n="57" d="100"/>
          <a:sy n="57" d="100"/>
        </p:scale>
        <p:origin x="4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efferson.anjos.1@aluno.cefet-rj.b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jefferson.anjos.1@aluno.cefet-rj.b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AC8B8-87FC-D85D-184E-8CFF8BD250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Classificação Incremental e Auditável de Crimes em Notícias Institucionais com Memória WNN e LLM Residual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D2B914-B940-A875-4A8D-7C5FA2F32F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Jefferson Silva dos Anjos – CEFET</a:t>
            </a:r>
          </a:p>
          <a:p>
            <a:r>
              <a:rPr lang="pt-PT" dirty="0">
                <a:hlinkClick r:id="rId2"/>
              </a:rPr>
              <a:t>jefferson.anjos.1@aluno.cefet-rj.br</a:t>
            </a:r>
            <a:endParaRPr lang="pt-PT" dirty="0"/>
          </a:p>
          <a:p>
            <a:r>
              <a:rPr lang="pt-PT" dirty="0"/>
              <a:t>MATRICULA: 2520004MCICMA</a:t>
            </a:r>
            <a:endParaRPr lang="pt-BR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8730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250B795-B7E2-A320-C6B8-9283C76BC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pt-PT"/>
              <a:t>Agenda</a:t>
            </a: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735B0E-B59C-DBA0-D297-F8FC02021A5F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5215467" y="1093788"/>
            <a:ext cx="5831944" cy="4697413"/>
          </a:xfrm>
        </p:spPr>
        <p:txBody>
          <a:bodyPr>
            <a:normAutofit fontScale="62500" lnSpcReduction="20000"/>
          </a:bodyPr>
          <a:lstStyle/>
          <a:p>
            <a:r>
              <a:rPr lang="pt-PT" dirty="0"/>
              <a:t>Problema </a:t>
            </a:r>
          </a:p>
          <a:p>
            <a:r>
              <a:rPr lang="pt-PT" dirty="0"/>
              <a:t>Pergunta e proposta </a:t>
            </a:r>
          </a:p>
          <a:p>
            <a:r>
              <a:rPr lang="pt-PT" dirty="0"/>
              <a:t>Corte temporal do experimento </a:t>
            </a:r>
          </a:p>
          <a:p>
            <a:r>
              <a:rPr lang="pt-PT" dirty="0"/>
              <a:t>Pré-processamento </a:t>
            </a:r>
          </a:p>
          <a:p>
            <a:r>
              <a:rPr lang="pt-PT" dirty="0"/>
              <a:t>Clusterização da fundação </a:t>
            </a:r>
          </a:p>
          <a:p>
            <a:r>
              <a:rPr lang="pt-PT" dirty="0"/>
              <a:t>Taxonomia inicial e evolução </a:t>
            </a:r>
          </a:p>
          <a:p>
            <a:r>
              <a:rPr lang="pt-PT" dirty="0"/>
              <a:t>Memória WNN: cartões perfurados </a:t>
            </a:r>
          </a:p>
          <a:p>
            <a:r>
              <a:rPr lang="pt-PT" dirty="0"/>
              <a:t>Como a WNN decide </a:t>
            </a:r>
          </a:p>
          <a:p>
            <a:r>
              <a:rPr lang="pt-PT" dirty="0"/>
              <a:t>Aprendizado e metamorfose </a:t>
            </a:r>
          </a:p>
          <a:p>
            <a:r>
              <a:rPr lang="pt-PT" dirty="0"/>
              <a:t>Resultado principal: cobertura </a:t>
            </a:r>
          </a:p>
          <a:p>
            <a:r>
              <a:rPr lang="pt-PT" dirty="0"/>
              <a:t>Tokens e custo operacional </a:t>
            </a:r>
          </a:p>
          <a:p>
            <a:r>
              <a:rPr lang="pt-PT" dirty="0"/>
              <a:t>Leitura correta: cobertura não é acurácia </a:t>
            </a:r>
          </a:p>
          <a:p>
            <a:r>
              <a:rPr lang="pt-PT" dirty="0"/>
              <a:t>Conclusão e limites</a:t>
            </a:r>
          </a:p>
        </p:txBody>
      </p:sp>
    </p:spTree>
    <p:extLst>
      <p:ext uri="{BB962C8B-B14F-4D97-AF65-F5344CB8AC3E}">
        <p14:creationId xmlns:p14="http://schemas.microsoft.com/office/powerpoint/2010/main" val="3696935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5EF0B-2ED1-A2A1-7077-AA02920F6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46C4D1-B5F1-07C0-D338-E206FB238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Meu trabalho propõe uma metodologia para classificar o crime canônico principal em notícias públicas da Polícia Federal. </a:t>
            </a:r>
          </a:p>
          <a:p>
            <a:r>
              <a:rPr lang="pt-BR" dirty="0"/>
              <a:t>O desafio é que a base cresce, os temas mudam e aplicar uma LLM em todas as notícias aumenta o consumo de tokens. </a:t>
            </a:r>
          </a:p>
          <a:p>
            <a:r>
              <a:rPr lang="pt-BR" dirty="0"/>
              <a:t>A proposta é usar uma memória explícita para os casos recorrentes e deixar a LLM apenas para os casos que realmente exigem interpretação contextual.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92558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F4A3E-A4A7-675E-67C8-EB0D4E6BC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e proposta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A40851-7BF9-7B2E-C6AD-5E3D29712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pergunta de pesquisa é: como classificar uma base institucional que cresce ao longo do tempo, reduzindo o uso de LLM e mantendo auditabilidade? </a:t>
            </a:r>
          </a:p>
          <a:p>
            <a:r>
              <a:rPr lang="pt-BR" dirty="0"/>
              <a:t>A resposta proposta combina uma memória lexical binária inspirada em WNN/</a:t>
            </a:r>
            <a:r>
              <a:rPr lang="pt-BR" dirty="0" err="1"/>
              <a:t>WiSARD</a:t>
            </a:r>
            <a:r>
              <a:rPr lang="pt-BR" dirty="0"/>
              <a:t> com uma revisão residual por LLM. </a:t>
            </a:r>
          </a:p>
          <a:p>
            <a:r>
              <a:rPr lang="pt-BR" dirty="0"/>
              <a:t>A WNN resolve o que já possui evidência recorrente; a LLM entra apenas quando a memória se abstém.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12212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F5F13-BEF3-D9F7-1E82-4C51F183E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Recorte temporal do experimento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1641D9-4DE3-62E9-42DD-40C2D94C7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separação foi cronológica, e não aleatória. A base possui 8.310 notícias. As 831 mais antigas, ou 10%, formaram a fundação temática, cobrindo de 29 de novembro de 2011 até 30 de julho de 2020. </a:t>
            </a:r>
          </a:p>
          <a:p>
            <a:r>
              <a:rPr lang="pt-BR" dirty="0"/>
              <a:t>As 7.479 notícias posteriores formaram a reserva incremental, iniciada em 30 de julho de 2020. </a:t>
            </a:r>
          </a:p>
          <a:p>
            <a:r>
              <a:rPr lang="pt-BR" dirty="0"/>
              <a:t>Assim, a fundação não teve acesso ao futuro: ela cria a memória inicial, e os documentos posteriores permitem observar a evolução temporal dos crimes.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3845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2B515-FE33-957B-521E-D4F06DE0F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pt-PT" dirty="0"/>
              <a:t>Linha do tempRecorte temporal do experimento</a:t>
            </a:r>
          </a:p>
        </p:txBody>
      </p:sp>
      <p:pic>
        <p:nvPicPr>
          <p:cNvPr id="18" name="Espaço Reservado para Conteúdo 17">
            <a:extLst>
              <a:ext uri="{FF2B5EF4-FFF2-40B4-BE49-F238E27FC236}">
                <a16:creationId xmlns:a16="http://schemas.microsoft.com/office/drawing/2014/main" id="{A77069B3-0B89-B3F0-543B-F00F5DF01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2688" y="1955654"/>
            <a:ext cx="10709569" cy="428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84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8DED7-8C2E-452C-C873-351CF91B2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Pré-processamento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659D72-879A-9E44-2787-E58E0120F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Antes de agrupar e classificar, as 8.310 notícias passaram por pré-processamento linguístico. </a:t>
            </a:r>
          </a:p>
          <a:p>
            <a:r>
              <a:rPr lang="pt-BR" dirty="0"/>
              <a:t>O processo preservou substantivos, verbos, adjetivos e expressões de domínio, removendo ruído textual. </a:t>
            </a:r>
          </a:p>
          <a:p>
            <a:r>
              <a:rPr lang="pt-BR" dirty="0"/>
              <a:t>Foram removidos 497.688 de 1.240.262 tokens originais: uma redução de 40,13%, restando 742.574 tokens para as etapas analíticas. </a:t>
            </a:r>
          </a:p>
          <a:p>
            <a:r>
              <a:rPr lang="pt-BR" dirty="0"/>
              <a:t>O corpo é a evidência principal; o título é apoio secundário e as </a:t>
            </a:r>
            <a:r>
              <a:rPr lang="pt-BR" dirty="0" err="1"/>
              <a:t>tags</a:t>
            </a:r>
            <a:r>
              <a:rPr lang="pt-BR" dirty="0"/>
              <a:t> não criam uma classificação por si só.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56465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3EA8BC-FECF-B43B-4926-6172F3C53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Clusterização da fundação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CA9AD4-E828-4A15-B32F-4A3E165CE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 fundação de 831 notícias, a representação TF-IDF gerou 12.285 termos.</a:t>
            </a:r>
          </a:p>
          <a:p>
            <a:r>
              <a:rPr lang="pt-BR" dirty="0"/>
              <a:t> A execução usou </a:t>
            </a:r>
            <a:r>
              <a:rPr lang="pt-BR" dirty="0" err="1"/>
              <a:t>MiniBatch</a:t>
            </a:r>
            <a:r>
              <a:rPr lang="pt-BR" dirty="0"/>
              <a:t> K-Means como estratégia de </a:t>
            </a:r>
            <a:r>
              <a:rPr lang="pt-BR" dirty="0" err="1"/>
              <a:t>fallback</a:t>
            </a:r>
            <a:r>
              <a:rPr lang="pt-BR" dirty="0"/>
              <a:t> e produziu 28 clusters brutos, sem clusters de ruído e com silhueta de 0,29. </a:t>
            </a:r>
          </a:p>
          <a:p>
            <a:r>
              <a:rPr lang="pt-BR" dirty="0"/>
              <a:t>A similaridade do cosseno consolidou três grupos, reduzindo o conjunto para 23 clusters interpretados. </a:t>
            </a:r>
          </a:p>
          <a:p>
            <a:r>
              <a:rPr lang="pt-BR" dirty="0"/>
              <a:t>Por exemplo, três clusters foram reunidos em corrupção e desvio de recursos públicos, dois em crime organizado e três em crimes contra crianças.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30544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8A975-6569-91BB-DB08-D8FCA111C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Clusterização da fundação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9467EA1-DB36-9308-DB22-D3BDF79155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4282" y="2249488"/>
            <a:ext cx="6080262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446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7678BF-821A-DEDF-3373-E6B1A35A5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Taxonomia inicial e evolução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277400-7D21-5316-6EBA-33412E11C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fundação consolidou 17 crimes canônicos. Durante o fluxo incremental, ameaças e terrorismo foi promovido, chegando a 18 categorias finais. </a:t>
            </a:r>
          </a:p>
          <a:p>
            <a:r>
              <a:rPr lang="pt-BR" dirty="0"/>
              <a:t>A regra é não criar uma classe só porque um termo é frequente: </a:t>
            </a:r>
          </a:p>
          <a:p>
            <a:pPr lvl="1"/>
            <a:r>
              <a:rPr lang="pt-BR" dirty="0"/>
              <a:t>candidatos similares podem ser absorvidos por uma categoria existente. </a:t>
            </a:r>
          </a:p>
          <a:p>
            <a:pPr lvl="1"/>
            <a:r>
              <a:rPr lang="pt-BR" dirty="0"/>
              <a:t>Notícias raras ficam registradas para auditoria e não entram automaticamente na taxonomia de crimes.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61532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4221A5-36E1-5229-FCD3-A7489E9FC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Memória WNN como cartões perfurados</a:t>
            </a:r>
            <a:endParaRPr lang="pt-PT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6D0D5A-62E6-6EF4-A6D7-FB410C872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A melhor forma de visualizar a memória WNN neste trabalho é como cartões perfurados. Ao final da execução, ela possuía 358 posições lexicais </a:t>
            </a:r>
            <a:r>
              <a:rPr lang="pt-BR" dirty="0" err="1"/>
              <a:t>versionadas</a:t>
            </a:r>
            <a:r>
              <a:rPr lang="pt-BR" dirty="0"/>
              <a:t>. </a:t>
            </a:r>
          </a:p>
          <a:p>
            <a:r>
              <a:rPr lang="pt-BR" dirty="0"/>
              <a:t>Todos os crimes usam as mesmas 358 posições, mas cada crime aciona um padrão diferente de posições. </a:t>
            </a:r>
          </a:p>
          <a:p>
            <a:r>
              <a:rPr lang="pt-BR" dirty="0"/>
              <a:t>Os furos verdes representam termos que sustentam aquela máscara; </a:t>
            </a:r>
          </a:p>
          <a:p>
            <a:r>
              <a:rPr lang="pt-BR" dirty="0"/>
              <a:t>por isso é possível comparar visualmente os padrões de armas, contrabando ou corrupção.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88243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5EC73B8-0434-3843-FBDF-88555E4FB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pt-BR" sz="3200" dirty="0"/>
              <a:t>Memória WNN como cartões perfurados</a:t>
            </a:r>
            <a:endParaRPr lang="pt-PT" sz="32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2EA32A-1029-0257-40AC-9B34E9375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r>
              <a:rPr lang="pt-BR" sz="2000" dirty="0"/>
              <a:t>Essa visualização é inspirada na retina binária e nos discriminadores da </a:t>
            </a:r>
            <a:r>
              <a:rPr lang="pt-BR" sz="2000" dirty="0" err="1"/>
              <a:t>WiSARD</a:t>
            </a:r>
            <a:r>
              <a:rPr lang="pt-BR" sz="2000" dirty="0"/>
              <a:t>, mas é uma adaptação interpretável deste trabalho. </a:t>
            </a:r>
          </a:p>
          <a:p>
            <a:r>
              <a:rPr lang="pt-BR" sz="2000" dirty="0"/>
              <a:t>Ela não afirma que a implementação reproduz as </a:t>
            </a:r>
            <a:r>
              <a:rPr lang="pt-BR" sz="2000" dirty="0" err="1"/>
              <a:t>RAMs</a:t>
            </a:r>
            <a:r>
              <a:rPr lang="pt-BR" sz="2000" dirty="0"/>
              <a:t> e o mapeamento pseudoaleatório da </a:t>
            </a:r>
            <a:r>
              <a:rPr lang="pt-BR" sz="2000" dirty="0" err="1"/>
              <a:t>WiSARD</a:t>
            </a:r>
            <a:r>
              <a:rPr lang="pt-BR" sz="2000" dirty="0"/>
              <a:t> clássica.</a:t>
            </a:r>
            <a:endParaRPr lang="en-US" sz="2000" dirty="0"/>
          </a:p>
        </p:txBody>
      </p:sp>
      <p:pic>
        <p:nvPicPr>
          <p:cNvPr id="4" name="Espaço Reservado para Conteúdo 3" descr="Prévia da imagem">
            <a:extLst>
              <a:ext uri="{FF2B5EF4-FFF2-40B4-BE49-F238E27FC236}">
                <a16:creationId xmlns:a16="http://schemas.microsoft.com/office/drawing/2014/main" id="{BE0850BE-8E32-486B-CF64-DFDBA0898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81757"/>
            <a:ext cx="5456279" cy="426953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618167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9CF01-429D-343D-1F67-BA134221D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Como a memória decide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5F3967-A907-76C6-4DC5-FE0C31DDF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Cada notícia é projetada nesse mesmo vocabulário binário. A WNN compara as posições ativas da notícia com as máscaras de crime e avalia pontuação, cobertura, confiança e margem entre alternativas. </a:t>
            </a:r>
          </a:p>
          <a:p>
            <a:pPr lvl="1"/>
            <a:r>
              <a:rPr lang="pt-BR" dirty="0"/>
              <a:t>Quando há evidência suficiente, ela aceita o crime. </a:t>
            </a:r>
          </a:p>
          <a:p>
            <a:pPr lvl="1"/>
            <a:r>
              <a:rPr lang="pt-BR" dirty="0"/>
              <a:t>Quando a confiança ou a margem é baixa, ela se abstém. </a:t>
            </a:r>
          </a:p>
          <a:p>
            <a:pPr lvl="1"/>
            <a:r>
              <a:rPr lang="pt-BR" dirty="0"/>
              <a:t>Esse residual é encaminhado para o Agente 3, que usa a LLM para interpretar o contexto.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43776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1AF80-88B6-40EB-8B30-65495663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Aprendizado e metamorfose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9B1C2F-2D3B-8FF3-2243-4664B739F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decisão residual pode alimentar a memória com novos marcadores e variantes. Ao final de cada lote, a memória passa por metamorfose: </a:t>
            </a:r>
          </a:p>
          <a:p>
            <a:pPr lvl="1"/>
            <a:r>
              <a:rPr lang="pt-BR" dirty="0"/>
              <a:t>padrões inválidos, duplicados ou excedentes podem ser compactados, preservando os mais confirmados. </a:t>
            </a:r>
          </a:p>
          <a:p>
            <a:pPr lvl="1"/>
            <a:r>
              <a:rPr lang="pt-BR" dirty="0"/>
              <a:t>Assim, o sistema aprende com os casos difíceis, mas não cresce sem controle. </a:t>
            </a:r>
          </a:p>
          <a:p>
            <a:pPr lvl="1"/>
            <a:r>
              <a:rPr lang="pt-BR" dirty="0"/>
              <a:t>A atualização é </a:t>
            </a:r>
            <a:r>
              <a:rPr lang="pt-BR" dirty="0" err="1"/>
              <a:t>versionada</a:t>
            </a:r>
            <a:r>
              <a:rPr lang="pt-BR" dirty="0"/>
              <a:t> e cada decisão mantém sua trilha de evidências.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1519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A34C3-A694-6D56-8DC3-E9622FE1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Resultado principal: cobertura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7D98B6-C156-DC81-3065-15CE5E43F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reserva teve 7.479 notícias, processadas em 15 lotes de aproximadamente 500. </a:t>
            </a:r>
          </a:p>
          <a:p>
            <a:r>
              <a:rPr lang="pt-BR" dirty="0"/>
              <a:t>A WNN classificou diretamente 6.031 notícias: cobertura de 80,64%.</a:t>
            </a:r>
          </a:p>
          <a:p>
            <a:r>
              <a:rPr lang="pt-BR" dirty="0"/>
              <a:t> Restaram 1.448 casos, ou 19,36%, encaminhados à LLM.</a:t>
            </a:r>
          </a:p>
          <a:p>
            <a:r>
              <a:rPr lang="pt-BR" dirty="0"/>
              <a:t> Se a LLM fosse aplicada a toda a reserva, seriam 7.479 chamadas; </a:t>
            </a:r>
          </a:p>
          <a:p>
            <a:pPr lvl="1"/>
            <a:r>
              <a:rPr lang="pt-BR" dirty="0"/>
              <a:t>a camada determinística evitou 6.031 chamadas potenciais.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93404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7C1437-C3B1-996C-77B3-C857A558C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Resultado principal: cobertura</a:t>
            </a:r>
          </a:p>
        </p:txBody>
      </p:sp>
      <p:pic>
        <p:nvPicPr>
          <p:cNvPr id="4" name="Espaço Reservado para Conteúdo 3" descr="Prévia da imagem">
            <a:extLst>
              <a:ext uri="{FF2B5EF4-FFF2-40B4-BE49-F238E27FC236}">
                <a16:creationId xmlns:a16="http://schemas.microsoft.com/office/drawing/2014/main" id="{EDEB32E4-B666-A071-6A12-A2126B6ED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810" y="1909339"/>
            <a:ext cx="9277813" cy="421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415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E2CDD-D6F5-6295-EE4B-26EE1DA9E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Tokens e custo operacional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3D3514-D153-FC27-6511-5EB900995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revisão residual usou o modelo gpt-4.1-mini. Foram 1.448 chamadas, com consumo total de 2.615.125 tokens e média de 1.806 tokens por chamada.</a:t>
            </a:r>
          </a:p>
          <a:p>
            <a:r>
              <a:rPr lang="pt-BR" dirty="0"/>
              <a:t>Esse número não mede acurácia, mas torna o custo computacional da camada LLM explícito e reproduzível. </a:t>
            </a:r>
          </a:p>
          <a:p>
            <a:r>
              <a:rPr lang="pt-BR" dirty="0"/>
              <a:t>A estratégia permite acompanhar exatamente quanto do processamento ficou na memória determinística e quanto precisou de interpretação contextual.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04116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2A9007-4BBB-8AE2-5BA7-89F4072A5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Leitura correta dos 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30E96D-ED1F-C409-A01C-DF187FE7D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Cobertura de 80,64% não significa que a WNN acertou 80,64%. Ela significa apenas que esse percentual foi resolvido diretamente pela memória. </a:t>
            </a:r>
          </a:p>
          <a:p>
            <a:r>
              <a:rPr lang="pt-BR" dirty="0"/>
              <a:t>Como não existe uma amostra de referência integralmente validada por especialistas, não é correto afirmar acurácia, precisão, revocação ou F1. </a:t>
            </a:r>
          </a:p>
          <a:p>
            <a:r>
              <a:rPr lang="pt-BR" dirty="0"/>
              <a:t>O resultado demonstra viabilidade operacional, rastreabilidade e redução de chamadas à LLM; a avaliação de qualidade semântica é um próximo passo.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75644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2A8EE-765B-A37F-2A55-30E4FF2A7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Conclusão e limites</a:t>
            </a:r>
            <a:endParaRPr lang="pt-PT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4E77CB-3533-E3F8-18D2-8B4358299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A contribuição do trabalho é um ciclo incremental e auditável. A fundação histórica forma a taxonomia; a memória WNN, visualizada pelos cartões perfurados, resolve os casos recorrentes; e a LLM fica restrita aos resíduos. </a:t>
            </a:r>
          </a:p>
          <a:p>
            <a:r>
              <a:rPr lang="pt-BR" dirty="0"/>
              <a:t>O resultado foi uma cobertura determinística de 80,64%, com registros das evidências, versões da memória, decisões residuais e evolução temporal dos crimes.</a:t>
            </a:r>
          </a:p>
          <a:p>
            <a:r>
              <a:rPr lang="pt-BR" dirty="0"/>
              <a:t>Como continuidade, o trabalho precisa de validação humana independente para medir precisão, revocação e F1, além de comparações com classificadores supervisionados e com uma LLM aplicada à base inteira.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01090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2EF1B-78CD-B7F0-F9E8-A3BBD2160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DACAC0-E05D-E270-8A57-7EFFB55F5C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>
                <a:hlinkClick r:id="rId2"/>
              </a:rPr>
              <a:t>jefferson.anjos.1@aluno.cefet-rj.br</a:t>
            </a:r>
            <a:endParaRPr lang="pt-PT" dirty="0"/>
          </a:p>
          <a:p>
            <a:r>
              <a:rPr lang="pt-PT" dirty="0"/>
              <a:t>MATRICULA: 2520004MCICMA</a:t>
            </a:r>
          </a:p>
          <a:p>
            <a:endParaRPr lang="pt-PT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277A275-24C8-5D38-5DBC-9984D8BD29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Jefferson Silva dos Anjos – CEFET</a:t>
            </a:r>
            <a:br>
              <a:rPr lang="pt-BR" dirty="0"/>
            </a:b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463984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{4AA28A93-9828-4855-A1A9-6692C719AA0D}TF6d5feb1e-e145-43f1-b745-cb4b54c5ee97562c4fc1-e6ac889566f7</Template>
  <TotalTime>34</TotalTime>
  <Words>1152</Words>
  <Application>Microsoft Office PowerPoint</Application>
  <PresentationFormat>Widescreen</PresentationFormat>
  <Paragraphs>87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3" baseType="lpstr">
      <vt:lpstr>Arial</vt:lpstr>
      <vt:lpstr>Tw Cen MT</vt:lpstr>
      <vt:lpstr>Circuito</vt:lpstr>
      <vt:lpstr>Classificação Incremental e Auditável de Crimes em Notícias Institucionais com Memória WNN e LLM Residual</vt:lpstr>
      <vt:lpstr>Agenda</vt:lpstr>
      <vt:lpstr>Problema</vt:lpstr>
      <vt:lpstr>Pergunta e proposta</vt:lpstr>
      <vt:lpstr>Recorte temporal do experimento</vt:lpstr>
      <vt:lpstr>Linha do tempRecorte temporal do experimento</vt:lpstr>
      <vt:lpstr>Pré-processamento</vt:lpstr>
      <vt:lpstr>Clusterização da fundação</vt:lpstr>
      <vt:lpstr>Clusterização da fundação</vt:lpstr>
      <vt:lpstr>Taxonomia inicial e evolução</vt:lpstr>
      <vt:lpstr>Memória WNN como cartões perfurados</vt:lpstr>
      <vt:lpstr>Memória WNN como cartões perfurados</vt:lpstr>
      <vt:lpstr>Como a memória decide</vt:lpstr>
      <vt:lpstr>Aprendizado e metamorfose</vt:lpstr>
      <vt:lpstr>Resultado principal: cobertura</vt:lpstr>
      <vt:lpstr>Resultado principal: cobertura</vt:lpstr>
      <vt:lpstr>Tokens e custo operacional</vt:lpstr>
      <vt:lpstr>Leitura correta dos resultados</vt:lpstr>
      <vt:lpstr>Conclusão e limites</vt:lpstr>
      <vt:lpstr>Jefferson Silva dos Anjos – CEFET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jefferson silva dos anjos</dc:creator>
  <cp:lastModifiedBy>jefferson silva dos anjos</cp:lastModifiedBy>
  <cp:revision>2</cp:revision>
  <dcterms:created xsi:type="dcterms:W3CDTF">2026-07-27T01:08:16Z</dcterms:created>
  <dcterms:modified xsi:type="dcterms:W3CDTF">2026-07-29T01:12:18Z</dcterms:modified>
</cp:coreProperties>
</file>