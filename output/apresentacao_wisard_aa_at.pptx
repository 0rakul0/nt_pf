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7" r:id="rId11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apresentação está organizada como uma história única: primeiro, a classificação semissupervisionada rápida; depois, as bases teóricas e linguísticas; por fim, a aplicação proposta.</a:t>
            </a:r>
          </a:p>
          <a:p>
            <a:endParaRPr/>
          </a:p>
          <a:p>
            <a:r>
              <a:t>[Sources]</a:t>
            </a:r>
          </a:p>
          <a:p>
            <a:r>
              <a:t>Rangel, F.; Firmino, F.; Lima, P. M. V.; Oliveira, J. (2016). Semi-Supervised Classification of Social Textual Data Using WiSARD. ESANN 2016, pp. 165-170.</a:t>
            </a:r>
          </a:p>
          <a:p>
            <a:r>
              <a:t>Carneiro, H. C. C. (2017). Theoretical Results on a Weightless Neural Classifier and Application to Computational Linguistics. Tese de Doutorado, COPPE/UFRJ.</a:t>
            </a:r>
          </a:p>
          <a:p>
            <a:r>
              <a:t>dos Anjos, J. S. Classificação Incremental e Auditável de Crimes em Notícias Institucionais com Memória WNN e LLM Residual. Trabalho final (arquivo fornecido).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este slide para orientar a turma. Os textos não são repetição: o primeiro mostra eficiência em aprendizado semissupervisionado; a tese explica bleaching e aplicações linguísticas; o AT adapta a ideia para um fluxo auditável.</a:t>
            </a:r>
          </a:p>
          <a:p>
            <a:endParaRPr/>
          </a:p>
          <a:p>
            <a:r>
              <a:t>[Sources]</a:t>
            </a:r>
          </a:p>
          <a:p>
            <a:r>
              <a:t>Rangel, F.; Firmino, F.; Lima, P. M. V.; Oliveira, J. (2016). Semi-Supervised Classification of Social Textual Data Using WiSARD. ESANN 2016, pp. 165-170.</a:t>
            </a:r>
          </a:p>
          <a:p>
            <a:r>
              <a:t>Carneiro, H. C. C. (2017). Theoretical Results on a Weightless Neural Classifier and Application to Computational Linguistics. Tese de Doutorado, COPPE/UFRJ.</a:t>
            </a:r>
          </a:p>
          <a:p>
            <a:r>
              <a:t>dos Anjos, J. S. Classificação Incremental e Auditável de Crimes em Notícias Institucionais com Memória WNN e LLM Residual. Trabalho final (arquivo fornecido).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48279-18D3-164E-DF73-72C3DC235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365B6-EEAD-4665-628A-FB6DE30A8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E0770-A0C2-3E1D-48AB-0B7B2534D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este slide para orientar a turma. Os textos não são repetição: o primeiro mostra eficiência em aprendizado semissupervisionado; a tese explica bleaching e aplicações linguísticas; o AT adapta a ideia para um fluxo auditável.</a:t>
            </a:r>
          </a:p>
          <a:p>
            <a:endParaRPr/>
          </a:p>
          <a:p>
            <a:r>
              <a:t>[Sources]</a:t>
            </a:r>
          </a:p>
          <a:p>
            <a:r>
              <a:t>Rangel, F.; Firmino, F.; Lima, P. M. V.; Oliveira, J. (2016). Semi-Supervised Classification of Social Textual Data Using WiSARD. ESANN 2016, pp. 165-170.</a:t>
            </a:r>
          </a:p>
          <a:p>
            <a:r>
              <a:t>Carneiro, H. C. C. (2017). Theoretical Results on a Weightless Neural Classifier and Application to Computational Linguistics. Tese de Doutorado, COPPE/UFRJ.</a:t>
            </a:r>
          </a:p>
          <a:p>
            <a:r>
              <a:t>dos Anjos, J. S. Classificação Incremental e Auditável de Crimes em Notícias Institucionais com Memória WNN e LLM Residual. Trabalho final (arquivo fornecido).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A474A-27E4-1A3B-5F21-C5CF56C242D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8620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que o cenário é especificamente texto de redes sociais. O problema não é só acertar uma classe: é acompanhar um fluxo no qual a anotação humana custa caro e a linguagem muda.</a:t>
            </a:r>
          </a:p>
          <a:p>
            <a:endParaRPr/>
          </a:p>
          <a:p>
            <a:r>
              <a:t>[Sources]</a:t>
            </a:r>
          </a:p>
          <a:p>
            <a:r>
              <a:t>Rangel, F.; Firmino, F.; Lima, P. M. V.; Oliveira, J. (2016). Semi-Supervised Classification of Social Textual Data Using WiSARD. ESANN 2016, pp. 165-170.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WiSARD é uma rede neural sem pesos baseada em memórias RAM. Destaque a salvaguarda: o texto não rotulado só realimenta o modelo quando a confiança é alta. Isso reduz o risco de propagar um erro.</a:t>
            </a:r>
          </a:p>
          <a:p>
            <a:endParaRPr/>
          </a:p>
          <a:p>
            <a:r>
              <a:t>[Sources]</a:t>
            </a:r>
          </a:p>
          <a:p>
            <a:r>
              <a:t>Rangel, F.; Firmino, F.; Lima, P. M. V.; Oliveira, J. (2016). Semi-Supervised Classification of Social Textual Data Using WiSARD. ESANN 2016, pp. 165-170.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três conjuntos foram OMD e STS-Gold, de Twitter, e IMDB. Não diga que SSW é a mais acurada: ela não é. A contribuição é acurácia competitiva combinada com treinamento extremamente rápido - especialmente relevante para fluxo de dados.</a:t>
            </a:r>
          </a:p>
          <a:p>
            <a:endParaRPr/>
          </a:p>
          <a:p>
            <a:r>
              <a:t>[Sources]</a:t>
            </a:r>
          </a:p>
          <a:p>
            <a:r>
              <a:t>Rangel, F.; Firmino, F.; Lima, P. M. V.; Oliveira, J. (2016). Semi-Supervised Classification of Social Textual Data Using WiSARD. ESANN 2016, pp. 165-170.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Apresente a tese como uma fonte mais ampla. Ela não é um único experimento de classificação temática: integra uma aplicação concreta de POS tagging e uma análise matemática da capacidade de generalização.</a:t>
            </a:r>
          </a:p>
          <a:p>
            <a:endParaRPr/>
          </a:p>
          <a:p>
            <a:r>
              <a:t>[Sources]</a:t>
            </a:r>
          </a:p>
          <a:p>
            <a:r>
              <a:t>Carneiro, H. C. C. (2017). Theoretical Results on a Weightless Neural Classifier and Application to Computational Linguistics. Tese de Doutorado, COPPE/UFRJ.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 tagging é atribuir classe gramatical a cada palavra. Explique OOV como 'palavra que o sistema não viu no treino'. O achado prático importante é que uma representação mais rica - contexto, sufixos e depois prefixos - melhora o resultado.</a:t>
            </a:r>
          </a:p>
          <a:p>
            <a:endParaRPr/>
          </a:p>
          <a:p>
            <a:r>
              <a:t>[Sources]</a:t>
            </a:r>
          </a:p>
          <a:p>
            <a:r>
              <a:t>Carneiro, H. C. C. (2017). Theoretical Results on a Weightless Neural Classifier and Application to Computational Linguistics. Tese de Doutorado, COPPE/UFRJ.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Saturação aqui significa que muitas posições de memória são preenchidas e o classificador perde poder discriminativo. A tese obtém valores exatos da dimensão VC para as variantes tradicional e min-max bleaching analisadas, e conclui que os valores são idênticos.</a:t>
            </a:r>
          </a:p>
          <a:p>
            <a:endParaRPr/>
          </a:p>
          <a:p>
            <a:r>
              <a:t>[Sources]</a:t>
            </a:r>
          </a:p>
          <a:p>
            <a:r>
              <a:t>Carneiro, H. C. C. (2017). Theoretical Results on a Weightless Neural Classifier and Application to Computational Linguistics. Tese de Doutorado, COPPE/UFRJ.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Feche retomando a pergunta inicial: não se trata de substituir a análise humana por uma regra fixa, mas de encaminhar cada documento para a camada adequada e deixar evidências auditáveis. Convide perguntas sobre a diferença entre cobertura e acurácia, o papel da LLM e como a taxonomia é atualizada.</a:t>
            </a:r>
          </a:p>
          <a:p>
            <a:endParaRPr/>
          </a:p>
          <a:p>
            <a:r>
              <a:t>[Sources]</a:t>
            </a:r>
          </a:p>
          <a:p>
            <a:r>
              <a:t>Rangel, F.; Firmino, F.; Lima, P. M. V.; Oliveira, J. (2016). Semi-Supervised Classification of Social Textual Data Using WiSARD. ESANN 2016, pp. 165-170.</a:t>
            </a:r>
          </a:p>
          <a:p>
            <a:r>
              <a:t>Carneiro, H. C. C. (2017). Theoretical Results on a Weightless Neural Classifier and Application to Computational Linguistics. Tese de Doutorado, COPPE/UFRJ.</a:t>
            </a:r>
          </a:p>
          <a:p>
            <a:r>
              <a:t>dos Anjos, J. S. Classificação Incremental e Auditável de Crimes em Notícias Institucionais com Memória WNN e LLM Residual. Trabalho final (arquivo fornecido).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86F21F7-F955-4948-990A-36DC9DA2137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800100" cy="762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BF57FCA-D8DD-4370-89CA-0AB7778954D3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8858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WiSARD/WNN em textos:</a:t>
            </a:r>
          </a:p>
          <a:p>
            <a:pPr algn="l"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 teoria à aplicação auditável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CB318E8-D0B4-4F44-90C4-39D5CD5EF108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C9D5E5"/>
                </a:solidFill>
                <a:latin typeface="Aptos"/>
                <a:ea typeface="Aptos"/>
                <a:cs typeface="Aptos"/>
              </a:defRPr>
            </a:pPr>
            <a:r>
              <a:rPr sz="1875" b="0" dirty="0" err="1">
                <a:solidFill>
                  <a:srgbClr val="C9D5E5"/>
                </a:solidFill>
                <a:latin typeface="Aptos"/>
                <a:ea typeface="Aptos"/>
                <a:cs typeface="Aptos"/>
              </a:rPr>
              <a:t>Apresentação</a:t>
            </a:r>
            <a:r>
              <a:rPr sz="1875" b="0" dirty="0">
                <a:solidFill>
                  <a:srgbClr val="C9D5E5"/>
                </a:solidFill>
                <a:latin typeface="Aptos"/>
                <a:ea typeface="Aptos"/>
                <a:cs typeface="Aptos"/>
              </a:rPr>
              <a:t> dos </a:t>
            </a:r>
            <a:r>
              <a:rPr sz="1875" b="0" dirty="0" err="1">
                <a:solidFill>
                  <a:srgbClr val="C9D5E5"/>
                </a:solidFill>
                <a:latin typeface="Aptos"/>
                <a:ea typeface="Aptos"/>
                <a:cs typeface="Aptos"/>
              </a:rPr>
              <a:t>artigos</a:t>
            </a:r>
            <a:r>
              <a:rPr sz="1875" b="0" dirty="0">
                <a:solidFill>
                  <a:srgbClr val="C9D5E5"/>
                </a:solidFill>
                <a:latin typeface="Aptos"/>
                <a:ea typeface="Aptos"/>
                <a:cs typeface="Aptos"/>
              </a:rPr>
              <a:t> A</a:t>
            </a:r>
            <a:r>
              <a:rPr lang="pt-BR" sz="1875" b="0" dirty="0">
                <a:solidFill>
                  <a:srgbClr val="C9D5E5"/>
                </a:solidFill>
                <a:latin typeface="Aptos"/>
                <a:ea typeface="Aptos"/>
                <a:cs typeface="Aptos"/>
              </a:rPr>
              <a:t>A</a:t>
            </a:r>
            <a:endParaRPr sz="1875" b="0" dirty="0">
              <a:solidFill>
                <a:srgbClr val="C9D5E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D9DF204-927D-45DE-8104-3868E000015F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9D5E5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C9D5E5"/>
                </a:solidFill>
                <a:latin typeface="Aptos"/>
                <a:ea typeface="Aptos"/>
                <a:cs typeface="Aptos"/>
              </a:rPr>
              <a:t>Jefferson S. dos Anjos</a:t>
            </a:r>
          </a:p>
        </p:txBody>
      </p:sp>
    </p:spTree>
    <p:extLst>
      <p:ext uri="{BB962C8B-B14F-4D97-AF65-F5344CB8AC3E}">
        <p14:creationId xmlns:p14="http://schemas.microsoft.com/office/powerpoint/2010/main" val="224605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C5D787A5-976E-47EF-9935-DE6A5884F55D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609600" cy="571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D100AFB-08B2-4114-A43B-1A7A7A061BE2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VISÃO GERAL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9547005-6B50-4C3F-B4F8-25840A55BB93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6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lang="pt-PT" dirty="0"/>
              <a:t>Artigos apresentados</a:t>
            </a:r>
          </a:p>
          <a:p>
            <a:pPr algn="l">
              <a:defRPr sz="26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endParaRPr sz="2625" b="1" dirty="0">
              <a:solidFill>
                <a:srgbClr val="14213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8A42CA3-E128-4D57-ACDA-EA14943952F4}"/>
              </a:ext>
            </a:extLst>
          </p:cNvPr>
          <p:cNvSpPr>
            <a:spLocks noGrp="1"/>
          </p:cNvSpPr>
          <p:nvPr/>
        </p:nvSpPr>
        <p:spPr>
          <a:xfrm>
            <a:off x="10953750" y="68580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6B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B3712FA-B0AD-4986-A01E-84EFD630CAA8}"/>
              </a:ext>
            </a:extLst>
          </p:cNvPr>
          <p:cNvSpPr>
            <a:spLocks noGrp="1"/>
          </p:cNvSpPr>
          <p:nvPr/>
        </p:nvSpPr>
        <p:spPr>
          <a:xfrm>
            <a:off x="685800" y="2638844"/>
            <a:ext cx="10287000" cy="23154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marL="342900" indent="-342900">
              <a:buAutoNum type="arabicPeriod"/>
            </a:pPr>
            <a:r>
              <a:rPr lang="pt-PT" sz="2400" b="1" dirty="0"/>
              <a:t>Semi-Supervised Classification of Social Textual Data Using WiSARD </a:t>
            </a:r>
            <a:r>
              <a:rPr lang="pt-PT" sz="2400" dirty="0"/>
              <a:t>- Fabio Rangel, Fabricio Firmino, Priscila Machado Vieira Lima e Jonice Oliveira (2016).</a:t>
            </a:r>
          </a:p>
          <a:p>
            <a:pPr marL="342900" indent="-342900">
              <a:buAutoNum type="arabicPeriod"/>
            </a:pPr>
            <a:endParaRPr lang="pt-PT" sz="2400" dirty="0"/>
          </a:p>
          <a:p>
            <a:pPr marL="342900" indent="-342900">
              <a:buAutoNum type="arabicPeriod"/>
            </a:pPr>
            <a:r>
              <a:rPr lang="pt-PT" sz="2400" b="1" dirty="0"/>
              <a:t>Theoretical Results on a Weightless Neural Classifier and Application to Computational Linguistics </a:t>
            </a:r>
            <a:r>
              <a:rPr lang="pt-PT" sz="2400" dirty="0"/>
              <a:t>- Hugo Cesar de Castro Carneiro (2017).</a:t>
            </a:r>
          </a:p>
          <a:p>
            <a:pPr algn="l">
              <a:defRPr sz="20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endParaRPr sz="2025" b="1" dirty="0">
              <a:solidFill>
                <a:srgbClr val="14213D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5827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D2C775-AA5C-ECEF-54CB-CE07F6F94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4D809A54-E9C9-0874-B5F4-D805F3ECD590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609600" cy="571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ABC9842-9CCA-3623-7107-4AB115BF5D5F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VISÃO GERAL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D4137B2-2D4B-247E-B559-96CFC42E2E4B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625" b="1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Os</a:t>
            </a:r>
            <a:r>
              <a:rPr sz="2625" b="1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</a:t>
            </a:r>
            <a:r>
              <a:rPr lang="pt-BR" sz="2625" b="1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dois</a:t>
            </a:r>
            <a:r>
              <a:rPr sz="2625" b="1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</a:t>
            </a:r>
            <a:r>
              <a:rPr sz="2625" b="1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trabalhos</a:t>
            </a:r>
            <a:r>
              <a:rPr sz="2625" b="1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</a:t>
            </a:r>
            <a:r>
              <a:rPr sz="2625" b="1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respondem</a:t>
            </a:r>
            <a:r>
              <a:rPr sz="2625" b="1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a partes </a:t>
            </a:r>
            <a:r>
              <a:rPr sz="2625" b="1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complementares</a:t>
            </a:r>
            <a:r>
              <a:rPr sz="2625" b="1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do </a:t>
            </a:r>
            <a:r>
              <a:rPr sz="2625" b="1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mesmo</a:t>
            </a:r>
            <a:r>
              <a:rPr sz="2625" b="1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</a:t>
            </a:r>
            <a:r>
              <a:rPr sz="2625" b="1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problema</a:t>
            </a:r>
            <a:endParaRPr sz="2625" b="1" dirty="0">
              <a:solidFill>
                <a:srgbClr val="14213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626CF8C-1165-F231-472A-BE3C66485744}"/>
              </a:ext>
            </a:extLst>
          </p:cNvPr>
          <p:cNvSpPr>
            <a:spLocks noGrp="1"/>
          </p:cNvSpPr>
          <p:nvPr/>
        </p:nvSpPr>
        <p:spPr>
          <a:xfrm>
            <a:off x="10953750" y="68580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6B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F4A5B65-BB4E-E38E-CEC7-2CC23E1D3310}"/>
              </a:ext>
            </a:extLst>
          </p:cNvPr>
          <p:cNvSpPr>
            <a:spLocks noGrp="1"/>
          </p:cNvSpPr>
          <p:nvPr/>
        </p:nvSpPr>
        <p:spPr>
          <a:xfrm>
            <a:off x="1426509" y="2333625"/>
            <a:ext cx="285750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522E0A6-BB43-8A94-88AE-CD5BBB25989A}"/>
              </a:ext>
            </a:extLst>
          </p:cNvPr>
          <p:cNvSpPr>
            <a:spLocks noGrp="1"/>
          </p:cNvSpPr>
          <p:nvPr/>
        </p:nvSpPr>
        <p:spPr>
          <a:xfrm>
            <a:off x="1655109" y="25717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AA 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08C7F56-5CA0-3272-3686-7D83CBE22FC2}"/>
              </a:ext>
            </a:extLst>
          </p:cNvPr>
          <p:cNvSpPr>
            <a:spLocks noGrp="1"/>
          </p:cNvSpPr>
          <p:nvPr/>
        </p:nvSpPr>
        <p:spPr>
          <a:xfrm>
            <a:off x="1655109" y="30003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Aprender com poucos rótulos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C6B93AD-F82D-5FF6-3F40-24BC49678972}"/>
              </a:ext>
            </a:extLst>
          </p:cNvPr>
          <p:cNvSpPr>
            <a:spLocks noGrp="1"/>
          </p:cNvSpPr>
          <p:nvPr/>
        </p:nvSpPr>
        <p:spPr>
          <a:xfrm>
            <a:off x="1655109" y="3762375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A"/>
                </a:solidFill>
                <a:latin typeface="Aptos"/>
                <a:ea typeface="Aptos"/>
                <a:cs typeface="Aptos"/>
              </a:rPr>
              <a:t>WiSARD semissupervisionada para textos sociais.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6B3C5C3-4D7F-A5D9-1310-F71F12E709DA}"/>
              </a:ext>
            </a:extLst>
          </p:cNvPr>
          <p:cNvSpPr>
            <a:spLocks noGrp="1"/>
          </p:cNvSpPr>
          <p:nvPr/>
        </p:nvSpPr>
        <p:spPr>
          <a:xfrm>
            <a:off x="8096250" y="2333625"/>
            <a:ext cx="285750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D8D30BE-12D5-1CBB-DC2B-13A01055B82F}"/>
              </a:ext>
            </a:extLst>
          </p:cNvPr>
          <p:cNvSpPr>
            <a:spLocks noGrp="1"/>
          </p:cNvSpPr>
          <p:nvPr/>
        </p:nvSpPr>
        <p:spPr>
          <a:xfrm>
            <a:off x="8324850" y="25717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AA 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F4AF2F5-E5DD-4891-F2AF-76C0590EDACD}"/>
              </a:ext>
            </a:extLst>
          </p:cNvPr>
          <p:cNvSpPr>
            <a:spLocks noGrp="1"/>
          </p:cNvSpPr>
          <p:nvPr/>
        </p:nvSpPr>
        <p:spPr>
          <a:xfrm>
            <a:off x="8324850" y="30003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Entender por que funciona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96A58D1-87F1-B1D4-743F-7F7D938BB5CF}"/>
              </a:ext>
            </a:extLst>
          </p:cNvPr>
          <p:cNvSpPr>
            <a:spLocks noGrp="1"/>
          </p:cNvSpPr>
          <p:nvPr/>
        </p:nvSpPr>
        <p:spPr>
          <a:xfrm>
            <a:off x="8324850" y="3762375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E6B7A"/>
                </a:solidFill>
                <a:latin typeface="Aptos"/>
                <a:ea typeface="Aptos"/>
                <a:cs typeface="Aptos"/>
              </a:rPr>
              <a:t>Bleaching, </a:t>
            </a:r>
            <a:r>
              <a:rPr sz="1350" b="0" dirty="0" err="1">
                <a:solidFill>
                  <a:srgbClr val="5E6B7A"/>
                </a:solidFill>
                <a:latin typeface="Aptos"/>
                <a:ea typeface="Aptos"/>
                <a:cs typeface="Aptos"/>
              </a:rPr>
              <a:t>capacidade</a:t>
            </a:r>
            <a:r>
              <a:rPr sz="1350" b="0" dirty="0">
                <a:solidFill>
                  <a:srgbClr val="5E6B7A"/>
                </a:solidFill>
                <a:latin typeface="Aptos"/>
                <a:ea typeface="Aptos"/>
                <a:cs typeface="Aptos"/>
              </a:rPr>
              <a:t> de </a:t>
            </a:r>
            <a:r>
              <a:rPr sz="1350" b="0" dirty="0" err="1">
                <a:solidFill>
                  <a:srgbClr val="5E6B7A"/>
                </a:solidFill>
                <a:latin typeface="Aptos"/>
                <a:ea typeface="Aptos"/>
                <a:cs typeface="Aptos"/>
              </a:rPr>
              <a:t>generalização</a:t>
            </a:r>
            <a:r>
              <a:rPr sz="1350" b="0" dirty="0">
                <a:solidFill>
                  <a:srgbClr val="5E6B7A"/>
                </a:solidFill>
                <a:latin typeface="Aptos"/>
                <a:ea typeface="Aptos"/>
                <a:cs typeface="Aptos"/>
              </a:rPr>
              <a:t> e POS </a:t>
            </a:r>
            <a:r>
              <a:rPr sz="1350" b="0" dirty="0" err="1">
                <a:solidFill>
                  <a:srgbClr val="5E6B7A"/>
                </a:solidFill>
                <a:latin typeface="Aptos"/>
                <a:ea typeface="Aptos"/>
                <a:cs typeface="Aptos"/>
              </a:rPr>
              <a:t>multilíngue</a:t>
            </a:r>
            <a:r>
              <a:rPr sz="1350" b="0" dirty="0">
                <a:solidFill>
                  <a:srgbClr val="5E6B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E5EE8317-E116-65E6-6A34-88CE7C5362D2}"/>
              </a:ext>
            </a:extLst>
          </p:cNvPr>
          <p:cNvSpPr>
            <a:spLocks noGrp="1"/>
          </p:cNvSpPr>
          <p:nvPr/>
        </p:nvSpPr>
        <p:spPr>
          <a:xfrm>
            <a:off x="4284008" y="3162299"/>
            <a:ext cx="3367369" cy="492919"/>
          </a:xfrm>
          <a:prstGeom prst="rightArrow">
            <a:avLst/>
          </a:prstGeom>
          <a:solidFill>
            <a:srgbClr val="2F5D8C"/>
          </a:solidFill>
          <a:ln w="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C154D70-CE21-4EF4-45BC-DDAC6364C369}"/>
              </a:ext>
            </a:extLst>
          </p:cNvPr>
          <p:cNvSpPr>
            <a:spLocks noGrp="1"/>
          </p:cNvSpPr>
          <p:nvPr/>
        </p:nvSpPr>
        <p:spPr>
          <a:xfrm>
            <a:off x="857250" y="5219700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Fio condutor: aprendizagem incremental, representação binária e decisões explicáveis.</a:t>
            </a:r>
          </a:p>
        </p:txBody>
      </p:sp>
    </p:spTree>
    <p:extLst>
      <p:ext uri="{BB962C8B-B14F-4D97-AF65-F5344CB8AC3E}">
        <p14:creationId xmlns:p14="http://schemas.microsoft.com/office/powerpoint/2010/main" val="3206754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33D181B8-A47D-4568-8D97-3B854CF961D0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609600" cy="571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AF0BA8B-13D8-4619-9891-B8192A5A94B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AA 1 | RANGEL ET AL. (2016)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5E68338-AC76-4705-9ED6-64DDD5ABB9F0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Textos sociais mudam rápido, mas rotular tudo é caro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F5D9C1D-EA14-4F52-830A-C09962930F34}"/>
              </a:ext>
            </a:extLst>
          </p:cNvPr>
          <p:cNvSpPr>
            <a:spLocks noGrp="1"/>
          </p:cNvSpPr>
          <p:nvPr/>
        </p:nvSpPr>
        <p:spPr>
          <a:xfrm>
            <a:off x="10953750" y="68580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6B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8FC6322-F434-46CE-A729-A94E1E00BEA8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Desafio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6B638D2-CA3A-4D5C-A1AB-10E93941637F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D839621-606C-4D9C-B43A-4CEAB46D5526}"/>
              </a:ext>
            </a:extLst>
          </p:cNvPr>
          <p:cNvSpPr>
            <a:spLocks noGrp="1"/>
          </p:cNvSpPr>
          <p:nvPr/>
        </p:nvSpPr>
        <p:spPr>
          <a:xfrm>
            <a:off x="1123950" y="2571750"/>
            <a:ext cx="4210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Posts curtos, vocabulário amplo, gírias e hashtags novas.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C520B64-B700-4B74-9F16-6C40462518B0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6BB6153-F307-405D-A18E-EEAEDEF41D48}"/>
              </a:ext>
            </a:extLst>
          </p:cNvPr>
          <p:cNvSpPr>
            <a:spLocks noGrp="1"/>
          </p:cNvSpPr>
          <p:nvPr/>
        </p:nvSpPr>
        <p:spPr>
          <a:xfrm>
            <a:off x="1123950" y="3333750"/>
            <a:ext cx="4210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A distribuição das classes pode mudar com a opinião pública.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83ADEBD-A16E-4B1A-B453-0AD30C097D49}"/>
              </a:ext>
            </a:extLst>
          </p:cNvPr>
          <p:cNvSpPr>
            <a:spLocks noGrp="1"/>
          </p:cNvSpPr>
          <p:nvPr/>
        </p:nvSpPr>
        <p:spPr>
          <a:xfrm>
            <a:off x="857250" y="40957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9D533DA-26C9-460D-AEA8-BBC8B0E6DFD6}"/>
              </a:ext>
            </a:extLst>
          </p:cNvPr>
          <p:cNvSpPr>
            <a:spLocks noGrp="1"/>
          </p:cNvSpPr>
          <p:nvPr/>
        </p:nvSpPr>
        <p:spPr>
          <a:xfrm>
            <a:off x="1123950" y="4095750"/>
            <a:ext cx="4210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Há</a:t>
            </a:r>
            <a:r>
              <a:rPr sz="1575" b="0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muito</a:t>
            </a:r>
            <a:r>
              <a:rPr sz="1575" b="0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mais</a:t>
            </a:r>
            <a:r>
              <a:rPr sz="1575" b="0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dado </a:t>
            </a:r>
            <a:r>
              <a:rPr sz="1575" b="0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não</a:t>
            </a:r>
            <a:r>
              <a:rPr sz="1575" b="0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rotulado</a:t>
            </a:r>
            <a:r>
              <a:rPr sz="1575" b="0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que</a:t>
            </a:r>
            <a:r>
              <a:rPr sz="1575" b="0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dado </a:t>
            </a:r>
            <a:r>
              <a:rPr sz="1575" b="0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rotulado</a:t>
            </a:r>
            <a:r>
              <a:rPr sz="1575" b="0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734C72C-7F8B-4EA3-8269-5F266598D765}"/>
              </a:ext>
            </a:extLst>
          </p:cNvPr>
          <p:cNvSpPr>
            <a:spLocks noGrp="1"/>
          </p:cNvSpPr>
          <p:nvPr/>
        </p:nvSpPr>
        <p:spPr>
          <a:xfrm>
            <a:off x="6572250" y="2171700"/>
            <a:ext cx="4000500" cy="2524125"/>
          </a:xfrm>
          <a:prstGeom prst="roundRect">
            <a:avLst>
              <a:gd name="adj" fmla="val 4528"/>
            </a:avLst>
          </a:prstGeom>
          <a:solidFill>
            <a:srgbClr val="E8F1F8"/>
          </a:solidFill>
          <a:ln w="9525">
            <a:solidFill>
              <a:srgbClr val="BED2E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2AD377D-5B8D-439A-9E86-208AF66DF902}"/>
              </a:ext>
            </a:extLst>
          </p:cNvPr>
          <p:cNvSpPr>
            <a:spLocks noGrp="1"/>
          </p:cNvSpPr>
          <p:nvPr/>
        </p:nvSpPr>
        <p:spPr>
          <a:xfrm>
            <a:off x="6858000" y="25336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Pergunta do artigo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0BA9B30-4D2E-4F12-9035-5020D284855C}"/>
              </a:ext>
            </a:extLst>
          </p:cNvPr>
          <p:cNvSpPr>
            <a:spLocks noGrp="1"/>
          </p:cNvSpPr>
          <p:nvPr/>
        </p:nvSpPr>
        <p:spPr>
          <a:xfrm>
            <a:off x="6858000" y="2928937"/>
            <a:ext cx="3143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Como </a:t>
            </a:r>
            <a:r>
              <a:rPr sz="1800" b="1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explorar</a:t>
            </a:r>
            <a:r>
              <a:rPr sz="1800" b="1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1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textos</a:t>
            </a:r>
            <a:r>
              <a:rPr sz="1800" b="1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1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não</a:t>
            </a:r>
            <a:r>
              <a:rPr sz="1800" b="1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1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rotulados</a:t>
            </a:r>
            <a:endParaRPr sz="1800" b="1" dirty="0">
              <a:solidFill>
                <a:srgbClr val="14213D"/>
              </a:solidFill>
              <a:latin typeface="Aptos"/>
              <a:ea typeface="Aptos"/>
              <a:cs typeface="Aptos"/>
            </a:endParaRPr>
          </a:p>
          <a:p>
            <a:pPr algn="l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sem</a:t>
            </a:r>
            <a:r>
              <a:rPr sz="1800" b="1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1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perder</a:t>
            </a:r>
            <a:r>
              <a:rPr sz="1800" b="1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1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velocidade</a:t>
            </a:r>
            <a:r>
              <a:rPr sz="1800" b="1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1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em</a:t>
            </a:r>
            <a:r>
              <a:rPr sz="1800" b="1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1" dirty="0" err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fluxo</a:t>
            </a:r>
            <a:r>
              <a:rPr sz="1800" b="1" dirty="0">
                <a:solidFill>
                  <a:srgbClr val="14213D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4BBD1C3-64FF-4E69-8408-4FA3E9F9D909}"/>
              </a:ext>
            </a:extLst>
          </p:cNvPr>
          <p:cNvSpPr>
            <a:spLocks noGrp="1"/>
          </p:cNvSpPr>
          <p:nvPr/>
        </p:nvSpPr>
        <p:spPr>
          <a:xfrm>
            <a:off x="6858000" y="4208929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1275" b="1" dirty="0" err="1">
                <a:solidFill>
                  <a:srgbClr val="167C80"/>
                </a:solidFill>
                <a:latin typeface="Aptos"/>
                <a:ea typeface="Aptos"/>
                <a:cs typeface="Aptos"/>
              </a:rPr>
              <a:t>Proposta</a:t>
            </a:r>
            <a:r>
              <a:rPr sz="1275" b="1" dirty="0">
                <a:solidFill>
                  <a:srgbClr val="167C80"/>
                </a:solidFill>
                <a:latin typeface="Aptos"/>
                <a:ea typeface="Aptos"/>
                <a:cs typeface="Aptos"/>
              </a:rPr>
              <a:t>: Semi-Supervised </a:t>
            </a:r>
            <a:r>
              <a:rPr sz="1275" b="1" dirty="0" err="1">
                <a:solidFill>
                  <a:srgbClr val="167C80"/>
                </a:solidFill>
                <a:latin typeface="Aptos"/>
                <a:ea typeface="Aptos"/>
                <a:cs typeface="Aptos"/>
              </a:rPr>
              <a:t>WiSARD</a:t>
            </a:r>
            <a:r>
              <a:rPr sz="1275" b="1" dirty="0">
                <a:solidFill>
                  <a:srgbClr val="167C80"/>
                </a:solidFill>
                <a:latin typeface="Aptos"/>
                <a:ea typeface="Aptos"/>
                <a:cs typeface="Aptos"/>
              </a:rPr>
              <a:t> (SSW)</a:t>
            </a:r>
          </a:p>
        </p:txBody>
      </p:sp>
    </p:spTree>
    <p:extLst>
      <p:ext uri="{BB962C8B-B14F-4D97-AF65-F5344CB8AC3E}">
        <p14:creationId xmlns:p14="http://schemas.microsoft.com/office/powerpoint/2010/main" val="459134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A249C06-EAFA-45D4-8B9D-C8190CCDF169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609600" cy="571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D55F098-7FC9-469F-9C8A-77AB6BE52F46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AA 1 | MÉTODO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9C8E1FD-223F-435A-A08F-614D5A5D0FFF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 SSW transforma a WiSARD em um classificador de autoaprendizado controlado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87FA307-7F9C-4DEF-891D-AA81B50C4BB0}"/>
              </a:ext>
            </a:extLst>
          </p:cNvPr>
          <p:cNvSpPr>
            <a:spLocks noGrp="1"/>
          </p:cNvSpPr>
          <p:nvPr/>
        </p:nvSpPr>
        <p:spPr>
          <a:xfrm>
            <a:off x="10953750" y="68580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6B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B1DD595-B9CA-4DD6-AC43-B84EDB433C8A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2238375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F6210DD-D9E0-4CA1-8F52-945D745EFCC6}"/>
              </a:ext>
            </a:extLst>
          </p:cNvPr>
          <p:cNvSpPr>
            <a:spLocks noGrp="1"/>
          </p:cNvSpPr>
          <p:nvPr/>
        </p:nvSpPr>
        <p:spPr>
          <a:xfrm>
            <a:off x="952500" y="2857500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1. Treinar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6F22EAC-4FDD-4C87-99EC-6FCBBD131DF1}"/>
              </a:ext>
            </a:extLst>
          </p:cNvPr>
          <p:cNvSpPr>
            <a:spLocks noGrp="1"/>
          </p:cNvSpPr>
          <p:nvPr/>
        </p:nvSpPr>
        <p:spPr>
          <a:xfrm>
            <a:off x="952500" y="3295650"/>
            <a:ext cx="18573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Padrões rotulados alimentam os discriminadores.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252B6212-3FC3-411D-9869-114E9CA6BE23}"/>
              </a:ext>
            </a:extLst>
          </p:cNvPr>
          <p:cNvSpPr>
            <a:spLocks noGrp="1"/>
          </p:cNvSpPr>
          <p:nvPr/>
        </p:nvSpPr>
        <p:spPr>
          <a:xfrm>
            <a:off x="3067050" y="3238500"/>
            <a:ext cx="361950" cy="238125"/>
          </a:xfrm>
          <a:prstGeom prst="rightArrow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9B19840-58BB-4293-913C-A9FE5EAAC615}"/>
              </a:ext>
            </a:extLst>
          </p:cNvPr>
          <p:cNvSpPr>
            <a:spLocks noGrp="1"/>
          </p:cNvSpPr>
          <p:nvPr/>
        </p:nvSpPr>
        <p:spPr>
          <a:xfrm>
            <a:off x="3543300" y="2571750"/>
            <a:ext cx="2238375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EFCD7DC-A6D2-4B7C-BCA0-5B2C3C43B5E5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2. Predizer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5FBEDB9-8C6C-4A7A-B49E-123A77F3AE4B}"/>
              </a:ext>
            </a:extLst>
          </p:cNvPr>
          <p:cNvSpPr>
            <a:spLocks noGrp="1"/>
          </p:cNvSpPr>
          <p:nvPr/>
        </p:nvSpPr>
        <p:spPr>
          <a:xfrm>
            <a:off x="3714750" y="3295650"/>
            <a:ext cx="18573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Cada texto binário ativa memórias RAM por classe.</a:t>
            </a:r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91D5B645-7BEA-4FDD-A9B2-0E5DAF3BD23A}"/>
              </a:ext>
            </a:extLst>
          </p:cNvPr>
          <p:cNvSpPr>
            <a:spLocks noGrp="1"/>
          </p:cNvSpPr>
          <p:nvPr/>
        </p:nvSpPr>
        <p:spPr>
          <a:xfrm>
            <a:off x="5829300" y="3238500"/>
            <a:ext cx="361950" cy="238125"/>
          </a:xfrm>
          <a:prstGeom prst="rightArrow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BAF6271-5463-40EE-A4E8-901BA70A005B}"/>
              </a:ext>
            </a:extLst>
          </p:cNvPr>
          <p:cNvSpPr>
            <a:spLocks noGrp="1"/>
          </p:cNvSpPr>
          <p:nvPr/>
        </p:nvSpPr>
        <p:spPr>
          <a:xfrm>
            <a:off x="6305550" y="2571750"/>
            <a:ext cx="2238375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7A540A0-04F1-49E2-AAF7-31C544694553}"/>
              </a:ext>
            </a:extLst>
          </p:cNvPr>
          <p:cNvSpPr>
            <a:spLocks noGrp="1"/>
          </p:cNvSpPr>
          <p:nvPr/>
        </p:nvSpPr>
        <p:spPr>
          <a:xfrm>
            <a:off x="6477000" y="2857500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3. Medir confiança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434B2C3-2797-4AF7-8922-B3A39A45F032}"/>
              </a:ext>
            </a:extLst>
          </p:cNvPr>
          <p:cNvSpPr>
            <a:spLocks noGrp="1"/>
          </p:cNvSpPr>
          <p:nvPr/>
        </p:nvSpPr>
        <p:spPr>
          <a:xfrm>
            <a:off x="6477000" y="3295650"/>
            <a:ext cx="18573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Compara a melhor e a segunda melhor resposta.</a:t>
            </a:r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3995AB2F-52AB-4315-9B21-F04F57CC12F3}"/>
              </a:ext>
            </a:extLst>
          </p:cNvPr>
          <p:cNvSpPr>
            <a:spLocks noGrp="1"/>
          </p:cNvSpPr>
          <p:nvPr/>
        </p:nvSpPr>
        <p:spPr>
          <a:xfrm>
            <a:off x="8591550" y="3238500"/>
            <a:ext cx="361950" cy="238125"/>
          </a:xfrm>
          <a:prstGeom prst="rightArrow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894225B-0248-4286-A3B4-F15E92F44F32}"/>
              </a:ext>
            </a:extLst>
          </p:cNvPr>
          <p:cNvSpPr>
            <a:spLocks noGrp="1"/>
          </p:cNvSpPr>
          <p:nvPr/>
        </p:nvSpPr>
        <p:spPr>
          <a:xfrm>
            <a:off x="9067800" y="2571750"/>
            <a:ext cx="2238375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4FE8865-8418-4EF7-A922-EED79A475FEB}"/>
              </a:ext>
            </a:extLst>
          </p:cNvPr>
          <p:cNvSpPr>
            <a:spLocks noGrp="1"/>
          </p:cNvSpPr>
          <p:nvPr/>
        </p:nvSpPr>
        <p:spPr>
          <a:xfrm>
            <a:off x="9239250" y="2857500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4. Realimentar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8BF3F9E-F515-496B-9A12-33F6EB3050E7}"/>
              </a:ext>
            </a:extLst>
          </p:cNvPr>
          <p:cNvSpPr>
            <a:spLocks noGrp="1"/>
          </p:cNvSpPr>
          <p:nvPr/>
        </p:nvSpPr>
        <p:spPr>
          <a:xfrm>
            <a:off x="9239250" y="3295650"/>
            <a:ext cx="18573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Só exemplos acima do limiar entram como treino.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6A855FC-8207-4A84-800A-8DBE6CDA1AF4}"/>
              </a:ext>
            </a:extLst>
          </p:cNvPr>
          <p:cNvSpPr>
            <a:spLocks noGrp="1"/>
          </p:cNvSpPr>
          <p:nvPr/>
        </p:nvSpPr>
        <p:spPr>
          <a:xfrm>
            <a:off x="781050" y="51244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A adaptação textual evita que padrões totalmente nulos influenciem a decisão, reduzindo o efeito da esparsidade.</a:t>
            </a:r>
          </a:p>
        </p:txBody>
      </p:sp>
    </p:spTree>
    <p:extLst>
      <p:ext uri="{BB962C8B-B14F-4D97-AF65-F5344CB8AC3E}">
        <p14:creationId xmlns:p14="http://schemas.microsoft.com/office/powerpoint/2010/main" val="755198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4C8EB2FC-5F14-4190-831A-EE23DEB83681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609600" cy="571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29C1A24-C3E6-4E6E-98DA-A275B7C08E64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AA 1 | EVIDÊNCIAS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126EF2E-1765-4EB5-A72D-20662EBC1FC4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 SSW troca pequena perda de acurácia por grande ganho de tempo de treinamento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0218296-4376-4C0F-8FB2-631A676275EF}"/>
              </a:ext>
            </a:extLst>
          </p:cNvPr>
          <p:cNvSpPr>
            <a:spLocks noGrp="1"/>
          </p:cNvSpPr>
          <p:nvPr/>
        </p:nvSpPr>
        <p:spPr>
          <a:xfrm>
            <a:off x="10953750" y="68580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6B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07149EF-742F-4F39-AAE5-080E71A5E341}"/>
              </a:ext>
            </a:extLst>
          </p:cNvPr>
          <p:cNvSpPr>
            <a:spLocks noGrp="1"/>
          </p:cNvSpPr>
          <p:nvPr/>
        </p:nvSpPr>
        <p:spPr>
          <a:xfrm>
            <a:off x="876300" y="20478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Acurácia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CFCAE5B-5BEF-41DB-B3A3-B88993D82718}"/>
              </a:ext>
            </a:extLst>
          </p:cNvPr>
          <p:cNvSpPr>
            <a:spLocks noGrp="1"/>
          </p:cNvSpPr>
          <p:nvPr/>
        </p:nvSpPr>
        <p:spPr>
          <a:xfrm>
            <a:off x="876300" y="2533650"/>
            <a:ext cx="1095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OMD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72A04A8-CCAB-442A-AB5A-43B43E5EEFB0}"/>
              </a:ext>
            </a:extLst>
          </p:cNvPr>
          <p:cNvSpPr>
            <a:spLocks noGrp="1"/>
          </p:cNvSpPr>
          <p:nvPr/>
        </p:nvSpPr>
        <p:spPr>
          <a:xfrm>
            <a:off x="2000250" y="2562225"/>
            <a:ext cx="1825704" cy="171450"/>
          </a:xfrm>
          <a:prstGeom prst="rect">
            <a:avLst/>
          </a:prstGeom>
          <a:solidFill>
            <a:srgbClr val="167C80"/>
          </a:solidFill>
          <a:ln w="0">
            <a:solidFill>
              <a:srgbClr val="167C8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0785A95-3504-4926-90AB-4DED69ABD918}"/>
              </a:ext>
            </a:extLst>
          </p:cNvPr>
          <p:cNvSpPr>
            <a:spLocks noGrp="1"/>
          </p:cNvSpPr>
          <p:nvPr/>
        </p:nvSpPr>
        <p:spPr>
          <a:xfrm>
            <a:off x="4048125" y="25336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69.7%  SSW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C893121-39DC-4A71-8C83-B3EEE077D0DC}"/>
              </a:ext>
            </a:extLst>
          </p:cNvPr>
          <p:cNvSpPr>
            <a:spLocks noGrp="1"/>
          </p:cNvSpPr>
          <p:nvPr/>
        </p:nvSpPr>
        <p:spPr>
          <a:xfrm>
            <a:off x="2000250" y="2809875"/>
            <a:ext cx="1883331" cy="171450"/>
          </a:xfrm>
          <a:prstGeom prst="rect">
            <a:avLst/>
          </a:prstGeom>
          <a:solidFill>
            <a:srgbClr val="2F5D8C"/>
          </a:solidFill>
          <a:ln w="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141ABF1-C5A7-46E2-8D8F-BBCE066171E7}"/>
              </a:ext>
            </a:extLst>
          </p:cNvPr>
          <p:cNvSpPr>
            <a:spLocks noGrp="1"/>
          </p:cNvSpPr>
          <p:nvPr/>
        </p:nvSpPr>
        <p:spPr>
          <a:xfrm>
            <a:off x="4048125" y="27813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71.9%  S3VM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779099B-C2E4-4A51-8E94-979F8D860416}"/>
              </a:ext>
            </a:extLst>
          </p:cNvPr>
          <p:cNvSpPr>
            <a:spLocks noGrp="1"/>
          </p:cNvSpPr>
          <p:nvPr/>
        </p:nvSpPr>
        <p:spPr>
          <a:xfrm>
            <a:off x="876300" y="3200400"/>
            <a:ext cx="1095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STS-Gold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EAB4396-30C4-4FEF-B802-418DE1DF1589}"/>
              </a:ext>
            </a:extLst>
          </p:cNvPr>
          <p:cNvSpPr>
            <a:spLocks noGrp="1"/>
          </p:cNvSpPr>
          <p:nvPr/>
        </p:nvSpPr>
        <p:spPr>
          <a:xfrm>
            <a:off x="2000250" y="3228975"/>
            <a:ext cx="1990725" cy="171450"/>
          </a:xfrm>
          <a:prstGeom prst="rect">
            <a:avLst/>
          </a:prstGeom>
          <a:solidFill>
            <a:srgbClr val="167C80"/>
          </a:solidFill>
          <a:ln w="0">
            <a:solidFill>
              <a:srgbClr val="167C8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63A8AC5-56C3-4710-A1B2-5A924BF84938}"/>
              </a:ext>
            </a:extLst>
          </p:cNvPr>
          <p:cNvSpPr>
            <a:spLocks noGrp="1"/>
          </p:cNvSpPr>
          <p:nvPr/>
        </p:nvSpPr>
        <p:spPr>
          <a:xfrm>
            <a:off x="4048125" y="32004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76%  SSW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2F6B6D2-68DD-4E78-B97F-42A0F7153FB3}"/>
              </a:ext>
            </a:extLst>
          </p:cNvPr>
          <p:cNvSpPr>
            <a:spLocks noGrp="1"/>
          </p:cNvSpPr>
          <p:nvPr/>
        </p:nvSpPr>
        <p:spPr>
          <a:xfrm>
            <a:off x="2000250" y="3476625"/>
            <a:ext cx="2037874" cy="171450"/>
          </a:xfrm>
          <a:prstGeom prst="rect">
            <a:avLst/>
          </a:prstGeom>
          <a:solidFill>
            <a:srgbClr val="2F5D8C"/>
          </a:solidFill>
          <a:ln w="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DDA4386-F223-40D3-87AC-41DCAC2C0C04}"/>
              </a:ext>
            </a:extLst>
          </p:cNvPr>
          <p:cNvSpPr>
            <a:spLocks noGrp="1"/>
          </p:cNvSpPr>
          <p:nvPr/>
        </p:nvSpPr>
        <p:spPr>
          <a:xfrm>
            <a:off x="4048125" y="34480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77.8%  S3VM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FC03593-AB72-4DC4-AD20-8F6031D79588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1095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IMDB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4E590AC-741E-4A67-B735-89AE5C19CA37}"/>
              </a:ext>
            </a:extLst>
          </p:cNvPr>
          <p:cNvSpPr>
            <a:spLocks noGrp="1"/>
          </p:cNvSpPr>
          <p:nvPr/>
        </p:nvSpPr>
        <p:spPr>
          <a:xfrm>
            <a:off x="2000250" y="3895725"/>
            <a:ext cx="1668542" cy="171450"/>
          </a:xfrm>
          <a:prstGeom prst="rect">
            <a:avLst/>
          </a:prstGeom>
          <a:solidFill>
            <a:srgbClr val="167C80"/>
          </a:solidFill>
          <a:ln w="0">
            <a:solidFill>
              <a:srgbClr val="167C8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641107E-CF5D-4BA1-A4A4-6A4420B38831}"/>
              </a:ext>
            </a:extLst>
          </p:cNvPr>
          <p:cNvSpPr>
            <a:spLocks noGrp="1"/>
          </p:cNvSpPr>
          <p:nvPr/>
        </p:nvSpPr>
        <p:spPr>
          <a:xfrm>
            <a:off x="4048125" y="38671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63.7%  SSW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E8FB335-866D-47DC-A030-6B1453AECBA5}"/>
              </a:ext>
            </a:extLst>
          </p:cNvPr>
          <p:cNvSpPr>
            <a:spLocks noGrp="1"/>
          </p:cNvSpPr>
          <p:nvPr/>
        </p:nvSpPr>
        <p:spPr>
          <a:xfrm>
            <a:off x="2000250" y="4143375"/>
            <a:ext cx="1786414" cy="171450"/>
          </a:xfrm>
          <a:prstGeom prst="rect">
            <a:avLst/>
          </a:prstGeom>
          <a:solidFill>
            <a:srgbClr val="2F5D8C"/>
          </a:solidFill>
          <a:ln w="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C7407FC-4049-4886-9848-E478108564B9}"/>
              </a:ext>
            </a:extLst>
          </p:cNvPr>
          <p:cNvSpPr>
            <a:spLocks noGrp="1"/>
          </p:cNvSpPr>
          <p:nvPr/>
        </p:nvSpPr>
        <p:spPr>
          <a:xfrm>
            <a:off x="4048125" y="41148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68.2%  S3VM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A03E2E2-B1E3-49E8-9D4D-145BC2E2013E}"/>
              </a:ext>
            </a:extLst>
          </p:cNvPr>
          <p:cNvSpPr>
            <a:spLocks noGrp="1"/>
          </p:cNvSpPr>
          <p:nvPr/>
        </p:nvSpPr>
        <p:spPr>
          <a:xfrm>
            <a:off x="6667500" y="2038350"/>
            <a:ext cx="3905250" cy="2667000"/>
          </a:xfrm>
          <a:prstGeom prst="roundRect">
            <a:avLst>
              <a:gd name="adj" fmla="val 4286"/>
            </a:avLst>
          </a:prstGeom>
          <a:solidFill>
            <a:srgbClr val="FFF8E6"/>
          </a:solidFill>
          <a:ln w="9525">
            <a:solidFill>
              <a:srgbClr val="F0D18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EBA60CA-0EBE-4AB9-9101-0AF3316D6F9C}"/>
              </a:ext>
            </a:extLst>
          </p:cNvPr>
          <p:cNvSpPr>
            <a:spLocks noGrp="1"/>
          </p:cNvSpPr>
          <p:nvPr/>
        </p:nvSpPr>
        <p:spPr>
          <a:xfrm>
            <a:off x="6953250" y="23336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D96C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6C4B"/>
                </a:solidFill>
                <a:latin typeface="Aptos"/>
                <a:ea typeface="Aptos"/>
                <a:cs typeface="Aptos"/>
              </a:rPr>
              <a:t>Tempo de ajuste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A1E81F8-93D8-44DC-BFC1-31A5D6558BCA}"/>
              </a:ext>
            </a:extLst>
          </p:cNvPr>
          <p:cNvSpPr>
            <a:spLocks noGrp="1"/>
          </p:cNvSpPr>
          <p:nvPr/>
        </p:nvSpPr>
        <p:spPr>
          <a:xfrm>
            <a:off x="6953250" y="28860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IMDB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189A167-9950-4A25-BE54-5E16EB239990}"/>
              </a:ext>
            </a:extLst>
          </p:cNvPr>
          <p:cNvSpPr>
            <a:spLocks noGrp="1"/>
          </p:cNvSpPr>
          <p:nvPr/>
        </p:nvSpPr>
        <p:spPr>
          <a:xfrm>
            <a:off x="6953250" y="32575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SSW: 0,21 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FAC1F5F-046E-4954-A3BD-954C80C9DC75}"/>
              </a:ext>
            </a:extLst>
          </p:cNvPr>
          <p:cNvSpPr>
            <a:spLocks noGrp="1"/>
          </p:cNvSpPr>
          <p:nvPr/>
        </p:nvSpPr>
        <p:spPr>
          <a:xfrm>
            <a:off x="6953250" y="3714750"/>
            <a:ext cx="2381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S3VM: 15,13 s</a:t>
            </a:r>
          </a:p>
          <a:p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EM-NB: 66,94 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274A73B-EE89-4B56-8918-6D48D65E19AB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E6B7A"/>
                </a:solidFill>
                <a:latin typeface="Aptos"/>
                <a:ea typeface="Aptos"/>
                <a:cs typeface="Aptos"/>
              </a:rPr>
              <a:t>Leitura correta: S3VM vence em acurácia, mas SSW é muito mais rápida para treinar.</a:t>
            </a:r>
          </a:p>
        </p:txBody>
      </p:sp>
    </p:spTree>
    <p:extLst>
      <p:ext uri="{BB962C8B-B14F-4D97-AF65-F5344CB8AC3E}">
        <p14:creationId xmlns:p14="http://schemas.microsoft.com/office/powerpoint/2010/main" val="1804345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7D68C76A-2993-4856-94FD-FFB6C1469348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609600" cy="571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BB2FF44-9ADA-43AF-A6FF-7BA62CFFF948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AA 2 | CARNEIRO (2017)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CB9690-16C3-46BA-BBF1-6B1A356E94AF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 tese amplia a discussão: desempenho prático precisa de explicação teórica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A98D30A-6CDF-4718-9955-82E70124AC00}"/>
              </a:ext>
            </a:extLst>
          </p:cNvPr>
          <p:cNvSpPr>
            <a:spLocks noGrp="1"/>
          </p:cNvSpPr>
          <p:nvPr/>
        </p:nvSpPr>
        <p:spPr>
          <a:xfrm>
            <a:off x="10953750" y="68580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6B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CA50072-D071-4BBA-87AF-DABB24F482CE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Duas frentes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E264318-35F6-4B91-88D3-273B99BDEBF7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44767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AD5AC46-D505-431C-9A4D-6C675D14D41D}"/>
              </a:ext>
            </a:extLst>
          </p:cNvPr>
          <p:cNvSpPr>
            <a:spLocks noGrp="1"/>
          </p:cNvSpPr>
          <p:nvPr/>
        </p:nvSpPr>
        <p:spPr>
          <a:xfrm>
            <a:off x="1143000" y="30003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Linguística computacional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19A67B6-E315-44D7-A314-FE3AAC6D5422}"/>
              </a:ext>
            </a:extLst>
          </p:cNvPr>
          <p:cNvSpPr>
            <a:spLocks noGrp="1"/>
          </p:cNvSpPr>
          <p:nvPr/>
        </p:nvSpPr>
        <p:spPr>
          <a:xfrm>
            <a:off x="1143000" y="347662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131628A-5A45-49BD-AE91-9288899FF01A}"/>
              </a:ext>
            </a:extLst>
          </p:cNvPr>
          <p:cNvSpPr>
            <a:spLocks noGrp="1"/>
          </p:cNvSpPr>
          <p:nvPr/>
        </p:nvSpPr>
        <p:spPr>
          <a:xfrm>
            <a:off x="1409700" y="3476625"/>
            <a:ext cx="335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mWANN-Tagger para etiquetagem gramatical (POS).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9376568-D9FD-461B-B1C1-5F08517C5469}"/>
              </a:ext>
            </a:extLst>
          </p:cNvPr>
          <p:cNvSpPr>
            <a:spLocks noGrp="1"/>
          </p:cNvSpPr>
          <p:nvPr/>
        </p:nvSpPr>
        <p:spPr>
          <a:xfrm>
            <a:off x="1143000" y="41433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F909C84-0069-42FF-B484-A30B8E94741A}"/>
              </a:ext>
            </a:extLst>
          </p:cNvPr>
          <p:cNvSpPr>
            <a:spLocks noGrp="1"/>
          </p:cNvSpPr>
          <p:nvPr/>
        </p:nvSpPr>
        <p:spPr>
          <a:xfrm>
            <a:off x="1409700" y="4143375"/>
            <a:ext cx="335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Contexto e sufixos ajudam em ambiguidade e palavras desconhecidas.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E1344BE-2A90-4632-B8F7-5EDB6871450F}"/>
              </a:ext>
            </a:extLst>
          </p:cNvPr>
          <p:cNvSpPr>
            <a:spLocks noGrp="1"/>
          </p:cNvSpPr>
          <p:nvPr/>
        </p:nvSpPr>
        <p:spPr>
          <a:xfrm>
            <a:off x="6286500" y="2667000"/>
            <a:ext cx="44767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02EBF9D-6131-4746-B813-E26561640951}"/>
              </a:ext>
            </a:extLst>
          </p:cNvPr>
          <p:cNvSpPr>
            <a:spLocks noGrp="1"/>
          </p:cNvSpPr>
          <p:nvPr/>
        </p:nvSpPr>
        <p:spPr>
          <a:xfrm>
            <a:off x="6572250" y="30003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D96C4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6C4B"/>
                </a:solidFill>
                <a:latin typeface="Aptos"/>
                <a:ea typeface="Aptos"/>
                <a:cs typeface="Aptos"/>
              </a:rPr>
              <a:t>Teoria de aprendizado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F75A0D1-A2D3-4F1A-9EDC-8000A5C9252D}"/>
              </a:ext>
            </a:extLst>
          </p:cNvPr>
          <p:cNvSpPr>
            <a:spLocks noGrp="1"/>
          </p:cNvSpPr>
          <p:nvPr/>
        </p:nvSpPr>
        <p:spPr>
          <a:xfrm>
            <a:off x="6572250" y="347662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8EBE96B-225B-4C4D-A0ED-C5586C171C01}"/>
              </a:ext>
            </a:extLst>
          </p:cNvPr>
          <p:cNvSpPr>
            <a:spLocks noGrp="1"/>
          </p:cNvSpPr>
          <p:nvPr/>
        </p:nvSpPr>
        <p:spPr>
          <a:xfrm>
            <a:off x="6838950" y="3476625"/>
            <a:ext cx="335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Analisa WiSARD e bleaching pela dimensão VC.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4644DAB-CB9A-40F4-9E2F-656043737936}"/>
              </a:ext>
            </a:extLst>
          </p:cNvPr>
          <p:cNvSpPr>
            <a:spLocks noGrp="1"/>
          </p:cNvSpPr>
          <p:nvPr/>
        </p:nvSpPr>
        <p:spPr>
          <a:xfrm>
            <a:off x="6572250" y="41433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04B7AE7-49E6-42FA-84A5-B4C43CEEA6A7}"/>
              </a:ext>
            </a:extLst>
          </p:cNvPr>
          <p:cNvSpPr>
            <a:spLocks noGrp="1"/>
          </p:cNvSpPr>
          <p:nvPr/>
        </p:nvSpPr>
        <p:spPr>
          <a:xfrm>
            <a:off x="6838950" y="4143375"/>
            <a:ext cx="335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Investiga a capacidade de generalizar sem perder robustez.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95E2886-ECAB-4EEF-8157-68BC102CF26F}"/>
              </a:ext>
            </a:extLst>
          </p:cNvPr>
          <p:cNvSpPr>
            <a:spLocks noGrp="1"/>
          </p:cNvSpPr>
          <p:nvPr/>
        </p:nvSpPr>
        <p:spPr>
          <a:xfrm>
            <a:off x="857250" y="5467350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E6B7A"/>
                </a:solidFill>
                <a:latin typeface="Aptos"/>
                <a:ea typeface="Aptos"/>
                <a:cs typeface="Aptos"/>
              </a:rPr>
              <a:t>Ideia central: a mesma arquitetura pode ser eficiente em NLP e, ao mesmo tempo, estudada formalmente.</a:t>
            </a:r>
          </a:p>
        </p:txBody>
      </p:sp>
    </p:spTree>
    <p:extLst>
      <p:ext uri="{BB962C8B-B14F-4D97-AF65-F5344CB8AC3E}">
        <p14:creationId xmlns:p14="http://schemas.microsoft.com/office/powerpoint/2010/main" val="102526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1963D46A-6AEC-4A2B-914F-87ECBE641801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609600" cy="571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56356AD-DB87-44FB-AECD-40F6017F63BF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AA 2 | APLICAÇÃO LINGUÍSTICA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1C891FB-1A99-49C4-88B6-4E3AEDBE52E9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Para etiquetar palavras em vários idiomas, a representação de entrada é decisiva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4164568-C7A0-4C4F-955C-01E2CDAE3291}"/>
              </a:ext>
            </a:extLst>
          </p:cNvPr>
          <p:cNvSpPr>
            <a:spLocks noGrp="1"/>
          </p:cNvSpPr>
          <p:nvPr/>
        </p:nvSpPr>
        <p:spPr>
          <a:xfrm>
            <a:off x="10953750" y="68580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6B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77F79E0-90E3-4183-8519-73C1A4CA8EEF}"/>
              </a:ext>
            </a:extLst>
          </p:cNvPr>
          <p:cNvSpPr>
            <a:spLocks noGrp="1"/>
          </p:cNvSpPr>
          <p:nvPr/>
        </p:nvSpPr>
        <p:spPr>
          <a:xfrm>
            <a:off x="1693164" y="2476500"/>
            <a:ext cx="2381250" cy="1428750"/>
          </a:xfrm>
          <a:prstGeom prst="roundRect">
            <a:avLst>
              <a:gd name="adj" fmla="val 8000"/>
            </a:avLst>
          </a:prstGeom>
          <a:solidFill>
            <a:srgbClr val="E8F1F8"/>
          </a:solidFill>
          <a:ln w="9525">
            <a:solidFill>
              <a:srgbClr val="BED2E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C558A2C-BC49-43E4-948B-B723FA9599F9}"/>
              </a:ext>
            </a:extLst>
          </p:cNvPr>
          <p:cNvSpPr>
            <a:spLocks noGrp="1"/>
          </p:cNvSpPr>
          <p:nvPr/>
        </p:nvSpPr>
        <p:spPr>
          <a:xfrm>
            <a:off x="1902714" y="28575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Palavra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FE3DA48-3D63-49E5-8383-9BE1245678F9}"/>
              </a:ext>
            </a:extLst>
          </p:cNvPr>
          <p:cNvSpPr>
            <a:spLocks noGrp="1"/>
          </p:cNvSpPr>
          <p:nvPr/>
        </p:nvSpPr>
        <p:spPr>
          <a:xfrm>
            <a:off x="1902714" y="3305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forma lexical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37A6D25A-885E-4E7E-8583-D0DD8065AF04}"/>
              </a:ext>
            </a:extLst>
          </p:cNvPr>
          <p:cNvSpPr>
            <a:spLocks noGrp="1"/>
          </p:cNvSpPr>
          <p:nvPr/>
        </p:nvSpPr>
        <p:spPr>
          <a:xfrm>
            <a:off x="4150614" y="3000375"/>
            <a:ext cx="514350" cy="266700"/>
          </a:xfrm>
          <a:prstGeom prst="rightArrow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8A650C1-F708-4D43-A290-01452EEC3FA2}"/>
              </a:ext>
            </a:extLst>
          </p:cNvPr>
          <p:cNvSpPr>
            <a:spLocks noGrp="1"/>
          </p:cNvSpPr>
          <p:nvPr/>
        </p:nvSpPr>
        <p:spPr>
          <a:xfrm>
            <a:off x="4836414" y="2476500"/>
            <a:ext cx="2381250" cy="1428750"/>
          </a:xfrm>
          <a:prstGeom prst="roundRect">
            <a:avLst>
              <a:gd name="adj" fmla="val 8000"/>
            </a:avLst>
          </a:prstGeom>
          <a:solidFill>
            <a:srgbClr val="E8F1F8"/>
          </a:solidFill>
          <a:ln w="9525">
            <a:solidFill>
              <a:srgbClr val="BED2E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6C6AA5D-2960-408C-923A-9594FC0E604F}"/>
              </a:ext>
            </a:extLst>
          </p:cNvPr>
          <p:cNvSpPr>
            <a:spLocks noGrp="1"/>
          </p:cNvSpPr>
          <p:nvPr/>
        </p:nvSpPr>
        <p:spPr>
          <a:xfrm>
            <a:off x="5045964" y="28575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37F39F3-5E23-4D54-9A0F-8DD3A56C40B6}"/>
              </a:ext>
            </a:extLst>
          </p:cNvPr>
          <p:cNvSpPr>
            <a:spLocks noGrp="1"/>
          </p:cNvSpPr>
          <p:nvPr/>
        </p:nvSpPr>
        <p:spPr>
          <a:xfrm>
            <a:off x="5045964" y="3305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vizinhas na frase</a:t>
            </a:r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236AC132-D442-40DE-A649-9766118A0738}"/>
              </a:ext>
            </a:extLst>
          </p:cNvPr>
          <p:cNvSpPr>
            <a:spLocks noGrp="1"/>
          </p:cNvSpPr>
          <p:nvPr/>
        </p:nvSpPr>
        <p:spPr>
          <a:xfrm>
            <a:off x="7293864" y="3000375"/>
            <a:ext cx="514350" cy="266700"/>
          </a:xfrm>
          <a:prstGeom prst="rightArrow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A9617C1-E3E9-4B2A-BF19-70A42ABE96FC}"/>
              </a:ext>
            </a:extLst>
          </p:cNvPr>
          <p:cNvSpPr>
            <a:spLocks noGrp="1"/>
          </p:cNvSpPr>
          <p:nvPr/>
        </p:nvSpPr>
        <p:spPr>
          <a:xfrm>
            <a:off x="7979664" y="2476500"/>
            <a:ext cx="2381250" cy="1428750"/>
          </a:xfrm>
          <a:prstGeom prst="roundRect">
            <a:avLst>
              <a:gd name="adj" fmla="val 8000"/>
            </a:avLst>
          </a:prstGeom>
          <a:solidFill>
            <a:srgbClr val="E8F1F8"/>
          </a:solidFill>
          <a:ln w="9525">
            <a:solidFill>
              <a:srgbClr val="BED2E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C51B900-B9AC-4902-AAC4-BCFCD389FBED}"/>
              </a:ext>
            </a:extLst>
          </p:cNvPr>
          <p:cNvSpPr>
            <a:spLocks noGrp="1"/>
          </p:cNvSpPr>
          <p:nvPr/>
        </p:nvSpPr>
        <p:spPr>
          <a:xfrm>
            <a:off x="8189214" y="28575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Sufixos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FA7269C-4F77-4370-96CF-79A4C391A167}"/>
              </a:ext>
            </a:extLst>
          </p:cNvPr>
          <p:cNvSpPr>
            <a:spLocks noGrp="1"/>
          </p:cNvSpPr>
          <p:nvPr/>
        </p:nvSpPr>
        <p:spPr>
          <a:xfrm>
            <a:off x="8189214" y="3305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pista para OOV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05F4550-8AF8-4431-BAE2-A70FB536F54A}"/>
              </a:ext>
            </a:extLst>
          </p:cNvPr>
          <p:cNvSpPr>
            <a:spLocks noGrp="1"/>
          </p:cNvSpPr>
          <p:nvPr/>
        </p:nvSpPr>
        <p:spPr>
          <a:xfrm>
            <a:off x="4762500" y="4476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950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mWANN-Tagger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2268378-EC79-448C-A8C6-310C0498948B}"/>
              </a:ext>
            </a:extLst>
          </p:cNvPr>
          <p:cNvSpPr>
            <a:spLocks noGrp="1"/>
          </p:cNvSpPr>
          <p:nvPr/>
        </p:nvSpPr>
        <p:spPr>
          <a:xfrm>
            <a:off x="1428750" y="5191125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Resultado: uma configuração universal de parâmetros mostrou desempenho próximo do melhor ajuste específico por idioma; a extensão com prefixos e etiqueta anterior melhorou as acurácias.</a:t>
            </a:r>
          </a:p>
        </p:txBody>
      </p:sp>
    </p:spTree>
    <p:extLst>
      <p:ext uri="{BB962C8B-B14F-4D97-AF65-F5344CB8AC3E}">
        <p14:creationId xmlns:p14="http://schemas.microsoft.com/office/powerpoint/2010/main" val="1593165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78926F93-6B8A-45BD-B3EF-FD1304DB3837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609600" cy="571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955144A-6230-45FC-AD8F-66D7C179DA01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AA 2 | BLEACHING E TEORIA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3DF6505-C598-4C0F-896C-1EAC86FC5D72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Bleaching combate saturação de memória sem reduzir a capacidade teórica de generalização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7E73FFD-A674-4A3C-9110-42479FFB431E}"/>
              </a:ext>
            </a:extLst>
          </p:cNvPr>
          <p:cNvSpPr>
            <a:spLocks noGrp="1"/>
          </p:cNvSpPr>
          <p:nvPr/>
        </p:nvSpPr>
        <p:spPr>
          <a:xfrm>
            <a:off x="10953750" y="68580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6B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EFA9721-7191-45A3-811E-69779B827C92}"/>
              </a:ext>
            </a:extLst>
          </p:cNvPr>
          <p:cNvSpPr>
            <a:spLocks noGrp="1"/>
          </p:cNvSpPr>
          <p:nvPr/>
        </p:nvSpPr>
        <p:spPr>
          <a:xfrm>
            <a:off x="1143000" y="232410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6E31301-4EE0-48FD-BD41-56CDCD5929A0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D96C4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6C4B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7F524BD-94AB-4ED0-BCFD-BC2C5F24D9F4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Com muitos padrões, memórias podem saturar e deixar de distinguir classes.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2F2450D7-9E2E-42EC-BB73-A723F2B67A34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904875" cy="333375"/>
          </a:xfrm>
          <a:prstGeom prst="rightArrow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5D67984-9123-4C79-92B8-9ADF39236B7C}"/>
              </a:ext>
            </a:extLst>
          </p:cNvPr>
          <p:cNvSpPr>
            <a:spLocks noGrp="1"/>
          </p:cNvSpPr>
          <p:nvPr/>
        </p:nvSpPr>
        <p:spPr>
          <a:xfrm>
            <a:off x="5334000" y="232410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EAF5F2"/>
          </a:solidFill>
          <a:ln w="9525">
            <a:solidFill>
              <a:srgbClr val="BDE0D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1E7BB7C-8F7F-4615-954B-551E678FEF1E}"/>
              </a:ext>
            </a:extLst>
          </p:cNvPr>
          <p:cNvSpPr>
            <a:spLocks noGrp="1"/>
          </p:cNvSpPr>
          <p:nvPr/>
        </p:nvSpPr>
        <p:spPr>
          <a:xfrm>
            <a:off x="5619750" y="2667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Bleaching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C1CEA80-5364-4E26-A5A8-3178B36BA16B}"/>
              </a:ext>
            </a:extLst>
          </p:cNvPr>
          <p:cNvSpPr>
            <a:spLocks noGrp="1"/>
          </p:cNvSpPr>
          <p:nvPr/>
        </p:nvSpPr>
        <p:spPr>
          <a:xfrm>
            <a:off x="5619750" y="314325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Eleva limiares para filtrar ativações fracas e desempatar respostas.</a:t>
            </a:r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C6406C2D-3670-418C-8209-1B4CBBD91707}"/>
              </a:ext>
            </a:extLst>
          </p:cNvPr>
          <p:cNvSpPr>
            <a:spLocks noGrp="1"/>
          </p:cNvSpPr>
          <p:nvPr/>
        </p:nvSpPr>
        <p:spPr>
          <a:xfrm>
            <a:off x="8382000" y="2952750"/>
            <a:ext cx="904875" cy="333375"/>
          </a:xfrm>
          <a:prstGeom prst="rightArrow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6D59CDD-66E7-459A-A072-230173016646}"/>
              </a:ext>
            </a:extLst>
          </p:cNvPr>
          <p:cNvSpPr>
            <a:spLocks noGrp="1"/>
          </p:cNvSpPr>
          <p:nvPr/>
        </p:nvSpPr>
        <p:spPr>
          <a:xfrm>
            <a:off x="9525000" y="2324100"/>
            <a:ext cx="1714500" cy="1809750"/>
          </a:xfrm>
          <a:prstGeom prst="roundRect">
            <a:avLst>
              <a:gd name="adj" fmla="val 6667"/>
            </a:avLst>
          </a:prstGeom>
          <a:solidFill>
            <a:srgbClr val="E8F1F8"/>
          </a:solidFill>
          <a:ln w="9525">
            <a:solidFill>
              <a:srgbClr val="BED2E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1C22538-A189-4121-BC52-331F6A2624C2}"/>
              </a:ext>
            </a:extLst>
          </p:cNvPr>
          <p:cNvSpPr>
            <a:spLocks noGrp="1"/>
          </p:cNvSpPr>
          <p:nvPr/>
        </p:nvSpPr>
        <p:spPr>
          <a:xfrm>
            <a:off x="9715500" y="26670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Achado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9BFC58E-433A-4905-AB05-99F8FF2222E6}"/>
              </a:ext>
            </a:extLst>
          </p:cNvPr>
          <p:cNvSpPr>
            <a:spLocks noGrp="1"/>
          </p:cNvSpPr>
          <p:nvPr/>
        </p:nvSpPr>
        <p:spPr>
          <a:xfrm>
            <a:off x="9715500" y="3143250"/>
            <a:ext cx="1333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Mesma dimensão VC nas variantes estudadas.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08A5DB8-8B29-4DFC-96BA-E637C9388C8C}"/>
              </a:ext>
            </a:extLst>
          </p:cNvPr>
          <p:cNvSpPr>
            <a:spLocks noGrp="1"/>
          </p:cNvSpPr>
          <p:nvPr/>
        </p:nvSpPr>
        <p:spPr>
          <a:xfrm>
            <a:off x="1524000" y="5048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Interpretação: mais robustez operacional não implicou perda teórica de generalização.</a:t>
            </a:r>
          </a:p>
        </p:txBody>
      </p:sp>
    </p:spTree>
    <p:extLst>
      <p:ext uri="{BB962C8B-B14F-4D97-AF65-F5344CB8AC3E}">
        <p14:creationId xmlns:p14="http://schemas.microsoft.com/office/powerpoint/2010/main" val="1322320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46C21316-E056-48D1-9FDE-9A5F3984F9A1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609600" cy="571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04EB892-48B7-4948-A354-BB225BF4773F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SÍNTESE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03DB0B7-ECA4-4B30-B2FC-241A6CA28ACC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 contribuição do AT é organizar eficiência, adaptação e auditoria em um único ciclo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F3A5D8F-C5A7-454E-A30D-DABF3AD6E9AA}"/>
              </a:ext>
            </a:extLst>
          </p:cNvPr>
          <p:cNvSpPr>
            <a:spLocks noGrp="1"/>
          </p:cNvSpPr>
          <p:nvPr/>
        </p:nvSpPr>
        <p:spPr>
          <a:xfrm>
            <a:off x="10953750" y="68580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6B7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A2A045E-25EB-4BAE-9815-70E7AF17114C}"/>
              </a:ext>
            </a:extLst>
          </p:cNvPr>
          <p:cNvSpPr>
            <a:spLocks noGrp="1"/>
          </p:cNvSpPr>
          <p:nvPr/>
        </p:nvSpPr>
        <p:spPr>
          <a:xfrm>
            <a:off x="1000125" y="2095500"/>
            <a:ext cx="1095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AA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55C9B21-175C-41CA-B255-A797A0E0DF3C}"/>
              </a:ext>
            </a:extLst>
          </p:cNvPr>
          <p:cNvSpPr>
            <a:spLocks noGrp="1"/>
          </p:cNvSpPr>
          <p:nvPr/>
        </p:nvSpPr>
        <p:spPr>
          <a:xfrm>
            <a:off x="2381250" y="209550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Aproveitar não rotulados com confiança e alta velocidade de ajuste.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953E018-AAD5-4ED7-8B00-BEE331C06689}"/>
              </a:ext>
            </a:extLst>
          </p:cNvPr>
          <p:cNvSpPr>
            <a:spLocks noGrp="1"/>
          </p:cNvSpPr>
          <p:nvPr/>
        </p:nvSpPr>
        <p:spPr>
          <a:xfrm>
            <a:off x="1000125" y="3048000"/>
            <a:ext cx="1095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AA 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9062C89-AFC2-4C2C-A274-3F7BE32B9336}"/>
              </a:ext>
            </a:extLst>
          </p:cNvPr>
          <p:cNvSpPr>
            <a:spLocks noGrp="1"/>
          </p:cNvSpPr>
          <p:nvPr/>
        </p:nvSpPr>
        <p:spPr>
          <a:xfrm>
            <a:off x="2381250" y="304800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Usar representação adequada e bleaching para robustez, com suporte teórico.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A481706-CC6F-4397-BED0-68FD3650E101}"/>
              </a:ext>
            </a:extLst>
          </p:cNvPr>
          <p:cNvSpPr>
            <a:spLocks noGrp="1"/>
          </p:cNvSpPr>
          <p:nvPr/>
        </p:nvSpPr>
        <p:spPr>
          <a:xfrm>
            <a:off x="1000125" y="5238750"/>
            <a:ext cx="971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67C8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7C80"/>
                </a:solidFill>
                <a:latin typeface="Aptos"/>
                <a:ea typeface="Aptos"/>
                <a:cs typeface="Aptos"/>
              </a:rPr>
              <a:t>Limite honesto do AT: a próxima etapa é medir qualidade com rótulos validados por especialistas.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943D5DD-F05C-47EE-A30F-464D0B8ADF26}"/>
              </a:ext>
            </a:extLst>
          </p:cNvPr>
          <p:cNvSpPr>
            <a:spLocks noGrp="1"/>
          </p:cNvSpPr>
          <p:nvPr/>
        </p:nvSpPr>
        <p:spPr>
          <a:xfrm>
            <a:off x="1000125" y="59055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E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A"/>
                </a:solidFill>
                <a:latin typeface="Aptos"/>
                <a:ea typeface="Aptos"/>
                <a:cs typeface="Aptos"/>
              </a:rPr>
              <a:t>Referências completas nos PDFs fornecidos e nas notas do apresentador.</a:t>
            </a:r>
          </a:p>
        </p:txBody>
      </p:sp>
    </p:spTree>
    <p:extLst>
      <p:ext uri="{BB962C8B-B14F-4D97-AF65-F5344CB8AC3E}">
        <p14:creationId xmlns:p14="http://schemas.microsoft.com/office/powerpoint/2010/main" val="7551587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1685</Words>
  <Application>Microsoft Office PowerPoint</Application>
  <DocSecurity>0</DocSecurity>
  <PresentationFormat>Widescreen</PresentationFormat>
  <Paragraphs>158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Aptos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jefferson silva</cp:lastModifiedBy>
  <cp:revision>2</cp:revision>
  <dcterms:created xsi:type="dcterms:W3CDTF">2026-07-26T13:33:58Z</dcterms:created>
  <dcterms:modified xsi:type="dcterms:W3CDTF">2026-08-17T15:47:57Z</dcterms:modified>
</cp:coreProperties>
</file>