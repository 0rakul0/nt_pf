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1" d="100"/>
          <a:sy n="71" d="100"/>
        </p:scale>
        <p:origin x="41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apresentação está organizada como uma história única: primeiro, a classificação semissupervisionada rápida; depois, as bases teóricas e linguísticas; por fim, a aplicação proposta.</a:t>
            </a:r>
          </a:p>
          <a:p>
            <a:endParaRPr/>
          </a:p>
          <a:p>
            <a:r>
              <a:t>[Sources]</a:t>
            </a:r>
          </a:p>
          <a:p>
            <a:r>
              <a:t>Rangel, F.; Firmino, F.; Lima, P. M. V.; Oliveira, J. (2016). Semi-Supervised Classification of Social Textual Data Using WiSARD. ESANN 2016, pp. 165-170.</a:t>
            </a:r>
          </a:p>
          <a:p>
            <a:r>
              <a:t>Carneiro, H. C. C. (2017). Theoretical Results on a Weightless Neural Classifier and Application to Computational Linguistics. Tese de Doutorado, COPPE/UFRJ.</a:t>
            </a:r>
          </a:p>
          <a:p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este slide para orientar a turma. Os textos não são repetição: o primeiro mostra eficiência em aprendizado semissupervisionado; a tese explica bleaching e aplicações linguísticas; o AT adapta a ideia para um fluxo auditável.</a:t>
            </a:r>
          </a:p>
          <a:p>
            <a:endParaRPr/>
          </a:p>
          <a:p>
            <a:r>
              <a:t>[Sources]</a:t>
            </a:r>
          </a:p>
          <a:p>
            <a:r>
              <a:t>Rangel, F.; Firmino, F.; Lima, P. M. V.; Oliveira, J. (2016). Semi-Supervised Classification of Social Textual Data Using WiSARD. ESANN 2016, pp. 165-170.</a:t>
            </a:r>
          </a:p>
          <a:p>
            <a:r>
              <a:t>Carneiro, H. C. C. (2017). Theoretical Results on a Weightless Neural Classifier and Application to Computational Linguistics. Tese de Doutorado, COPPE/UFRJ.</a:t>
            </a:r>
          </a:p>
          <a:p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48279-18D3-164E-DF73-72C3DC235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365B6-EEAD-4665-628A-FB6DE30A87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2E0770-A0C2-3E1D-48AB-0B7B2534D0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este slide para orientar a turma. Os textos não são repetição: o primeiro mostra eficiência em aprendizado semissupervisionado; a tese explica bleaching e aplicações linguísticas; o AT adapta a ideia para um fluxo auditável.</a:t>
            </a:r>
          </a:p>
          <a:p>
            <a:endParaRPr/>
          </a:p>
          <a:p>
            <a:r>
              <a:t>[Sources]</a:t>
            </a:r>
          </a:p>
          <a:p>
            <a:r>
              <a:t>Rangel, F.; Firmino, F.; Lima, P. M. V.; Oliveira, J. (2016). Semi-Supervised Classification of Social Textual Data Using WiSARD. ESANN 2016, pp. 165-170.</a:t>
            </a:r>
          </a:p>
          <a:p>
            <a:r>
              <a:t>Carneiro, H. C. C. (2017). Theoretical Results on a Weightless Neural Classifier and Application to Computational Linguistics. Tese de Doutorado, COPPE/UFRJ.</a:t>
            </a:r>
          </a:p>
          <a:p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A474A-27E4-1A3B-5F21-C5CF56C242DE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486203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Explique que o cenário é especificamente texto de redes sociais. O problema não é só acertar uma classe: é acompanhar um fluxo no qual a anotação humana custa caro e a linguagem muda.</a:t>
            </a:r>
          </a:p>
          <a:p>
            <a:endParaRPr/>
          </a:p>
          <a:p>
            <a:r>
              <a:t>[Sources]</a:t>
            </a:r>
          </a:p>
          <a:p>
            <a:r>
              <a:t>Rangel, F.; Firmino, F.; Lima, P. M. V.; Oliveira, J. (2016). Semi-Supervised Classification of Social Textual Data Using WiSARD. ESANN 2016, pp. 165-170.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WiSARD é uma rede neural sem pesos baseada em memórias RAM. Destaque a salvaguarda: o texto não rotulado só realimenta o modelo quando a confiança é alta. Isso reduz o risco de propagar um erro.</a:t>
            </a:r>
          </a:p>
          <a:p>
            <a:endParaRPr/>
          </a:p>
          <a:p>
            <a:r>
              <a:t>[Sources]</a:t>
            </a:r>
          </a:p>
          <a:p>
            <a:r>
              <a:t>Rangel, F.; Firmino, F.; Lima, P. M. V.; Oliveira, J. (2016). Semi-Supervised Classification of Social Textual Data Using WiSARD. ESANN 2016, pp. 165-170.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Os três conjuntos foram OMD e STS-Gold, de Twitter, e IMDB. Não diga que SSW é a mais acurada: ela não é. A contribuição é acurácia competitiva combinada com treinamento extremamente rápido - especialmente relevante para fluxo de dados.</a:t>
            </a:r>
          </a:p>
          <a:p>
            <a:endParaRPr/>
          </a:p>
          <a:p>
            <a:r>
              <a:t>[Sources]</a:t>
            </a:r>
          </a:p>
          <a:p>
            <a:r>
              <a:t>Rangel, F.; Firmino, F.; Lima, P. M. V.; Oliveira, J. (2016). Semi-Supervised Classification of Social Textual Data Using WiSARD. ESANN 2016, pp. 165-170.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Apresente a tese como uma fonte mais ampla. Ela não é um único experimento de classificação temática: integra uma aplicação concreta de POS tagging e uma análise matemática da capacidade de generalização.</a:t>
            </a:r>
          </a:p>
          <a:p>
            <a:endParaRPr/>
          </a:p>
          <a:p>
            <a:r>
              <a:t>[Sources]</a:t>
            </a:r>
          </a:p>
          <a:p>
            <a:r>
              <a:t>Carneiro, H. C. C. (2017). Theoretical Results on a Weightless Neural Classifier and Application to Computational Linguistics. Tese de Doutorado, COPPE/UFRJ.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 tagging é atribuir classe gramatical a cada palavra. Explique OOV como 'palavra que o sistema não viu no treino'. O achado prático importante é que uma representação mais rica - contexto, sufixos e depois prefixos - melhora o resultado.</a:t>
            </a:r>
          </a:p>
          <a:p>
            <a:endParaRPr/>
          </a:p>
          <a:p>
            <a:r>
              <a:t>[Sources]</a:t>
            </a:r>
          </a:p>
          <a:p>
            <a:r>
              <a:t>Carneiro, H. C. C. (2017). Theoretical Results on a Weightless Neural Classifier and Application to Computational Linguistics. Tese de Doutorado, COPPE/UFRJ.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Saturação aqui significa que muitas posições de memória são preenchidas e o classificador perde poder discriminativo. A tese obtém valores exatos da dimensão VC para as variantes tradicional e min-max bleaching analisadas, e conclui que os valores são idênticos.</a:t>
            </a:r>
          </a:p>
          <a:p>
            <a:endParaRPr/>
          </a:p>
          <a:p>
            <a:r>
              <a:t>[Sources]</a:t>
            </a:r>
          </a:p>
          <a:p>
            <a:r>
              <a:t>Carneiro, H. C. C. (2017). Theoretical Results on a Weightless Neural Classifier and Application to Computational Linguistics. Tese de Doutorado, COPPE/UFRJ.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Faça explicitamente a ponte: AA1 inspira treinamento incremental e confiança; AA2 fundamenta que a representação e a robustez importam. O AT não promete uma nova WiSARD clássica; a contribuição é um fluxo operacional auditável.</a:t>
            </a:r>
          </a:p>
          <a:p>
            <a:endParaRPr/>
          </a:p>
          <a:p>
            <a:r>
              <a:t>[Sources]</a:t>
            </a:r>
          </a:p>
          <a:p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fundação usa 10% da base e a reserva, 90%, é processada em lotes. A WNN aceita só decisão com evidência suficiente; os casos restantes vão à LLM. As decisões de LLM podem gerar marcadores novos, mas a atualização é controlada e registrada.</a:t>
            </a:r>
          </a:p>
          <a:p>
            <a:endParaRPr/>
          </a:p>
          <a:p>
            <a:r>
              <a:t>[Sources]</a:t>
            </a:r>
          </a:p>
          <a:p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Foram 15 lotes de aproximadamente 500 notícias. 1.246 dos 1.247 residuais demandaram chamadas de LLM. A afirmação correta é que houve cobertura de 83,33% pela WNN, não acurácia de 83,33%, porque ainda não existe uma amostra de referência integralmente validada por especialistas.</a:t>
            </a:r>
          </a:p>
          <a:p>
            <a:endParaRPr/>
          </a:p>
          <a:p>
            <a:r>
              <a:t>[Sources]</a:t>
            </a:r>
          </a:p>
          <a:p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Feche retomando a pergunta inicial: não se trata de substituir a análise humana por uma regra fixa, mas de encaminhar cada documento para a camada adequada e deixar evidências auditáveis. Convide perguntas sobre a diferença entre cobertura e acurácia, o papel da LLM e como a taxonomia é atualizada.</a:t>
            </a:r>
          </a:p>
          <a:p>
            <a:endParaRPr/>
          </a:p>
          <a:p>
            <a:r>
              <a:t>[Sources]</a:t>
            </a:r>
          </a:p>
          <a:p>
            <a:r>
              <a:t>Rangel, F.; Firmino, F.; Lima, P. M. V.; Oliveira, J. (2016). Semi-Supervised Classification of Social Textual Data Using WiSARD. ESANN 2016, pp. 165-170.</a:t>
            </a:r>
          </a:p>
          <a:p>
            <a:r>
              <a:t>Carneiro, H. C. C. (2017). Theoretical Results on a Weightless Neural Classifier and Application to Computational Linguistics. Tese de Doutorado, COPPE/UFRJ.</a:t>
            </a:r>
          </a:p>
          <a:p>
            <a:r>
              <a:t>dos Anjos, J. S. Classificação Incremental e Auditável de Crimes em Notícias Institucionais com Memória WNN e LLM Residual. Trabalho final (arquivo fornecido).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tângulo 4">
            <a:extLst>
              <a:ext uri="{FF2B5EF4-FFF2-40B4-BE49-F238E27FC236}">
                <a16:creationId xmlns:a16="http://schemas.microsoft.com/office/drawing/2014/main" id="{486F21F7-F955-4948-990A-36DC9DA2137B}"/>
              </a:ext>
            </a:extLst>
          </p:cNvPr>
          <p:cNvSpPr>
            <a:spLocks noGrp="1"/>
          </p:cNvSpPr>
          <p:nvPr/>
        </p:nvSpPr>
        <p:spPr>
          <a:xfrm>
            <a:off x="685800" y="857250"/>
            <a:ext cx="800100" cy="762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BF57FCA-D8DD-4370-89CA-0AB7778954D3}"/>
              </a:ext>
            </a:extLst>
          </p:cNvPr>
          <p:cNvSpPr>
            <a:spLocks noGrp="1"/>
          </p:cNvSpPr>
          <p:nvPr/>
        </p:nvSpPr>
        <p:spPr>
          <a:xfrm>
            <a:off x="685800" y="1371600"/>
            <a:ext cx="8858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WiSARD/WNN em textos:</a:t>
            </a:r>
          </a:p>
          <a:p>
            <a:pPr algn="l">
              <a:defRPr sz="37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 teoria à aplicação auditável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BCB318E8-D0B4-4F44-90C4-39D5CD5EF108}"/>
              </a:ext>
            </a:extLst>
          </p:cNvPr>
          <p:cNvSpPr>
            <a:spLocks noGrp="1"/>
          </p:cNvSpPr>
          <p:nvPr/>
        </p:nvSpPr>
        <p:spPr>
          <a:xfrm>
            <a:off x="685800" y="3067050"/>
            <a:ext cx="7239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75" b="0">
                <a:solidFill>
                  <a:srgbClr val="C9D5E5"/>
                </a:solidFill>
                <a:latin typeface="Aptos"/>
                <a:ea typeface="Aptos"/>
                <a:cs typeface="Aptos"/>
              </a:defRPr>
            </a:pPr>
            <a:r>
              <a:rPr sz="1875" b="0" dirty="0" err="1">
                <a:solidFill>
                  <a:srgbClr val="C9D5E5"/>
                </a:solidFill>
                <a:latin typeface="Aptos"/>
                <a:ea typeface="Aptos"/>
                <a:cs typeface="Aptos"/>
              </a:rPr>
              <a:t>Apresentação</a:t>
            </a:r>
            <a:r>
              <a:rPr sz="1875" b="0" dirty="0">
                <a:solidFill>
                  <a:srgbClr val="C9D5E5"/>
                </a:solidFill>
                <a:latin typeface="Aptos"/>
                <a:ea typeface="Aptos"/>
                <a:cs typeface="Aptos"/>
              </a:rPr>
              <a:t> dos </a:t>
            </a:r>
            <a:r>
              <a:rPr sz="1875" b="0" dirty="0" err="1">
                <a:solidFill>
                  <a:srgbClr val="C9D5E5"/>
                </a:solidFill>
                <a:latin typeface="Aptos"/>
                <a:ea typeface="Aptos"/>
                <a:cs typeface="Aptos"/>
              </a:rPr>
              <a:t>artigos</a:t>
            </a:r>
            <a:r>
              <a:rPr sz="1875" b="0" dirty="0">
                <a:solidFill>
                  <a:srgbClr val="C9D5E5"/>
                </a:solidFill>
                <a:latin typeface="Aptos"/>
                <a:ea typeface="Aptos"/>
                <a:cs typeface="Aptos"/>
              </a:rPr>
              <a:t> A</a:t>
            </a:r>
            <a:r>
              <a:rPr lang="pt-BR" sz="1875" b="0" dirty="0">
                <a:solidFill>
                  <a:srgbClr val="C9D5E5"/>
                </a:solidFill>
                <a:latin typeface="Aptos"/>
                <a:ea typeface="Aptos"/>
                <a:cs typeface="Aptos"/>
              </a:rPr>
              <a:t>A</a:t>
            </a:r>
            <a:endParaRPr sz="1875" b="0" dirty="0">
              <a:solidFill>
                <a:srgbClr val="C9D5E5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0D9DF204-927D-45DE-8104-3868E000015F}"/>
              </a:ext>
            </a:extLst>
          </p:cNvPr>
          <p:cNvSpPr>
            <a:spLocks noGrp="1"/>
          </p:cNvSpPr>
          <p:nvPr/>
        </p:nvSpPr>
        <p:spPr>
          <a:xfrm>
            <a:off x="685800" y="5638800"/>
            <a:ext cx="7620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C9D5E5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C9D5E5"/>
                </a:solidFill>
                <a:latin typeface="Aptos"/>
                <a:ea typeface="Aptos"/>
                <a:cs typeface="Aptos"/>
              </a:rPr>
              <a:t>Jefferson S. dos Anjos</a:t>
            </a:r>
          </a:p>
        </p:txBody>
      </p:sp>
    </p:spTree>
    <p:extLst>
      <p:ext uri="{BB962C8B-B14F-4D97-AF65-F5344CB8AC3E}">
        <p14:creationId xmlns:p14="http://schemas.microsoft.com/office/powerpoint/2010/main" val="2246051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C5D787A5-976E-47EF-9935-DE6A5884F55D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DD100AFB-08B2-4114-A43B-1A7A7A061BE2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VISÃO GERAL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29547005-6B50-4C3F-B4F8-25840A55BB93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lang="pt-PT" dirty="0"/>
              <a:t>Artigos apresentados</a:t>
            </a:r>
          </a:p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endParaRPr sz="2625" b="1" dirty="0">
              <a:solidFill>
                <a:srgbClr val="14213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68A42CA3-E128-4D57-ACDA-EA14943952F4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B3712FA-B0AD-4986-A01E-84EFD630CAA8}"/>
              </a:ext>
            </a:extLst>
          </p:cNvPr>
          <p:cNvSpPr>
            <a:spLocks noGrp="1"/>
          </p:cNvSpPr>
          <p:nvPr/>
        </p:nvSpPr>
        <p:spPr>
          <a:xfrm>
            <a:off x="685800" y="2638844"/>
            <a:ext cx="10287000" cy="231541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marL="342900" indent="-342900">
              <a:buAutoNum type="arabicPeriod"/>
            </a:pPr>
            <a:r>
              <a:rPr lang="pt-PT" sz="2400" b="1" dirty="0"/>
              <a:t>Semi-Supervised Classification of Social Textual Data Using WiSARD </a:t>
            </a:r>
            <a:r>
              <a:rPr lang="pt-PT" sz="2400" dirty="0"/>
              <a:t>- Fabio Rangel, Fabricio Firmino, Priscila Machado Vieira Lima e Jonice Oliveira (2016).</a:t>
            </a:r>
          </a:p>
          <a:p>
            <a:pPr marL="342900" indent="-342900">
              <a:buAutoNum type="arabicPeriod"/>
            </a:pPr>
            <a:r>
              <a:rPr lang="pt-PT" sz="2400" b="1" dirty="0"/>
              <a:t>Theoretical Results on a Weightless Neural Classifier and Application to Computational Linguistics </a:t>
            </a:r>
            <a:r>
              <a:rPr lang="pt-PT" sz="2400" dirty="0"/>
              <a:t>- Hugo Cesar de Castro Carneiro (2017).</a:t>
            </a:r>
          </a:p>
          <a:p>
            <a:pPr algn="l">
              <a:defRPr sz="20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endParaRPr sz="2025" b="1" dirty="0">
              <a:solidFill>
                <a:srgbClr val="14213D"/>
              </a:solidFill>
              <a:latin typeface="Aptos"/>
              <a:ea typeface="Aptos"/>
              <a:cs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658279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D2C775-AA5C-ECEF-54CB-CE07F6F94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tângulo 19">
            <a:extLst>
              <a:ext uri="{FF2B5EF4-FFF2-40B4-BE49-F238E27FC236}">
                <a16:creationId xmlns:a16="http://schemas.microsoft.com/office/drawing/2014/main" id="{4D809A54-E9C9-0874-B5F4-D805F3ECD590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ABC9842-9CCA-3623-7107-4AB115BF5D5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VISÃO GERAL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D4137B2-2D4B-247E-B559-96CFC42E2E4B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Os</a:t>
            </a:r>
            <a:r>
              <a:rPr sz="2625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lang="pt-BR" sz="2625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dois</a:t>
            </a:r>
            <a:r>
              <a:rPr sz="2625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2625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trabalhos</a:t>
            </a:r>
            <a:r>
              <a:rPr sz="2625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2625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respondem</a:t>
            </a:r>
            <a:r>
              <a:rPr sz="2625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a partes </a:t>
            </a:r>
            <a:r>
              <a:rPr sz="2625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complementares</a:t>
            </a:r>
            <a:r>
              <a:rPr sz="2625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do </a:t>
            </a:r>
            <a:r>
              <a:rPr sz="2625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mesmo</a:t>
            </a:r>
            <a:r>
              <a:rPr sz="2625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2625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problema</a:t>
            </a:r>
            <a:endParaRPr sz="2625" b="1" dirty="0">
              <a:solidFill>
                <a:srgbClr val="14213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626CF8C-1165-F231-472A-BE3C66485744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7F4A5B65-BB4E-E38E-CEC7-2CC23E1D3310}"/>
              </a:ext>
            </a:extLst>
          </p:cNvPr>
          <p:cNvSpPr>
            <a:spLocks noGrp="1"/>
          </p:cNvSpPr>
          <p:nvPr/>
        </p:nvSpPr>
        <p:spPr>
          <a:xfrm>
            <a:off x="1426509" y="2333625"/>
            <a:ext cx="285750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522E0A6-BB43-8A94-88AE-CD5BBB25989A}"/>
              </a:ext>
            </a:extLst>
          </p:cNvPr>
          <p:cNvSpPr>
            <a:spLocks noGrp="1"/>
          </p:cNvSpPr>
          <p:nvPr/>
        </p:nvSpPr>
        <p:spPr>
          <a:xfrm>
            <a:off x="1655109" y="2571750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1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08C7F56-5CA0-3272-3686-7D83CBE22FC2}"/>
              </a:ext>
            </a:extLst>
          </p:cNvPr>
          <p:cNvSpPr>
            <a:spLocks noGrp="1"/>
          </p:cNvSpPr>
          <p:nvPr/>
        </p:nvSpPr>
        <p:spPr>
          <a:xfrm>
            <a:off x="1655109" y="3000375"/>
            <a:ext cx="2381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0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Aprender com poucos rótulos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AC6B93AD-F82D-5FF6-3F40-24BC49678972}"/>
              </a:ext>
            </a:extLst>
          </p:cNvPr>
          <p:cNvSpPr>
            <a:spLocks noGrp="1"/>
          </p:cNvSpPr>
          <p:nvPr/>
        </p:nvSpPr>
        <p:spPr>
          <a:xfrm>
            <a:off x="1655109" y="3762375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WiSARD semissupervisionada para textos sociais.</a:t>
            </a:r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F6B3C5C3-4D7F-A5D9-1310-F71F12E709DA}"/>
              </a:ext>
            </a:extLst>
          </p:cNvPr>
          <p:cNvSpPr>
            <a:spLocks noGrp="1"/>
          </p:cNvSpPr>
          <p:nvPr/>
        </p:nvSpPr>
        <p:spPr>
          <a:xfrm>
            <a:off x="8096250" y="2333625"/>
            <a:ext cx="285750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0D8D30BE-12D5-1CBB-DC2B-13A01055B82F}"/>
              </a:ext>
            </a:extLst>
          </p:cNvPr>
          <p:cNvSpPr>
            <a:spLocks noGrp="1"/>
          </p:cNvSpPr>
          <p:nvPr/>
        </p:nvSpPr>
        <p:spPr>
          <a:xfrm>
            <a:off x="8324850" y="2571750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2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F4AF2F5-E5DD-4891-F2AF-76C0590EDACD}"/>
              </a:ext>
            </a:extLst>
          </p:cNvPr>
          <p:cNvSpPr>
            <a:spLocks noGrp="1"/>
          </p:cNvSpPr>
          <p:nvPr/>
        </p:nvSpPr>
        <p:spPr>
          <a:xfrm>
            <a:off x="8324850" y="3000375"/>
            <a:ext cx="23812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0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Entender por que funciona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A96A58D1-87F1-B1D4-743F-7F7D938BB5CF}"/>
              </a:ext>
            </a:extLst>
          </p:cNvPr>
          <p:cNvSpPr>
            <a:spLocks noGrp="1"/>
          </p:cNvSpPr>
          <p:nvPr/>
        </p:nvSpPr>
        <p:spPr>
          <a:xfrm>
            <a:off x="8324850" y="3762375"/>
            <a:ext cx="23812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350" b="0" dirty="0">
                <a:solidFill>
                  <a:srgbClr val="5E6B7A"/>
                </a:solidFill>
                <a:latin typeface="Aptos"/>
                <a:ea typeface="Aptos"/>
                <a:cs typeface="Aptos"/>
              </a:rPr>
              <a:t>Bleaching, </a:t>
            </a:r>
            <a:r>
              <a:rPr sz="1350" b="0" dirty="0" err="1">
                <a:solidFill>
                  <a:srgbClr val="5E6B7A"/>
                </a:solidFill>
                <a:latin typeface="Aptos"/>
                <a:ea typeface="Aptos"/>
                <a:cs typeface="Aptos"/>
              </a:rPr>
              <a:t>capacidade</a:t>
            </a:r>
            <a:r>
              <a:rPr sz="1350" b="0" dirty="0">
                <a:solidFill>
                  <a:srgbClr val="5E6B7A"/>
                </a:solidFill>
                <a:latin typeface="Aptos"/>
                <a:ea typeface="Aptos"/>
                <a:cs typeface="Aptos"/>
              </a:rPr>
              <a:t> de </a:t>
            </a:r>
            <a:r>
              <a:rPr sz="1350" b="0" dirty="0" err="1">
                <a:solidFill>
                  <a:srgbClr val="5E6B7A"/>
                </a:solidFill>
                <a:latin typeface="Aptos"/>
                <a:ea typeface="Aptos"/>
                <a:cs typeface="Aptos"/>
              </a:rPr>
              <a:t>generalização</a:t>
            </a:r>
            <a:r>
              <a:rPr sz="1350" b="0" dirty="0">
                <a:solidFill>
                  <a:srgbClr val="5E6B7A"/>
                </a:solidFill>
                <a:latin typeface="Aptos"/>
                <a:ea typeface="Aptos"/>
                <a:cs typeface="Aptos"/>
              </a:rPr>
              <a:t> e POS </a:t>
            </a:r>
            <a:r>
              <a:rPr sz="1350" b="0" dirty="0" err="1">
                <a:solidFill>
                  <a:srgbClr val="5E6B7A"/>
                </a:solidFill>
                <a:latin typeface="Aptos"/>
                <a:ea typeface="Aptos"/>
                <a:cs typeface="Aptos"/>
              </a:rPr>
              <a:t>multilíngue</a:t>
            </a:r>
            <a:r>
              <a:rPr sz="1350" b="0" dirty="0">
                <a:solidFill>
                  <a:srgbClr val="5E6B7A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E5EE8317-E116-65E6-6A34-88CE7C5362D2}"/>
              </a:ext>
            </a:extLst>
          </p:cNvPr>
          <p:cNvSpPr>
            <a:spLocks noGrp="1"/>
          </p:cNvSpPr>
          <p:nvPr/>
        </p:nvSpPr>
        <p:spPr>
          <a:xfrm>
            <a:off x="4284008" y="3162299"/>
            <a:ext cx="3367369" cy="492919"/>
          </a:xfrm>
          <a:prstGeom prst="rightArrow">
            <a:avLst/>
          </a:prstGeom>
          <a:solidFill>
            <a:srgbClr val="2F5D8C"/>
          </a:solidFill>
          <a:ln w="0">
            <a:solidFill>
              <a:srgbClr val="2F5D8C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7C154D70-CE21-4EF4-45BC-DDAC6364C369}"/>
              </a:ext>
            </a:extLst>
          </p:cNvPr>
          <p:cNvSpPr>
            <a:spLocks noGrp="1"/>
          </p:cNvSpPr>
          <p:nvPr/>
        </p:nvSpPr>
        <p:spPr>
          <a:xfrm>
            <a:off x="857250" y="5219700"/>
            <a:ext cx="1000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Fio condutor: aprendizagem incremental, representação binária e decisões explicáveis.</a:t>
            </a:r>
          </a:p>
        </p:txBody>
      </p:sp>
    </p:spTree>
    <p:extLst>
      <p:ext uri="{BB962C8B-B14F-4D97-AF65-F5344CB8AC3E}">
        <p14:creationId xmlns:p14="http://schemas.microsoft.com/office/powerpoint/2010/main" val="32067540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>
            <a:extLst>
              <a:ext uri="{FF2B5EF4-FFF2-40B4-BE49-F238E27FC236}">
                <a16:creationId xmlns:a16="http://schemas.microsoft.com/office/drawing/2014/main" id="{33D181B8-A47D-4568-8D97-3B854CF961D0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AF0BA8B-13D8-4619-9891-B8192A5A94B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1 | RANGEL ET AL. (2016)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75E68338-AC76-4705-9ED6-64DDD5ABB9F0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Textos sociais mudam rápido, mas rotular tudo é caro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DF5D9C1D-EA14-4F52-830A-C09962930F34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98FC6322-F434-46CE-A729-A94E1E00BEA8}"/>
              </a:ext>
            </a:extLst>
          </p:cNvPr>
          <p:cNvSpPr>
            <a:spLocks noGrp="1"/>
          </p:cNvSpPr>
          <p:nvPr/>
        </p:nvSpPr>
        <p:spPr>
          <a:xfrm>
            <a:off x="857250" y="2095500"/>
            <a:ext cx="209550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9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Desafio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56B638D2-CA3A-4D5C-A1AB-10E93941637F}"/>
              </a:ext>
            </a:extLst>
          </p:cNvPr>
          <p:cNvSpPr>
            <a:spLocks noGrp="1"/>
          </p:cNvSpPr>
          <p:nvPr/>
        </p:nvSpPr>
        <p:spPr>
          <a:xfrm>
            <a:off x="857250" y="25717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D839621-606C-4D9C-B43A-4CEAB46D5526}"/>
              </a:ext>
            </a:extLst>
          </p:cNvPr>
          <p:cNvSpPr>
            <a:spLocks noGrp="1"/>
          </p:cNvSpPr>
          <p:nvPr/>
        </p:nvSpPr>
        <p:spPr>
          <a:xfrm>
            <a:off x="1123950" y="2571750"/>
            <a:ext cx="42100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Posts curtos, vocabulário amplo, gírias e hashtags novas.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EC520B64-B700-4B74-9F16-6C40462518B0}"/>
              </a:ext>
            </a:extLst>
          </p:cNvPr>
          <p:cNvSpPr>
            <a:spLocks noGrp="1"/>
          </p:cNvSpPr>
          <p:nvPr/>
        </p:nvSpPr>
        <p:spPr>
          <a:xfrm>
            <a:off x="857250" y="33337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56BB6153-F307-405D-A18E-EEAEDEF41D48}"/>
              </a:ext>
            </a:extLst>
          </p:cNvPr>
          <p:cNvSpPr>
            <a:spLocks noGrp="1"/>
          </p:cNvSpPr>
          <p:nvPr/>
        </p:nvSpPr>
        <p:spPr>
          <a:xfrm>
            <a:off x="1123950" y="3333750"/>
            <a:ext cx="42100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 distribuição das classes pode mudar com a opinião pública.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83ADEBD-A16E-4B1A-B453-0AD30C097D49}"/>
              </a:ext>
            </a:extLst>
          </p:cNvPr>
          <p:cNvSpPr>
            <a:spLocks noGrp="1"/>
          </p:cNvSpPr>
          <p:nvPr/>
        </p:nvSpPr>
        <p:spPr>
          <a:xfrm>
            <a:off x="857250" y="4095750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89D533DA-26C9-460D-AEA8-BBC8B0E6DFD6}"/>
              </a:ext>
            </a:extLst>
          </p:cNvPr>
          <p:cNvSpPr>
            <a:spLocks noGrp="1"/>
          </p:cNvSpPr>
          <p:nvPr/>
        </p:nvSpPr>
        <p:spPr>
          <a:xfrm>
            <a:off x="1123950" y="4095750"/>
            <a:ext cx="42100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Há</a:t>
            </a:r>
            <a:r>
              <a:rPr sz="1575" b="0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muito</a:t>
            </a:r>
            <a:r>
              <a:rPr sz="1575" b="0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mais</a:t>
            </a:r>
            <a:r>
              <a:rPr sz="1575" b="0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dado </a:t>
            </a:r>
            <a:r>
              <a:rPr sz="1575" b="0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não</a:t>
            </a:r>
            <a:r>
              <a:rPr sz="1575" b="0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rotulado</a:t>
            </a:r>
            <a:r>
              <a:rPr sz="1575" b="0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575" b="0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que</a:t>
            </a:r>
            <a:r>
              <a:rPr sz="1575" b="0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dado </a:t>
            </a:r>
            <a:r>
              <a:rPr sz="1575" b="0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rotulado</a:t>
            </a:r>
            <a:r>
              <a:rPr sz="1575" b="0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.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A734C72C-7F8B-4EA3-8269-5F266598D765}"/>
              </a:ext>
            </a:extLst>
          </p:cNvPr>
          <p:cNvSpPr>
            <a:spLocks noGrp="1"/>
          </p:cNvSpPr>
          <p:nvPr/>
        </p:nvSpPr>
        <p:spPr>
          <a:xfrm>
            <a:off x="6572250" y="2171700"/>
            <a:ext cx="4000500" cy="2524125"/>
          </a:xfrm>
          <a:prstGeom prst="roundRect">
            <a:avLst>
              <a:gd name="adj" fmla="val 4528"/>
            </a:avLst>
          </a:prstGeom>
          <a:solidFill>
            <a:srgbClr val="E8F1F8"/>
          </a:solidFill>
          <a:ln w="9525">
            <a:solidFill>
              <a:srgbClr val="BED2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42AD377D-5B8D-439A-9E86-208AF66DF902}"/>
              </a:ext>
            </a:extLst>
          </p:cNvPr>
          <p:cNvSpPr>
            <a:spLocks noGrp="1"/>
          </p:cNvSpPr>
          <p:nvPr/>
        </p:nvSpPr>
        <p:spPr>
          <a:xfrm>
            <a:off x="6858000" y="2533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Pergunta do artigo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10BA9B30-4D2E-4F12-9035-5020D284855C}"/>
              </a:ext>
            </a:extLst>
          </p:cNvPr>
          <p:cNvSpPr>
            <a:spLocks noGrp="1"/>
          </p:cNvSpPr>
          <p:nvPr/>
        </p:nvSpPr>
        <p:spPr>
          <a:xfrm>
            <a:off x="6858000" y="2928937"/>
            <a:ext cx="3143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Como </a:t>
            </a:r>
            <a:r>
              <a:rPr sz="1800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explorar</a:t>
            </a:r>
            <a:r>
              <a:rPr sz="1800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textos</a:t>
            </a:r>
            <a:r>
              <a:rPr sz="1800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não</a:t>
            </a:r>
            <a:r>
              <a:rPr sz="1800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rotulados</a:t>
            </a:r>
            <a:endParaRPr sz="1800" b="1" dirty="0">
              <a:solidFill>
                <a:srgbClr val="14213D"/>
              </a:solidFill>
              <a:latin typeface="Aptos"/>
              <a:ea typeface="Aptos"/>
              <a:cs typeface="Aptos"/>
            </a:endParaRPr>
          </a:p>
          <a:p>
            <a:pPr algn="l">
              <a:defRPr sz="180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800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sem</a:t>
            </a:r>
            <a:r>
              <a:rPr sz="1800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perder</a:t>
            </a:r>
            <a:r>
              <a:rPr sz="1800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velocidade</a:t>
            </a:r>
            <a:r>
              <a:rPr sz="1800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em</a:t>
            </a:r>
            <a:r>
              <a:rPr sz="1800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 </a:t>
            </a:r>
            <a:r>
              <a:rPr sz="1800" b="1" dirty="0" err="1">
                <a:solidFill>
                  <a:srgbClr val="14213D"/>
                </a:solidFill>
                <a:latin typeface="Aptos"/>
                <a:ea typeface="Aptos"/>
                <a:cs typeface="Aptos"/>
              </a:rPr>
              <a:t>fluxo</a:t>
            </a:r>
            <a:r>
              <a:rPr sz="1800" b="1" dirty="0">
                <a:solidFill>
                  <a:srgbClr val="14213D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14BBD1C3-64FF-4E69-8408-4FA3E9F9D909}"/>
              </a:ext>
            </a:extLst>
          </p:cNvPr>
          <p:cNvSpPr>
            <a:spLocks noGrp="1"/>
          </p:cNvSpPr>
          <p:nvPr/>
        </p:nvSpPr>
        <p:spPr>
          <a:xfrm>
            <a:off x="6858000" y="4208929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275" b="1" dirty="0" err="1">
                <a:solidFill>
                  <a:srgbClr val="167C80"/>
                </a:solidFill>
                <a:latin typeface="Aptos"/>
                <a:ea typeface="Aptos"/>
                <a:cs typeface="Aptos"/>
              </a:rPr>
              <a:t>Proposta</a:t>
            </a:r>
            <a:r>
              <a:rPr sz="1275" b="1" dirty="0">
                <a:solidFill>
                  <a:srgbClr val="167C80"/>
                </a:solidFill>
                <a:latin typeface="Aptos"/>
                <a:ea typeface="Aptos"/>
                <a:cs typeface="Aptos"/>
              </a:rPr>
              <a:t>: Semi-Supervised </a:t>
            </a:r>
            <a:r>
              <a:rPr sz="1275" b="1" dirty="0" err="1">
                <a:solidFill>
                  <a:srgbClr val="167C80"/>
                </a:solidFill>
                <a:latin typeface="Aptos"/>
                <a:ea typeface="Aptos"/>
                <a:cs typeface="Aptos"/>
              </a:rPr>
              <a:t>WiSARD</a:t>
            </a:r>
            <a:r>
              <a:rPr sz="1275" b="1" dirty="0">
                <a:solidFill>
                  <a:srgbClr val="167C80"/>
                </a:solidFill>
                <a:latin typeface="Aptos"/>
                <a:ea typeface="Aptos"/>
                <a:cs typeface="Aptos"/>
              </a:rPr>
              <a:t> (SSW)</a:t>
            </a:r>
          </a:p>
        </p:txBody>
      </p:sp>
    </p:spTree>
    <p:extLst>
      <p:ext uri="{BB962C8B-B14F-4D97-AF65-F5344CB8AC3E}">
        <p14:creationId xmlns:p14="http://schemas.microsoft.com/office/powerpoint/2010/main" val="4591345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tângulo 20">
            <a:extLst>
              <a:ext uri="{FF2B5EF4-FFF2-40B4-BE49-F238E27FC236}">
                <a16:creationId xmlns:a16="http://schemas.microsoft.com/office/drawing/2014/main" id="{8A249C06-EAFA-45D4-8B9D-C8190CCDF169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D55F098-7FC9-469F-9C8A-77AB6BE52F4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1 | MÉTODO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E9C8E1FD-223F-435A-A08F-614D5A5D0FFF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SSW transforma a WiSARD em um classificador de autoaprendizado controlado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87FA307-7F9C-4DEF-891D-AA81B50C4BB0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FB1DD595-B9CA-4DD6-AC43-B84EDB433C8A}"/>
              </a:ext>
            </a:extLst>
          </p:cNvPr>
          <p:cNvSpPr>
            <a:spLocks noGrp="1"/>
          </p:cNvSpPr>
          <p:nvPr/>
        </p:nvSpPr>
        <p:spPr>
          <a:xfrm>
            <a:off x="781050" y="2571750"/>
            <a:ext cx="2238375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F6210DD-D9E0-4CA1-8F52-945D745EFCC6}"/>
              </a:ext>
            </a:extLst>
          </p:cNvPr>
          <p:cNvSpPr>
            <a:spLocks noGrp="1"/>
          </p:cNvSpPr>
          <p:nvPr/>
        </p:nvSpPr>
        <p:spPr>
          <a:xfrm>
            <a:off x="952500" y="2857500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1. Treinar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96F22EAC-4FDD-4C87-99EC-6FCBBD131DF1}"/>
              </a:ext>
            </a:extLst>
          </p:cNvPr>
          <p:cNvSpPr>
            <a:spLocks noGrp="1"/>
          </p:cNvSpPr>
          <p:nvPr/>
        </p:nvSpPr>
        <p:spPr>
          <a:xfrm>
            <a:off x="952500" y="3295650"/>
            <a:ext cx="185737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Padrões rotulados alimentam os discriminadores.</a:t>
            </a: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252B6212-3FC3-411D-9869-114E9CA6BE23}"/>
              </a:ext>
            </a:extLst>
          </p:cNvPr>
          <p:cNvSpPr>
            <a:spLocks noGrp="1"/>
          </p:cNvSpPr>
          <p:nvPr/>
        </p:nvSpPr>
        <p:spPr>
          <a:xfrm>
            <a:off x="3067050" y="3238500"/>
            <a:ext cx="361950" cy="238125"/>
          </a:xfrm>
          <a:prstGeom prst="righ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B9B19840-58BB-4293-913C-A9FE5EAAC615}"/>
              </a:ext>
            </a:extLst>
          </p:cNvPr>
          <p:cNvSpPr>
            <a:spLocks noGrp="1"/>
          </p:cNvSpPr>
          <p:nvPr/>
        </p:nvSpPr>
        <p:spPr>
          <a:xfrm>
            <a:off x="3543300" y="2571750"/>
            <a:ext cx="2238375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7EFCD7DC-A6D2-4B7C-BCA0-5B2C3C43B5E5}"/>
              </a:ext>
            </a:extLst>
          </p:cNvPr>
          <p:cNvSpPr>
            <a:spLocks noGrp="1"/>
          </p:cNvSpPr>
          <p:nvPr/>
        </p:nvSpPr>
        <p:spPr>
          <a:xfrm>
            <a:off x="3714750" y="2857500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2. Predizer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B5FBEDB9-8C6C-4A7A-B49E-123A77F3AE4B}"/>
              </a:ext>
            </a:extLst>
          </p:cNvPr>
          <p:cNvSpPr>
            <a:spLocks noGrp="1"/>
          </p:cNvSpPr>
          <p:nvPr/>
        </p:nvSpPr>
        <p:spPr>
          <a:xfrm>
            <a:off x="3714750" y="3295650"/>
            <a:ext cx="185737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Cada texto binário ativa memórias RAM por classe.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91D5B645-7BEA-4FDD-A9B2-0E5DAF3BD23A}"/>
              </a:ext>
            </a:extLst>
          </p:cNvPr>
          <p:cNvSpPr>
            <a:spLocks noGrp="1"/>
          </p:cNvSpPr>
          <p:nvPr/>
        </p:nvSpPr>
        <p:spPr>
          <a:xfrm>
            <a:off x="5829300" y="3238500"/>
            <a:ext cx="361950" cy="238125"/>
          </a:xfrm>
          <a:prstGeom prst="righ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1BAF6271-5463-40EE-A4E8-901BA70A005B}"/>
              </a:ext>
            </a:extLst>
          </p:cNvPr>
          <p:cNvSpPr>
            <a:spLocks noGrp="1"/>
          </p:cNvSpPr>
          <p:nvPr/>
        </p:nvSpPr>
        <p:spPr>
          <a:xfrm>
            <a:off x="6305550" y="2571750"/>
            <a:ext cx="2238375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37A540A0-04F1-49E2-AAF7-31C544694553}"/>
              </a:ext>
            </a:extLst>
          </p:cNvPr>
          <p:cNvSpPr>
            <a:spLocks noGrp="1"/>
          </p:cNvSpPr>
          <p:nvPr/>
        </p:nvSpPr>
        <p:spPr>
          <a:xfrm>
            <a:off x="6477000" y="2857500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3. Medir confiança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A434B2C3-2797-4AF7-8922-B3A39A45F032}"/>
              </a:ext>
            </a:extLst>
          </p:cNvPr>
          <p:cNvSpPr>
            <a:spLocks noGrp="1"/>
          </p:cNvSpPr>
          <p:nvPr/>
        </p:nvSpPr>
        <p:spPr>
          <a:xfrm>
            <a:off x="6477000" y="3295650"/>
            <a:ext cx="185737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Compara a melhor e a segunda melhor resposta.</a:t>
            </a:r>
          </a:p>
        </p:txBody>
      </p:sp>
      <p:sp>
        <p:nvSpPr>
          <p:cNvPr id="16" name="Seta: para a Direita 15">
            <a:extLst>
              <a:ext uri="{FF2B5EF4-FFF2-40B4-BE49-F238E27FC236}">
                <a16:creationId xmlns:a16="http://schemas.microsoft.com/office/drawing/2014/main" id="{3995AB2F-52AB-4315-9B21-F04F57CC12F3}"/>
              </a:ext>
            </a:extLst>
          </p:cNvPr>
          <p:cNvSpPr>
            <a:spLocks noGrp="1"/>
          </p:cNvSpPr>
          <p:nvPr/>
        </p:nvSpPr>
        <p:spPr>
          <a:xfrm>
            <a:off x="8591550" y="3238500"/>
            <a:ext cx="361950" cy="238125"/>
          </a:xfrm>
          <a:prstGeom prst="righ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2894225B-0248-4286-A3B4-F15E92F44F32}"/>
              </a:ext>
            </a:extLst>
          </p:cNvPr>
          <p:cNvSpPr>
            <a:spLocks noGrp="1"/>
          </p:cNvSpPr>
          <p:nvPr/>
        </p:nvSpPr>
        <p:spPr>
          <a:xfrm>
            <a:off x="9067800" y="2571750"/>
            <a:ext cx="2238375" cy="1905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E4FE8865-8418-4EF7-A922-EED79A475FEB}"/>
              </a:ext>
            </a:extLst>
          </p:cNvPr>
          <p:cNvSpPr>
            <a:spLocks noGrp="1"/>
          </p:cNvSpPr>
          <p:nvPr/>
        </p:nvSpPr>
        <p:spPr>
          <a:xfrm>
            <a:off x="9239250" y="2857500"/>
            <a:ext cx="18573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4. Realimentar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08BF3F9E-F515-496B-9A12-33F6EB3050E7}"/>
              </a:ext>
            </a:extLst>
          </p:cNvPr>
          <p:cNvSpPr>
            <a:spLocks noGrp="1"/>
          </p:cNvSpPr>
          <p:nvPr/>
        </p:nvSpPr>
        <p:spPr>
          <a:xfrm>
            <a:off x="9239250" y="3295650"/>
            <a:ext cx="1857375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Só exemplos acima do limiar entram como treino.</a:t>
            </a:r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B6A855FC-8207-4A84-800A-8DBE6CDA1AF4}"/>
              </a:ext>
            </a:extLst>
          </p:cNvPr>
          <p:cNvSpPr>
            <a:spLocks noGrp="1"/>
          </p:cNvSpPr>
          <p:nvPr/>
        </p:nvSpPr>
        <p:spPr>
          <a:xfrm>
            <a:off x="781050" y="5124450"/>
            <a:ext cx="1028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A adaptação textual evita que padrões totalmente nulos influenciem a decisão, reduzindo o efeito da esparsidade.</a:t>
            </a:r>
          </a:p>
        </p:txBody>
      </p:sp>
    </p:spTree>
    <p:extLst>
      <p:ext uri="{BB962C8B-B14F-4D97-AF65-F5344CB8AC3E}">
        <p14:creationId xmlns:p14="http://schemas.microsoft.com/office/powerpoint/2010/main" val="755198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tângulo 26">
            <a:extLst>
              <a:ext uri="{FF2B5EF4-FFF2-40B4-BE49-F238E27FC236}">
                <a16:creationId xmlns:a16="http://schemas.microsoft.com/office/drawing/2014/main" id="{4C8EB2FC-5F14-4190-831A-EE23DEB83681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D29C1A24-C3E6-4E6E-98DA-A275B7C08E64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1 | EVIDÊNCIAS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126EF2E-1765-4EB5-A72D-20662EBC1FC4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SSW troca pequena perda de acurácia por grande ganho de tempo de treinamento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40218296-4376-4C0F-8FB2-631A676275EF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D07149EF-742F-4F39-AAE5-080E71A5E341}"/>
              </a:ext>
            </a:extLst>
          </p:cNvPr>
          <p:cNvSpPr>
            <a:spLocks noGrp="1"/>
          </p:cNvSpPr>
          <p:nvPr/>
        </p:nvSpPr>
        <p:spPr>
          <a:xfrm>
            <a:off x="876300" y="2047875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Acurácia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CFCAE5B-5BEF-41DB-B3A3-B88993D82718}"/>
              </a:ext>
            </a:extLst>
          </p:cNvPr>
          <p:cNvSpPr>
            <a:spLocks noGrp="1"/>
          </p:cNvSpPr>
          <p:nvPr/>
        </p:nvSpPr>
        <p:spPr>
          <a:xfrm>
            <a:off x="876300" y="2533650"/>
            <a:ext cx="1095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OMD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172A04A8-CCAB-442A-AB5A-43B43E5EEFB0}"/>
              </a:ext>
            </a:extLst>
          </p:cNvPr>
          <p:cNvSpPr>
            <a:spLocks noGrp="1"/>
          </p:cNvSpPr>
          <p:nvPr/>
        </p:nvSpPr>
        <p:spPr>
          <a:xfrm>
            <a:off x="2000250" y="2562225"/>
            <a:ext cx="1825704" cy="171450"/>
          </a:xfrm>
          <a:prstGeom prst="rect">
            <a:avLst/>
          </a:prstGeom>
          <a:solidFill>
            <a:srgbClr val="167C80"/>
          </a:solidFill>
          <a:ln w="0">
            <a:solidFill>
              <a:srgbClr val="167C8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70785A95-3504-4926-90AB-4DED69ABD918}"/>
              </a:ext>
            </a:extLst>
          </p:cNvPr>
          <p:cNvSpPr>
            <a:spLocks noGrp="1"/>
          </p:cNvSpPr>
          <p:nvPr/>
        </p:nvSpPr>
        <p:spPr>
          <a:xfrm>
            <a:off x="4048125" y="2533650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69.7%  SSW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C893121-39DC-4A71-8C83-B3EEE077D0DC}"/>
              </a:ext>
            </a:extLst>
          </p:cNvPr>
          <p:cNvSpPr>
            <a:spLocks noGrp="1"/>
          </p:cNvSpPr>
          <p:nvPr/>
        </p:nvSpPr>
        <p:spPr>
          <a:xfrm>
            <a:off x="2000250" y="2809875"/>
            <a:ext cx="1883331" cy="171450"/>
          </a:xfrm>
          <a:prstGeom prst="rect">
            <a:avLst/>
          </a:prstGeom>
          <a:solidFill>
            <a:srgbClr val="2F5D8C"/>
          </a:solidFill>
          <a:ln w="0">
            <a:solidFill>
              <a:srgbClr val="2F5D8C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141ABF1-C5A7-46E2-8D8F-BBCE066171E7}"/>
              </a:ext>
            </a:extLst>
          </p:cNvPr>
          <p:cNvSpPr>
            <a:spLocks noGrp="1"/>
          </p:cNvSpPr>
          <p:nvPr/>
        </p:nvSpPr>
        <p:spPr>
          <a:xfrm>
            <a:off x="4048125" y="27813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71.9%  S3VM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F779099B-C2E4-4A51-8E94-979F8D860416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1095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STS-Gold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5EAB4396-30C4-4FEF-B802-418DE1DF1589}"/>
              </a:ext>
            </a:extLst>
          </p:cNvPr>
          <p:cNvSpPr>
            <a:spLocks noGrp="1"/>
          </p:cNvSpPr>
          <p:nvPr/>
        </p:nvSpPr>
        <p:spPr>
          <a:xfrm>
            <a:off x="2000250" y="3228975"/>
            <a:ext cx="1990725" cy="171450"/>
          </a:xfrm>
          <a:prstGeom prst="rect">
            <a:avLst/>
          </a:prstGeom>
          <a:solidFill>
            <a:srgbClr val="167C80"/>
          </a:solidFill>
          <a:ln w="0">
            <a:solidFill>
              <a:srgbClr val="167C8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963A8AC5-56C3-4710-A1B2-5A924BF84938}"/>
              </a:ext>
            </a:extLst>
          </p:cNvPr>
          <p:cNvSpPr>
            <a:spLocks noGrp="1"/>
          </p:cNvSpPr>
          <p:nvPr/>
        </p:nvSpPr>
        <p:spPr>
          <a:xfrm>
            <a:off x="4048125" y="3200400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76%  SSW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82F6B6D2-68DD-4E78-B97F-42A0F7153FB3}"/>
              </a:ext>
            </a:extLst>
          </p:cNvPr>
          <p:cNvSpPr>
            <a:spLocks noGrp="1"/>
          </p:cNvSpPr>
          <p:nvPr/>
        </p:nvSpPr>
        <p:spPr>
          <a:xfrm>
            <a:off x="2000250" y="3476625"/>
            <a:ext cx="2037874" cy="171450"/>
          </a:xfrm>
          <a:prstGeom prst="rect">
            <a:avLst/>
          </a:prstGeom>
          <a:solidFill>
            <a:srgbClr val="2F5D8C"/>
          </a:solidFill>
          <a:ln w="0">
            <a:solidFill>
              <a:srgbClr val="2F5D8C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ADDA4386-F223-40D3-87AC-41DCAC2C0C04}"/>
              </a:ext>
            </a:extLst>
          </p:cNvPr>
          <p:cNvSpPr>
            <a:spLocks noGrp="1"/>
          </p:cNvSpPr>
          <p:nvPr/>
        </p:nvSpPr>
        <p:spPr>
          <a:xfrm>
            <a:off x="4048125" y="344805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77.8%  S3VM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DFC03593-AB72-4DC4-AD20-8F6031D79588}"/>
              </a:ext>
            </a:extLst>
          </p:cNvPr>
          <p:cNvSpPr>
            <a:spLocks noGrp="1"/>
          </p:cNvSpPr>
          <p:nvPr/>
        </p:nvSpPr>
        <p:spPr>
          <a:xfrm>
            <a:off x="876300" y="3867150"/>
            <a:ext cx="109537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IMDB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B4E590AC-741E-4A67-B735-89AE5C19CA37}"/>
              </a:ext>
            </a:extLst>
          </p:cNvPr>
          <p:cNvSpPr>
            <a:spLocks noGrp="1"/>
          </p:cNvSpPr>
          <p:nvPr/>
        </p:nvSpPr>
        <p:spPr>
          <a:xfrm>
            <a:off x="2000250" y="3895725"/>
            <a:ext cx="1668542" cy="171450"/>
          </a:xfrm>
          <a:prstGeom prst="rect">
            <a:avLst/>
          </a:prstGeom>
          <a:solidFill>
            <a:srgbClr val="167C80"/>
          </a:solidFill>
          <a:ln w="0">
            <a:solidFill>
              <a:srgbClr val="167C8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F641107E-CF5D-4BA1-A4A4-6A4420B38831}"/>
              </a:ext>
            </a:extLst>
          </p:cNvPr>
          <p:cNvSpPr>
            <a:spLocks noGrp="1"/>
          </p:cNvSpPr>
          <p:nvPr/>
        </p:nvSpPr>
        <p:spPr>
          <a:xfrm>
            <a:off x="4048125" y="3867150"/>
            <a:ext cx="142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63.7%  SSW</a:t>
            </a:r>
          </a:p>
        </p:txBody>
      </p:sp>
      <p:sp>
        <p:nvSpPr>
          <p:cNvPr id="19" name="Retângulo 18">
            <a:extLst>
              <a:ext uri="{FF2B5EF4-FFF2-40B4-BE49-F238E27FC236}">
                <a16:creationId xmlns:a16="http://schemas.microsoft.com/office/drawing/2014/main" id="{3E8FB335-866D-47DC-A030-6B1453AECBA5}"/>
              </a:ext>
            </a:extLst>
          </p:cNvPr>
          <p:cNvSpPr>
            <a:spLocks noGrp="1"/>
          </p:cNvSpPr>
          <p:nvPr/>
        </p:nvSpPr>
        <p:spPr>
          <a:xfrm>
            <a:off x="2000250" y="4143375"/>
            <a:ext cx="1786414" cy="171450"/>
          </a:xfrm>
          <a:prstGeom prst="rect">
            <a:avLst/>
          </a:prstGeom>
          <a:solidFill>
            <a:srgbClr val="2F5D8C"/>
          </a:solidFill>
          <a:ln w="0">
            <a:solidFill>
              <a:srgbClr val="2F5D8C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Retângulo 19">
            <a:extLst>
              <a:ext uri="{FF2B5EF4-FFF2-40B4-BE49-F238E27FC236}">
                <a16:creationId xmlns:a16="http://schemas.microsoft.com/office/drawing/2014/main" id="{AC7407FC-4049-4886-9848-E478108564B9}"/>
              </a:ext>
            </a:extLst>
          </p:cNvPr>
          <p:cNvSpPr>
            <a:spLocks noGrp="1"/>
          </p:cNvSpPr>
          <p:nvPr/>
        </p:nvSpPr>
        <p:spPr>
          <a:xfrm>
            <a:off x="4048125" y="4114800"/>
            <a:ext cx="1524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68.2%  S3VM</a:t>
            </a:r>
          </a:p>
        </p:txBody>
      </p:sp>
      <p:sp>
        <p:nvSpPr>
          <p:cNvPr id="21" name="Retângulo: Cantos Arredondados 20">
            <a:extLst>
              <a:ext uri="{FF2B5EF4-FFF2-40B4-BE49-F238E27FC236}">
                <a16:creationId xmlns:a16="http://schemas.microsoft.com/office/drawing/2014/main" id="{DA03E2E2-B1E3-49E8-9D4D-145BC2E2013E}"/>
              </a:ext>
            </a:extLst>
          </p:cNvPr>
          <p:cNvSpPr>
            <a:spLocks noGrp="1"/>
          </p:cNvSpPr>
          <p:nvPr/>
        </p:nvSpPr>
        <p:spPr>
          <a:xfrm>
            <a:off x="6667500" y="2038350"/>
            <a:ext cx="3905250" cy="2667000"/>
          </a:xfrm>
          <a:prstGeom prst="roundRect">
            <a:avLst>
              <a:gd name="adj" fmla="val 4286"/>
            </a:avLst>
          </a:prstGeom>
          <a:solidFill>
            <a:srgbClr val="FFF8E6"/>
          </a:solidFill>
          <a:ln w="9525">
            <a:solidFill>
              <a:srgbClr val="F0D18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5EBA60CA-0EBE-4AB9-9101-0AF3316D6F9C}"/>
              </a:ext>
            </a:extLst>
          </p:cNvPr>
          <p:cNvSpPr>
            <a:spLocks noGrp="1"/>
          </p:cNvSpPr>
          <p:nvPr/>
        </p:nvSpPr>
        <p:spPr>
          <a:xfrm>
            <a:off x="6953250" y="233362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Tempo de ajuste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DA1E81F8-93D8-44DC-BFC1-31A5D6558BCA}"/>
              </a:ext>
            </a:extLst>
          </p:cNvPr>
          <p:cNvSpPr>
            <a:spLocks noGrp="1"/>
          </p:cNvSpPr>
          <p:nvPr/>
        </p:nvSpPr>
        <p:spPr>
          <a:xfrm>
            <a:off x="6953250" y="2886075"/>
            <a:ext cx="1238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IMDB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E189A167-9950-4A25-BE54-5E16EB239990}"/>
              </a:ext>
            </a:extLst>
          </p:cNvPr>
          <p:cNvSpPr>
            <a:spLocks noGrp="1"/>
          </p:cNvSpPr>
          <p:nvPr/>
        </p:nvSpPr>
        <p:spPr>
          <a:xfrm>
            <a:off x="6953250" y="3257550"/>
            <a:ext cx="2190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02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SSW: 0,21 s</a:t>
            </a:r>
          </a:p>
        </p:txBody>
      </p:sp>
      <p:sp>
        <p:nvSpPr>
          <p:cNvPr id="25" name="Retângulo 24">
            <a:extLst>
              <a:ext uri="{FF2B5EF4-FFF2-40B4-BE49-F238E27FC236}">
                <a16:creationId xmlns:a16="http://schemas.microsoft.com/office/drawing/2014/main" id="{7FAC1F5F-046E-4954-A3BD-954C80C9DC75}"/>
              </a:ext>
            </a:extLst>
          </p:cNvPr>
          <p:cNvSpPr>
            <a:spLocks noGrp="1"/>
          </p:cNvSpPr>
          <p:nvPr/>
        </p:nvSpPr>
        <p:spPr>
          <a:xfrm>
            <a:off x="6953250" y="3714750"/>
            <a:ext cx="2381250" cy="647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S3VM: 15,13 s</a:t>
            </a:r>
          </a:p>
          <a:p>
            <a:pPr algn="l">
              <a:defRPr sz="16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EM-NB: 66,94 s</a:t>
            </a:r>
          </a:p>
        </p:txBody>
      </p:sp>
      <p:sp>
        <p:nvSpPr>
          <p:cNvPr id="26" name="Retângulo 25">
            <a:extLst>
              <a:ext uri="{FF2B5EF4-FFF2-40B4-BE49-F238E27FC236}">
                <a16:creationId xmlns:a16="http://schemas.microsoft.com/office/drawing/2014/main" id="{B274A73B-EE89-4B56-8918-6D48D65E19AB}"/>
              </a:ext>
            </a:extLst>
          </p:cNvPr>
          <p:cNvSpPr>
            <a:spLocks noGrp="1"/>
          </p:cNvSpPr>
          <p:nvPr/>
        </p:nvSpPr>
        <p:spPr>
          <a:xfrm>
            <a:off x="876300" y="5334000"/>
            <a:ext cx="971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Leitura correta: S3VM vence em acurácia, mas SSW é muito mais rápida para treinar.</a:t>
            </a:r>
          </a:p>
        </p:txBody>
      </p:sp>
    </p:spTree>
    <p:extLst>
      <p:ext uri="{BB962C8B-B14F-4D97-AF65-F5344CB8AC3E}">
        <p14:creationId xmlns:p14="http://schemas.microsoft.com/office/powerpoint/2010/main" val="18043457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tângulo 18">
            <a:extLst>
              <a:ext uri="{FF2B5EF4-FFF2-40B4-BE49-F238E27FC236}">
                <a16:creationId xmlns:a16="http://schemas.microsoft.com/office/drawing/2014/main" id="{7D68C76A-2993-4856-94FD-FFB6C1469348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CBB2FF44-9ADA-43AF-A6FF-7BA62CFFF94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2 | CARNEIRO (2017)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03CB9690-16C3-46BA-BBF1-6B1A356E94AF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tese amplia a discussão: desempenho prático precisa de explicação teórica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A98D30A-6CDF-4718-9955-82E70124AC00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6CA50072-D071-4BBA-87AF-DABB24F482CE}"/>
              </a:ext>
            </a:extLst>
          </p:cNvPr>
          <p:cNvSpPr>
            <a:spLocks noGrp="1"/>
          </p:cNvSpPr>
          <p:nvPr/>
        </p:nvSpPr>
        <p:spPr>
          <a:xfrm>
            <a:off x="857250" y="2000250"/>
            <a:ext cx="27622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0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Duas frentes</a:t>
            </a:r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FE264318-35F6-4B91-88D3-273B99BDEBF7}"/>
              </a:ext>
            </a:extLst>
          </p:cNvPr>
          <p:cNvSpPr>
            <a:spLocks noGrp="1"/>
          </p:cNvSpPr>
          <p:nvPr/>
        </p:nvSpPr>
        <p:spPr>
          <a:xfrm>
            <a:off x="857250" y="2667000"/>
            <a:ext cx="447675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6AD5AC46-D505-431C-9A4D-6C675D14D41D}"/>
              </a:ext>
            </a:extLst>
          </p:cNvPr>
          <p:cNvSpPr>
            <a:spLocks noGrp="1"/>
          </p:cNvSpPr>
          <p:nvPr/>
        </p:nvSpPr>
        <p:spPr>
          <a:xfrm>
            <a:off x="1143000" y="3000375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Linguística computacional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419A67B6-E315-44D7-A314-FE3AAC6D5422}"/>
              </a:ext>
            </a:extLst>
          </p:cNvPr>
          <p:cNvSpPr>
            <a:spLocks noGrp="1"/>
          </p:cNvSpPr>
          <p:nvPr/>
        </p:nvSpPr>
        <p:spPr>
          <a:xfrm>
            <a:off x="1143000" y="347662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3131628A-5A45-49BD-AE91-9288899FF01A}"/>
              </a:ext>
            </a:extLst>
          </p:cNvPr>
          <p:cNvSpPr>
            <a:spLocks noGrp="1"/>
          </p:cNvSpPr>
          <p:nvPr/>
        </p:nvSpPr>
        <p:spPr>
          <a:xfrm>
            <a:off x="1409700" y="3476625"/>
            <a:ext cx="3352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mWANN-Tagger para etiquetagem gramatical (POS).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19376568-D9FD-461B-B1C1-5F08517C5469}"/>
              </a:ext>
            </a:extLst>
          </p:cNvPr>
          <p:cNvSpPr>
            <a:spLocks noGrp="1"/>
          </p:cNvSpPr>
          <p:nvPr/>
        </p:nvSpPr>
        <p:spPr>
          <a:xfrm>
            <a:off x="1143000" y="4143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7F909C84-0069-42FF-B484-A30B8E94741A}"/>
              </a:ext>
            </a:extLst>
          </p:cNvPr>
          <p:cNvSpPr>
            <a:spLocks noGrp="1"/>
          </p:cNvSpPr>
          <p:nvPr/>
        </p:nvSpPr>
        <p:spPr>
          <a:xfrm>
            <a:off x="1409700" y="4143375"/>
            <a:ext cx="3352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Contexto e sufixos ajudam em ambiguidade e palavras desconhecidas.</a:t>
            </a:r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DE1344BE-2A90-4632-B8F7-5EDB6871450F}"/>
              </a:ext>
            </a:extLst>
          </p:cNvPr>
          <p:cNvSpPr>
            <a:spLocks noGrp="1"/>
          </p:cNvSpPr>
          <p:nvPr/>
        </p:nvSpPr>
        <p:spPr>
          <a:xfrm>
            <a:off x="6286500" y="2667000"/>
            <a:ext cx="4476750" cy="2286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A02EBF9D-6131-4746-B813-E26561640951}"/>
              </a:ext>
            </a:extLst>
          </p:cNvPr>
          <p:cNvSpPr>
            <a:spLocks noGrp="1"/>
          </p:cNvSpPr>
          <p:nvPr/>
        </p:nvSpPr>
        <p:spPr>
          <a:xfrm>
            <a:off x="6572250" y="3000375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Teoria de aprendizado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CF75A0D1-A2D3-4F1A-9EDC-8000A5C9252D}"/>
              </a:ext>
            </a:extLst>
          </p:cNvPr>
          <p:cNvSpPr>
            <a:spLocks noGrp="1"/>
          </p:cNvSpPr>
          <p:nvPr/>
        </p:nvSpPr>
        <p:spPr>
          <a:xfrm>
            <a:off x="6572250" y="347662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98EBE96B-225B-4C4D-A0ED-C5586C171C01}"/>
              </a:ext>
            </a:extLst>
          </p:cNvPr>
          <p:cNvSpPr>
            <a:spLocks noGrp="1"/>
          </p:cNvSpPr>
          <p:nvPr/>
        </p:nvSpPr>
        <p:spPr>
          <a:xfrm>
            <a:off x="6838950" y="3476625"/>
            <a:ext cx="3352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Analisa WiSARD e bleaching pela dimensão VC.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E4644DAB-CB9A-40F4-9E2F-656043737936}"/>
              </a:ext>
            </a:extLst>
          </p:cNvPr>
          <p:cNvSpPr>
            <a:spLocks noGrp="1"/>
          </p:cNvSpPr>
          <p:nvPr/>
        </p:nvSpPr>
        <p:spPr>
          <a:xfrm>
            <a:off x="6572250" y="414337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504B7AE7-49E6-42FA-84A5-B4C43CEEA6A7}"/>
              </a:ext>
            </a:extLst>
          </p:cNvPr>
          <p:cNvSpPr>
            <a:spLocks noGrp="1"/>
          </p:cNvSpPr>
          <p:nvPr/>
        </p:nvSpPr>
        <p:spPr>
          <a:xfrm>
            <a:off x="6838950" y="4143375"/>
            <a:ext cx="33528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Investiga a capacidade de generalizar sem perder robustez.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295E2886-ECAB-4EEF-8157-68BC102CF26F}"/>
              </a:ext>
            </a:extLst>
          </p:cNvPr>
          <p:cNvSpPr>
            <a:spLocks noGrp="1"/>
          </p:cNvSpPr>
          <p:nvPr/>
        </p:nvSpPr>
        <p:spPr>
          <a:xfrm>
            <a:off x="857250" y="5467350"/>
            <a:ext cx="1009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Ideia central: a mesma arquitetura pode ser eficiente em NLP e, ao mesmo tempo, estudada formalmente.</a:t>
            </a:r>
          </a:p>
        </p:txBody>
      </p:sp>
    </p:spTree>
    <p:extLst>
      <p:ext uri="{BB962C8B-B14F-4D97-AF65-F5344CB8AC3E}">
        <p14:creationId xmlns:p14="http://schemas.microsoft.com/office/powerpoint/2010/main" val="1025260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ângulo 17">
            <a:extLst>
              <a:ext uri="{FF2B5EF4-FFF2-40B4-BE49-F238E27FC236}">
                <a16:creationId xmlns:a16="http://schemas.microsoft.com/office/drawing/2014/main" id="{1963D46A-6AEC-4A2B-914F-87ECBE641801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56356AD-DB87-44FB-AECD-40F6017F63B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2 | APLICAÇÃO LINGUÍSTICA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1C891FB-1A99-49C4-88B6-4E3AEDBE52E9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Para etiquetar palavras em vários idiomas, a representação de entrada é decisiva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74164568-C7A0-4C4F-955C-01E2CDAE3291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E77F79E0-90E3-4183-8519-73C1A4CA8EEF}"/>
              </a:ext>
            </a:extLst>
          </p:cNvPr>
          <p:cNvSpPr>
            <a:spLocks noGrp="1"/>
          </p:cNvSpPr>
          <p:nvPr/>
        </p:nvSpPr>
        <p:spPr>
          <a:xfrm>
            <a:off x="952500" y="2476500"/>
            <a:ext cx="2381250" cy="1428750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 w="9525">
            <a:solidFill>
              <a:srgbClr val="BED2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8C558A2C-BC49-43E4-948B-B723FA9599F9}"/>
              </a:ext>
            </a:extLst>
          </p:cNvPr>
          <p:cNvSpPr>
            <a:spLocks noGrp="1"/>
          </p:cNvSpPr>
          <p:nvPr/>
        </p:nvSpPr>
        <p:spPr>
          <a:xfrm>
            <a:off x="1162050" y="28575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8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Palavra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CFE3DA48-3D63-49E5-8383-9BE1245678F9}"/>
              </a:ext>
            </a:extLst>
          </p:cNvPr>
          <p:cNvSpPr>
            <a:spLocks noGrp="1"/>
          </p:cNvSpPr>
          <p:nvPr/>
        </p:nvSpPr>
        <p:spPr>
          <a:xfrm>
            <a:off x="1162050" y="3305175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forma lexical</a:t>
            </a: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37A6D25A-885E-4E7E-8583-D0DD8065AF04}"/>
              </a:ext>
            </a:extLst>
          </p:cNvPr>
          <p:cNvSpPr>
            <a:spLocks noGrp="1"/>
          </p:cNvSpPr>
          <p:nvPr/>
        </p:nvSpPr>
        <p:spPr>
          <a:xfrm>
            <a:off x="3409950" y="3000375"/>
            <a:ext cx="514350" cy="266700"/>
          </a:xfrm>
          <a:prstGeom prst="righ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D8A650C1-F708-4D43-A290-01452EEC3FA2}"/>
              </a:ext>
            </a:extLst>
          </p:cNvPr>
          <p:cNvSpPr>
            <a:spLocks noGrp="1"/>
          </p:cNvSpPr>
          <p:nvPr/>
        </p:nvSpPr>
        <p:spPr>
          <a:xfrm>
            <a:off x="4095750" y="2476500"/>
            <a:ext cx="2381250" cy="1428750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 w="9525">
            <a:solidFill>
              <a:srgbClr val="BED2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6C6AA5D-2960-408C-923A-9594FC0E604F}"/>
              </a:ext>
            </a:extLst>
          </p:cNvPr>
          <p:cNvSpPr>
            <a:spLocks noGrp="1"/>
          </p:cNvSpPr>
          <p:nvPr/>
        </p:nvSpPr>
        <p:spPr>
          <a:xfrm>
            <a:off x="4305300" y="28575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8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Contexto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037F39F3-5E23-4D54-9A0F-8DD3A56C40B6}"/>
              </a:ext>
            </a:extLst>
          </p:cNvPr>
          <p:cNvSpPr>
            <a:spLocks noGrp="1"/>
          </p:cNvSpPr>
          <p:nvPr/>
        </p:nvSpPr>
        <p:spPr>
          <a:xfrm>
            <a:off x="4305300" y="3305175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vizinhas na frase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236AC132-D442-40DE-A649-9766118A0738}"/>
              </a:ext>
            </a:extLst>
          </p:cNvPr>
          <p:cNvSpPr>
            <a:spLocks noGrp="1"/>
          </p:cNvSpPr>
          <p:nvPr/>
        </p:nvSpPr>
        <p:spPr>
          <a:xfrm>
            <a:off x="6553200" y="3000375"/>
            <a:ext cx="514350" cy="266700"/>
          </a:xfrm>
          <a:prstGeom prst="righ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2A9617C1-E3E9-4B2A-BF19-70A42ABE96FC}"/>
              </a:ext>
            </a:extLst>
          </p:cNvPr>
          <p:cNvSpPr>
            <a:spLocks noGrp="1"/>
          </p:cNvSpPr>
          <p:nvPr/>
        </p:nvSpPr>
        <p:spPr>
          <a:xfrm>
            <a:off x="7239000" y="2476500"/>
            <a:ext cx="2381250" cy="1428750"/>
          </a:xfrm>
          <a:prstGeom prst="roundRect">
            <a:avLst>
              <a:gd name="adj" fmla="val 8000"/>
            </a:avLst>
          </a:prstGeom>
          <a:solidFill>
            <a:srgbClr val="E8F1F8"/>
          </a:solidFill>
          <a:ln w="9525">
            <a:solidFill>
              <a:srgbClr val="BED2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51B900-B9AC-4902-AAC4-BCFCD389FBED}"/>
              </a:ext>
            </a:extLst>
          </p:cNvPr>
          <p:cNvSpPr>
            <a:spLocks noGrp="1"/>
          </p:cNvSpPr>
          <p:nvPr/>
        </p:nvSpPr>
        <p:spPr>
          <a:xfrm>
            <a:off x="7448550" y="2857500"/>
            <a:ext cx="1905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87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Sufixos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2FA7269C-4F77-4370-96CF-79A4C391A167}"/>
              </a:ext>
            </a:extLst>
          </p:cNvPr>
          <p:cNvSpPr>
            <a:spLocks noGrp="1"/>
          </p:cNvSpPr>
          <p:nvPr/>
        </p:nvSpPr>
        <p:spPr>
          <a:xfrm>
            <a:off x="7448550" y="3305175"/>
            <a:ext cx="1905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350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pista para OOV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F05F4550-8AF8-4431-BAE2-A70FB536F54A}"/>
              </a:ext>
            </a:extLst>
          </p:cNvPr>
          <p:cNvSpPr>
            <a:spLocks noGrp="1"/>
          </p:cNvSpPr>
          <p:nvPr/>
        </p:nvSpPr>
        <p:spPr>
          <a:xfrm>
            <a:off x="4762500" y="4476750"/>
            <a:ext cx="2667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95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mWANN-Tagger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A2268378-EC79-448C-A8C6-310C0498948B}"/>
              </a:ext>
            </a:extLst>
          </p:cNvPr>
          <p:cNvSpPr>
            <a:spLocks noGrp="1"/>
          </p:cNvSpPr>
          <p:nvPr/>
        </p:nvSpPr>
        <p:spPr>
          <a:xfrm>
            <a:off x="1428750" y="5191125"/>
            <a:ext cx="93345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7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Resultado: uma configuração universal de parâmetros mostrou desempenho próximo do melhor ajuste específico por idioma; a extensão com prefixos e etiqueta anterior melhorou as acurácias.</a:t>
            </a:r>
          </a:p>
        </p:txBody>
      </p:sp>
    </p:spTree>
    <p:extLst>
      <p:ext uri="{BB962C8B-B14F-4D97-AF65-F5344CB8AC3E}">
        <p14:creationId xmlns:p14="http://schemas.microsoft.com/office/powerpoint/2010/main" val="15931659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tângulo 16">
            <a:extLst>
              <a:ext uri="{FF2B5EF4-FFF2-40B4-BE49-F238E27FC236}">
                <a16:creationId xmlns:a16="http://schemas.microsoft.com/office/drawing/2014/main" id="{78926F93-6B8A-45BD-B3EF-FD1304DB3837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955144A-6230-45FC-AD8F-66D7C179DA0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2 | BLEACHING E TEORIA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53DF6505-C598-4C0F-896C-1EAC86FC5D72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Bleaching combate saturação de memória sem reduzir a capacidade teórica de generalização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17E73FFD-A674-4A3C-9110-42479FFB431E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EEFA9721-7191-45A3-811E-69779B827C92}"/>
              </a:ext>
            </a:extLst>
          </p:cNvPr>
          <p:cNvSpPr>
            <a:spLocks noGrp="1"/>
          </p:cNvSpPr>
          <p:nvPr/>
        </p:nvSpPr>
        <p:spPr>
          <a:xfrm>
            <a:off x="1143000" y="232410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96E31301-4EE0-48FD-BD41-56CDCD5929A0}"/>
              </a:ext>
            </a:extLst>
          </p:cNvPr>
          <p:cNvSpPr>
            <a:spLocks noGrp="1"/>
          </p:cNvSpPr>
          <p:nvPr/>
        </p:nvSpPr>
        <p:spPr>
          <a:xfrm>
            <a:off x="1428750" y="2667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E7F524BD-94AB-4ED0-BCFD-BC2C5F24D9F4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Com muitos padrões, memórias podem saturar e deixar de distinguir classes.</a:t>
            </a:r>
          </a:p>
        </p:txBody>
      </p:sp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2F2450D7-9E2E-42EC-BB73-A723F2B67A34}"/>
              </a:ext>
            </a:extLst>
          </p:cNvPr>
          <p:cNvSpPr>
            <a:spLocks noGrp="1"/>
          </p:cNvSpPr>
          <p:nvPr/>
        </p:nvSpPr>
        <p:spPr>
          <a:xfrm>
            <a:off x="4191000" y="2952750"/>
            <a:ext cx="904875" cy="333375"/>
          </a:xfrm>
          <a:prstGeom prst="righ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9" name="Retângulo: Cantos Arredondados 8">
            <a:extLst>
              <a:ext uri="{FF2B5EF4-FFF2-40B4-BE49-F238E27FC236}">
                <a16:creationId xmlns:a16="http://schemas.microsoft.com/office/drawing/2014/main" id="{65D67984-9123-4C79-92B8-9ADF39236B7C}"/>
              </a:ext>
            </a:extLst>
          </p:cNvPr>
          <p:cNvSpPr>
            <a:spLocks noGrp="1"/>
          </p:cNvSpPr>
          <p:nvPr/>
        </p:nvSpPr>
        <p:spPr>
          <a:xfrm>
            <a:off x="5334000" y="2324100"/>
            <a:ext cx="2857500" cy="1809750"/>
          </a:xfrm>
          <a:prstGeom prst="roundRect">
            <a:avLst>
              <a:gd name="adj" fmla="val 6316"/>
            </a:avLst>
          </a:prstGeom>
          <a:solidFill>
            <a:srgbClr val="EAF5F2"/>
          </a:solidFill>
          <a:ln w="9525">
            <a:solidFill>
              <a:srgbClr val="BDE0D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51E7BB7C-8F7F-4615-954B-551E678FEF1E}"/>
              </a:ext>
            </a:extLst>
          </p:cNvPr>
          <p:cNvSpPr>
            <a:spLocks noGrp="1"/>
          </p:cNvSpPr>
          <p:nvPr/>
        </p:nvSpPr>
        <p:spPr>
          <a:xfrm>
            <a:off x="5619750" y="2667000"/>
            <a:ext cx="2095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Bleaching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4C1CEA80-5364-4E26-A5A8-3178B36BA16B}"/>
              </a:ext>
            </a:extLst>
          </p:cNvPr>
          <p:cNvSpPr>
            <a:spLocks noGrp="1"/>
          </p:cNvSpPr>
          <p:nvPr/>
        </p:nvSpPr>
        <p:spPr>
          <a:xfrm>
            <a:off x="5619750" y="3143250"/>
            <a:ext cx="2095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Eleva limiares para filtrar ativações fracas e desempatar respostas.</a:t>
            </a:r>
          </a:p>
        </p:txBody>
      </p:sp>
      <p:sp>
        <p:nvSpPr>
          <p:cNvPr id="12" name="Seta: para a Direita 11">
            <a:extLst>
              <a:ext uri="{FF2B5EF4-FFF2-40B4-BE49-F238E27FC236}">
                <a16:creationId xmlns:a16="http://schemas.microsoft.com/office/drawing/2014/main" id="{C6406C2D-3670-418C-8209-1B4CBBD91707}"/>
              </a:ext>
            </a:extLst>
          </p:cNvPr>
          <p:cNvSpPr>
            <a:spLocks noGrp="1"/>
          </p:cNvSpPr>
          <p:nvPr/>
        </p:nvSpPr>
        <p:spPr>
          <a:xfrm>
            <a:off x="8382000" y="2952750"/>
            <a:ext cx="904875" cy="333375"/>
          </a:xfrm>
          <a:prstGeom prst="righ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F6D59CDD-66E7-459A-A072-230173016646}"/>
              </a:ext>
            </a:extLst>
          </p:cNvPr>
          <p:cNvSpPr>
            <a:spLocks noGrp="1"/>
          </p:cNvSpPr>
          <p:nvPr/>
        </p:nvSpPr>
        <p:spPr>
          <a:xfrm>
            <a:off x="9525000" y="2324100"/>
            <a:ext cx="1714500" cy="1809750"/>
          </a:xfrm>
          <a:prstGeom prst="roundRect">
            <a:avLst>
              <a:gd name="adj" fmla="val 6667"/>
            </a:avLst>
          </a:prstGeom>
          <a:solidFill>
            <a:srgbClr val="E8F1F8"/>
          </a:solidFill>
          <a:ln w="9525">
            <a:solidFill>
              <a:srgbClr val="BED2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A1C22538-A189-4121-BC52-331F6A2624C2}"/>
              </a:ext>
            </a:extLst>
          </p:cNvPr>
          <p:cNvSpPr>
            <a:spLocks noGrp="1"/>
          </p:cNvSpPr>
          <p:nvPr/>
        </p:nvSpPr>
        <p:spPr>
          <a:xfrm>
            <a:off x="9715500" y="2667000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Achado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A9BFC58E-433A-4905-AB05-99F8FF2222E6}"/>
              </a:ext>
            </a:extLst>
          </p:cNvPr>
          <p:cNvSpPr>
            <a:spLocks noGrp="1"/>
          </p:cNvSpPr>
          <p:nvPr/>
        </p:nvSpPr>
        <p:spPr>
          <a:xfrm>
            <a:off x="9715500" y="3143250"/>
            <a:ext cx="13335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Mesma dimensão VC nas variantes estudadas.</a:t>
            </a:r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008A5DB8-8B29-4DFC-96BA-E637C9388C8C}"/>
              </a:ext>
            </a:extLst>
          </p:cNvPr>
          <p:cNvSpPr>
            <a:spLocks noGrp="1"/>
          </p:cNvSpPr>
          <p:nvPr/>
        </p:nvSpPr>
        <p:spPr>
          <a:xfrm>
            <a:off x="1524000" y="5048250"/>
            <a:ext cx="933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Interpretação: mais robustez operacional não implicou perda teórica de generalização.</a:t>
            </a:r>
          </a:p>
        </p:txBody>
      </p:sp>
    </p:spTree>
    <p:extLst>
      <p:ext uri="{BB962C8B-B14F-4D97-AF65-F5344CB8AC3E}">
        <p14:creationId xmlns:p14="http://schemas.microsoft.com/office/powerpoint/2010/main" val="13223209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tângulo 15">
            <a:extLst>
              <a:ext uri="{FF2B5EF4-FFF2-40B4-BE49-F238E27FC236}">
                <a16:creationId xmlns:a16="http://schemas.microsoft.com/office/drawing/2014/main" id="{6EDE3309-C013-47C6-A9EF-F5F2CF61D7CD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9CE64EE-277B-416C-8340-95D9793C570D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AT | PROBLEMA E CONTRIBUIÇÃO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666B36A5-CDA9-4375-BA1D-B01B7FA0D726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O AT usa os artigos como base para classificar crimes em notícias institucionais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08FBAAD-DF45-42C2-B268-A5E1A4AACE44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C19BE0E-9F90-4784-8E70-11E9EF7B4450}"/>
              </a:ext>
            </a:extLst>
          </p:cNvPr>
          <p:cNvSpPr>
            <a:spLocks noGrp="1"/>
          </p:cNvSpPr>
          <p:nvPr/>
        </p:nvSpPr>
        <p:spPr>
          <a:xfrm>
            <a:off x="857250" y="2143125"/>
            <a:ext cx="1619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Pergunta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68C39EC0-D69B-4445-BBE5-85B111731272}"/>
              </a:ext>
            </a:extLst>
          </p:cNvPr>
          <p:cNvSpPr>
            <a:spLocks noGrp="1"/>
          </p:cNvSpPr>
          <p:nvPr/>
        </p:nvSpPr>
        <p:spPr>
          <a:xfrm>
            <a:off x="857250" y="2600325"/>
            <a:ext cx="4667250" cy="1095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250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Como classificar uma base institucional que cresce, reduzindo chamadas à LLM e preservando auditoria?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7A588FED-F66D-4640-95FE-54C3453E0974}"/>
              </a:ext>
            </a:extLst>
          </p:cNvPr>
          <p:cNvSpPr>
            <a:spLocks noGrp="1"/>
          </p:cNvSpPr>
          <p:nvPr/>
        </p:nvSpPr>
        <p:spPr>
          <a:xfrm>
            <a:off x="6477000" y="2095500"/>
            <a:ext cx="4191000" cy="2428875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5873D54B-A6A4-494F-812D-94109F493A2E}"/>
              </a:ext>
            </a:extLst>
          </p:cNvPr>
          <p:cNvSpPr>
            <a:spLocks noGrp="1"/>
          </p:cNvSpPr>
          <p:nvPr/>
        </p:nvSpPr>
        <p:spPr>
          <a:xfrm>
            <a:off x="6781800" y="2428875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Proposta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02EC63CF-E186-432A-9328-543886C37D10}"/>
              </a:ext>
            </a:extLst>
          </p:cNvPr>
          <p:cNvSpPr>
            <a:spLocks noGrp="1"/>
          </p:cNvSpPr>
          <p:nvPr/>
        </p:nvSpPr>
        <p:spPr>
          <a:xfrm>
            <a:off x="6781800" y="290512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DF852ED2-2640-40C7-ADB8-24AB6A999660}"/>
              </a:ext>
            </a:extLst>
          </p:cNvPr>
          <p:cNvSpPr>
            <a:spLocks noGrp="1"/>
          </p:cNvSpPr>
          <p:nvPr/>
        </p:nvSpPr>
        <p:spPr>
          <a:xfrm>
            <a:off x="7048500" y="2905125"/>
            <a:ext cx="30670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Fundação temática temporalmente estratificada.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5E6ED5C-43EB-42F2-AA88-C11063747E4F}"/>
              </a:ext>
            </a:extLst>
          </p:cNvPr>
          <p:cNvSpPr>
            <a:spLocks noGrp="1"/>
          </p:cNvSpPr>
          <p:nvPr/>
        </p:nvSpPr>
        <p:spPr>
          <a:xfrm>
            <a:off x="6781800" y="347662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60A2389A-CA13-43EA-B277-D88E6E5D0C24}"/>
              </a:ext>
            </a:extLst>
          </p:cNvPr>
          <p:cNvSpPr>
            <a:spLocks noGrp="1"/>
          </p:cNvSpPr>
          <p:nvPr/>
        </p:nvSpPr>
        <p:spPr>
          <a:xfrm>
            <a:off x="7048500" y="3476625"/>
            <a:ext cx="30670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Memória lexical binária WNN, versionada e auditável.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E05FD128-2D07-426F-AB99-5B9BFC3E3DD9}"/>
              </a:ext>
            </a:extLst>
          </p:cNvPr>
          <p:cNvSpPr>
            <a:spLocks noGrp="1"/>
          </p:cNvSpPr>
          <p:nvPr/>
        </p:nvSpPr>
        <p:spPr>
          <a:xfrm>
            <a:off x="6781800" y="4048125"/>
            <a:ext cx="2286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800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•</a:t>
            </a:r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DECF4972-5C60-4A2F-88AF-3B89A33881C8}"/>
              </a:ext>
            </a:extLst>
          </p:cNvPr>
          <p:cNvSpPr>
            <a:spLocks noGrp="1"/>
          </p:cNvSpPr>
          <p:nvPr/>
        </p:nvSpPr>
        <p:spPr>
          <a:xfrm>
            <a:off x="7048500" y="4048125"/>
            <a:ext cx="30670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LLM apenas para casos residuais ou inéditos.</a:t>
            </a:r>
          </a:p>
        </p:txBody>
      </p:sp>
      <p:sp>
        <p:nvSpPr>
          <p:cNvPr id="15" name="Retângulo 14">
            <a:extLst>
              <a:ext uri="{FF2B5EF4-FFF2-40B4-BE49-F238E27FC236}">
                <a16:creationId xmlns:a16="http://schemas.microsoft.com/office/drawing/2014/main" id="{C8B905B2-3DEF-4230-8EC0-69DD2A2D6ED4}"/>
              </a:ext>
            </a:extLst>
          </p:cNvPr>
          <p:cNvSpPr>
            <a:spLocks noGrp="1"/>
          </p:cNvSpPr>
          <p:nvPr/>
        </p:nvSpPr>
        <p:spPr>
          <a:xfrm>
            <a:off x="857250" y="5191125"/>
            <a:ext cx="98107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575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Não é uma reprodução da WiSARD clássica: é uma memória lexical binária inspirada em seus princípios.</a:t>
            </a:r>
          </a:p>
        </p:txBody>
      </p:sp>
    </p:spTree>
    <p:extLst>
      <p:ext uri="{BB962C8B-B14F-4D97-AF65-F5344CB8AC3E}">
        <p14:creationId xmlns:p14="http://schemas.microsoft.com/office/powerpoint/2010/main" val="732306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tângulo 24">
            <a:extLst>
              <a:ext uri="{FF2B5EF4-FFF2-40B4-BE49-F238E27FC236}">
                <a16:creationId xmlns:a16="http://schemas.microsoft.com/office/drawing/2014/main" id="{2A582BA2-4571-41BA-99FE-F1366B8E3E98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4A0C339-48B6-4ECC-BE1E-22F7B821AF03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AT | MÉTODO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FD8F55EB-00E4-4FDC-9DF2-FF15498F194F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decisão combina uma camada determinística para o recorrente e revisão contextual para o residual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AE761765-20C7-4C01-BD3B-38F388987344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0E483686-2CC7-4B06-8DC5-96CA0E9FCE3C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2333625" cy="169545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C2471B3E-1762-4CC4-B1B6-D88A220ADB7B}"/>
              </a:ext>
            </a:extLst>
          </p:cNvPr>
          <p:cNvSpPr>
            <a:spLocks noGrp="1"/>
          </p:cNvSpPr>
          <p:nvPr/>
        </p:nvSpPr>
        <p:spPr>
          <a:xfrm>
            <a:off x="781050" y="2933700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398A83D9-EBE8-4DA1-AB55-962CBE56ED56}"/>
              </a:ext>
            </a:extLst>
          </p:cNvPr>
          <p:cNvSpPr>
            <a:spLocks noGrp="1"/>
          </p:cNvSpPr>
          <p:nvPr/>
        </p:nvSpPr>
        <p:spPr>
          <a:xfrm>
            <a:off x="781050" y="3305175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Fundação temática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07FB98D4-7690-47D3-9BA5-7B23461890E0}"/>
              </a:ext>
            </a:extLst>
          </p:cNvPr>
          <p:cNvSpPr>
            <a:spLocks noGrp="1"/>
          </p:cNvSpPr>
          <p:nvPr/>
        </p:nvSpPr>
        <p:spPr>
          <a:xfrm>
            <a:off x="781050" y="3886200"/>
            <a:ext cx="19526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crimes canônicos + marcadores</a:t>
            </a:r>
          </a:p>
        </p:txBody>
      </p:sp>
      <p:sp>
        <p:nvSpPr>
          <p:cNvPr id="9" name="Seta: para a Direita 8">
            <a:extLst>
              <a:ext uri="{FF2B5EF4-FFF2-40B4-BE49-F238E27FC236}">
                <a16:creationId xmlns:a16="http://schemas.microsoft.com/office/drawing/2014/main" id="{9F9FFEC9-B7CE-48D3-B75E-BB64CB78AA69}"/>
              </a:ext>
            </a:extLst>
          </p:cNvPr>
          <p:cNvSpPr>
            <a:spLocks noGrp="1"/>
          </p:cNvSpPr>
          <p:nvPr/>
        </p:nvSpPr>
        <p:spPr>
          <a:xfrm>
            <a:off x="2971800" y="3333750"/>
            <a:ext cx="371475" cy="238125"/>
          </a:xfrm>
          <a:prstGeom prst="righ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83FDA659-07AF-4824-A335-36142CEC4A78}"/>
              </a:ext>
            </a:extLst>
          </p:cNvPr>
          <p:cNvSpPr>
            <a:spLocks noGrp="1"/>
          </p:cNvSpPr>
          <p:nvPr/>
        </p:nvSpPr>
        <p:spPr>
          <a:xfrm>
            <a:off x="3419475" y="2667000"/>
            <a:ext cx="2333625" cy="169545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E3613E7F-0148-4605-BE31-EC050F2B0E25}"/>
              </a:ext>
            </a:extLst>
          </p:cNvPr>
          <p:cNvSpPr>
            <a:spLocks noGrp="1"/>
          </p:cNvSpPr>
          <p:nvPr/>
        </p:nvSpPr>
        <p:spPr>
          <a:xfrm>
            <a:off x="3590925" y="2933700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90%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C0937B7-F3FB-4B92-8EB4-A7BA790E8381}"/>
              </a:ext>
            </a:extLst>
          </p:cNvPr>
          <p:cNvSpPr>
            <a:spLocks noGrp="1"/>
          </p:cNvSpPr>
          <p:nvPr/>
        </p:nvSpPr>
        <p:spPr>
          <a:xfrm>
            <a:off x="3590925" y="3305175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Reserva incremental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B736478E-2230-4191-8389-A6C9FE7663C3}"/>
              </a:ext>
            </a:extLst>
          </p:cNvPr>
          <p:cNvSpPr>
            <a:spLocks noGrp="1"/>
          </p:cNvSpPr>
          <p:nvPr/>
        </p:nvSpPr>
        <p:spPr>
          <a:xfrm>
            <a:off x="3590925" y="3886200"/>
            <a:ext cx="19526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lotes de notícias</a:t>
            </a:r>
          </a:p>
        </p:txBody>
      </p:sp>
      <p:sp>
        <p:nvSpPr>
          <p:cNvPr id="14" name="Seta: para a Direita 13">
            <a:extLst>
              <a:ext uri="{FF2B5EF4-FFF2-40B4-BE49-F238E27FC236}">
                <a16:creationId xmlns:a16="http://schemas.microsoft.com/office/drawing/2014/main" id="{33D5FAB8-1A72-41D4-99D1-3DEE57A2BAC6}"/>
              </a:ext>
            </a:extLst>
          </p:cNvPr>
          <p:cNvSpPr>
            <a:spLocks noGrp="1"/>
          </p:cNvSpPr>
          <p:nvPr/>
        </p:nvSpPr>
        <p:spPr>
          <a:xfrm>
            <a:off x="5781675" y="3333750"/>
            <a:ext cx="371475" cy="238125"/>
          </a:xfrm>
          <a:prstGeom prst="righ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DCE81FB5-A898-4B26-8D6E-C66B80342C36}"/>
              </a:ext>
            </a:extLst>
          </p:cNvPr>
          <p:cNvSpPr>
            <a:spLocks noGrp="1"/>
          </p:cNvSpPr>
          <p:nvPr/>
        </p:nvSpPr>
        <p:spPr>
          <a:xfrm>
            <a:off x="6229350" y="2667000"/>
            <a:ext cx="2333625" cy="1695450"/>
          </a:xfrm>
          <a:prstGeom prst="roundRect">
            <a:avLst>
              <a:gd name="adj" fmla="val 6742"/>
            </a:avLst>
          </a:prstGeom>
          <a:solidFill>
            <a:srgbClr val="EAF5F2"/>
          </a:solidFill>
          <a:ln w="9525">
            <a:solidFill>
              <a:srgbClr val="BDE0D8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17D2F5E6-FD7B-413D-84B2-BD3CDC73B844}"/>
              </a:ext>
            </a:extLst>
          </p:cNvPr>
          <p:cNvSpPr>
            <a:spLocks noGrp="1"/>
          </p:cNvSpPr>
          <p:nvPr/>
        </p:nvSpPr>
        <p:spPr>
          <a:xfrm>
            <a:off x="6400800" y="2933700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WNN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48ADF405-2FAF-47D2-818E-B0C42D1DD6F1}"/>
              </a:ext>
            </a:extLst>
          </p:cNvPr>
          <p:cNvSpPr>
            <a:spLocks noGrp="1"/>
          </p:cNvSpPr>
          <p:nvPr/>
        </p:nvSpPr>
        <p:spPr>
          <a:xfrm>
            <a:off x="6400800" y="3305175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Memória lexical</a:t>
            </a:r>
          </a:p>
        </p:txBody>
      </p:sp>
      <p:sp>
        <p:nvSpPr>
          <p:cNvPr id="18" name="Retângulo 17">
            <a:extLst>
              <a:ext uri="{FF2B5EF4-FFF2-40B4-BE49-F238E27FC236}">
                <a16:creationId xmlns:a16="http://schemas.microsoft.com/office/drawing/2014/main" id="{F321D4FF-DCBF-48E7-8B91-5C88D999FB4F}"/>
              </a:ext>
            </a:extLst>
          </p:cNvPr>
          <p:cNvSpPr>
            <a:spLocks noGrp="1"/>
          </p:cNvSpPr>
          <p:nvPr/>
        </p:nvSpPr>
        <p:spPr>
          <a:xfrm>
            <a:off x="6400800" y="3886200"/>
            <a:ext cx="19526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cobertura, confiança e margem</a:t>
            </a:r>
          </a:p>
        </p:txBody>
      </p:sp>
      <p:sp>
        <p:nvSpPr>
          <p:cNvPr id="19" name="Seta: para a Direita 18">
            <a:extLst>
              <a:ext uri="{FF2B5EF4-FFF2-40B4-BE49-F238E27FC236}">
                <a16:creationId xmlns:a16="http://schemas.microsoft.com/office/drawing/2014/main" id="{6D8E37CA-3E6C-4F50-8364-226ECF8F3620}"/>
              </a:ext>
            </a:extLst>
          </p:cNvPr>
          <p:cNvSpPr>
            <a:spLocks noGrp="1"/>
          </p:cNvSpPr>
          <p:nvPr/>
        </p:nvSpPr>
        <p:spPr>
          <a:xfrm>
            <a:off x="8591550" y="3333750"/>
            <a:ext cx="371475" cy="238125"/>
          </a:xfrm>
          <a:prstGeom prst="right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0" name="Retângulo: Cantos Arredondados 19">
            <a:extLst>
              <a:ext uri="{FF2B5EF4-FFF2-40B4-BE49-F238E27FC236}">
                <a16:creationId xmlns:a16="http://schemas.microsoft.com/office/drawing/2014/main" id="{ADF17BF3-83DC-405B-9425-F3B279E1699B}"/>
              </a:ext>
            </a:extLst>
          </p:cNvPr>
          <p:cNvSpPr>
            <a:spLocks noGrp="1"/>
          </p:cNvSpPr>
          <p:nvPr/>
        </p:nvSpPr>
        <p:spPr>
          <a:xfrm>
            <a:off x="9039225" y="2667000"/>
            <a:ext cx="2333625" cy="1695450"/>
          </a:xfrm>
          <a:prstGeom prst="roundRect">
            <a:avLst>
              <a:gd name="adj" fmla="val 6742"/>
            </a:avLst>
          </a:prstGeom>
          <a:solidFill>
            <a:srgbClr val="FFFFFF"/>
          </a:solidFill>
          <a:ln w="9525">
            <a:solidFill>
              <a:srgbClr val="D9DEE5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1" name="Retângulo 20">
            <a:extLst>
              <a:ext uri="{FF2B5EF4-FFF2-40B4-BE49-F238E27FC236}">
                <a16:creationId xmlns:a16="http://schemas.microsoft.com/office/drawing/2014/main" id="{80ECBFDB-622B-4837-BC4C-F9B3C4001FB5}"/>
              </a:ext>
            </a:extLst>
          </p:cNvPr>
          <p:cNvSpPr>
            <a:spLocks noGrp="1"/>
          </p:cNvSpPr>
          <p:nvPr/>
        </p:nvSpPr>
        <p:spPr>
          <a:xfrm>
            <a:off x="9210675" y="2933700"/>
            <a:ext cx="1952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35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LLM</a:t>
            </a:r>
          </a:p>
        </p:txBody>
      </p:sp>
      <p:sp>
        <p:nvSpPr>
          <p:cNvPr id="22" name="Retângulo 21">
            <a:extLst>
              <a:ext uri="{FF2B5EF4-FFF2-40B4-BE49-F238E27FC236}">
                <a16:creationId xmlns:a16="http://schemas.microsoft.com/office/drawing/2014/main" id="{9BF48D9D-735F-4844-A546-39C463625DDB}"/>
              </a:ext>
            </a:extLst>
          </p:cNvPr>
          <p:cNvSpPr>
            <a:spLocks noGrp="1"/>
          </p:cNvSpPr>
          <p:nvPr/>
        </p:nvSpPr>
        <p:spPr>
          <a:xfrm>
            <a:off x="9210675" y="3305175"/>
            <a:ext cx="1952625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Revisão residual</a:t>
            </a:r>
          </a:p>
        </p:txBody>
      </p:sp>
      <p:sp>
        <p:nvSpPr>
          <p:cNvPr id="23" name="Retângulo 22">
            <a:extLst>
              <a:ext uri="{FF2B5EF4-FFF2-40B4-BE49-F238E27FC236}">
                <a16:creationId xmlns:a16="http://schemas.microsoft.com/office/drawing/2014/main" id="{FB3FA12D-F701-4432-A02B-89A07D82E241}"/>
              </a:ext>
            </a:extLst>
          </p:cNvPr>
          <p:cNvSpPr>
            <a:spLocks noGrp="1"/>
          </p:cNvSpPr>
          <p:nvPr/>
        </p:nvSpPr>
        <p:spPr>
          <a:xfrm>
            <a:off x="9210675" y="3886200"/>
            <a:ext cx="1952625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ambiguidade, baixa evidência ou novidade</a:t>
            </a:r>
          </a:p>
        </p:txBody>
      </p:sp>
      <p:sp>
        <p:nvSpPr>
          <p:cNvPr id="24" name="Retângulo 23">
            <a:extLst>
              <a:ext uri="{FF2B5EF4-FFF2-40B4-BE49-F238E27FC236}">
                <a16:creationId xmlns:a16="http://schemas.microsoft.com/office/drawing/2014/main" id="{9849499A-E5DA-4DB7-A7B8-194E87075D0C}"/>
              </a:ext>
            </a:extLst>
          </p:cNvPr>
          <p:cNvSpPr>
            <a:spLocks noGrp="1"/>
          </p:cNvSpPr>
          <p:nvPr/>
        </p:nvSpPr>
        <p:spPr>
          <a:xfrm>
            <a:off x="952500" y="5095875"/>
            <a:ext cx="10287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72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Cada decisão preserva: classe, evidência lexical, versão da memória e origem da decisão.</a:t>
            </a:r>
          </a:p>
        </p:txBody>
      </p:sp>
    </p:spTree>
    <p:extLst>
      <p:ext uri="{BB962C8B-B14F-4D97-AF65-F5344CB8AC3E}">
        <p14:creationId xmlns:p14="http://schemas.microsoft.com/office/powerpoint/2010/main" val="17827072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tângulo 17">
            <a:extLst>
              <a:ext uri="{FF2B5EF4-FFF2-40B4-BE49-F238E27FC236}">
                <a16:creationId xmlns:a16="http://schemas.microsoft.com/office/drawing/2014/main" id="{D8D04F84-3E3B-4A19-B8A8-794EBC723408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906D603B-C289-48FC-A6C5-C6BFFE4D1D61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AT | DIAGNÓSTICO DA RODADA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85419313-EBF6-492D-B6A8-A5A058891134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memória WNN absorveu 83,33% da reserva antes de qualquer revisão por LLM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DD0C617-01BD-4138-B5F3-8840A9AAEE8C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38868E87-64D3-42EC-9602-61EF7515712D}"/>
              </a:ext>
            </a:extLst>
          </p:cNvPr>
          <p:cNvSpPr>
            <a:spLocks noGrp="1"/>
          </p:cNvSpPr>
          <p:nvPr/>
        </p:nvSpPr>
        <p:spPr>
          <a:xfrm>
            <a:off x="857250" y="2047875"/>
            <a:ext cx="428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Base total: 8.310 notícias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07982D1D-124B-44CE-AFB1-E55282E1484F}"/>
              </a:ext>
            </a:extLst>
          </p:cNvPr>
          <p:cNvSpPr>
            <a:spLocks noGrp="1"/>
          </p:cNvSpPr>
          <p:nvPr/>
        </p:nvSpPr>
        <p:spPr>
          <a:xfrm>
            <a:off x="857250" y="2714625"/>
            <a:ext cx="2619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Fundação temática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452693D8-955C-4528-8FA1-7BACE511D8B9}"/>
              </a:ext>
            </a:extLst>
          </p:cNvPr>
          <p:cNvSpPr>
            <a:spLocks noGrp="1"/>
          </p:cNvSpPr>
          <p:nvPr/>
        </p:nvSpPr>
        <p:spPr>
          <a:xfrm>
            <a:off x="3619500" y="2743200"/>
            <a:ext cx="753836" cy="2286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D861EF2D-ED3C-40C9-8484-4025BBC5445F}"/>
              </a:ext>
            </a:extLst>
          </p:cNvPr>
          <p:cNvSpPr>
            <a:spLocks noGrp="1"/>
          </p:cNvSpPr>
          <p:nvPr/>
        </p:nvSpPr>
        <p:spPr>
          <a:xfrm>
            <a:off x="8572500" y="271462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F4B942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831  |  10%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DE9FBF2E-C2B0-4E28-AB4D-E6540A8728A0}"/>
              </a:ext>
            </a:extLst>
          </p:cNvPr>
          <p:cNvSpPr>
            <a:spLocks noGrp="1"/>
          </p:cNvSpPr>
          <p:nvPr/>
        </p:nvSpPr>
        <p:spPr>
          <a:xfrm>
            <a:off x="857250" y="3514725"/>
            <a:ext cx="2619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WNN direta na reserva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9ACB102D-88D0-4D88-9E94-6E7C80E497DF}"/>
              </a:ext>
            </a:extLst>
          </p:cNvPr>
          <p:cNvSpPr>
            <a:spLocks noGrp="1"/>
          </p:cNvSpPr>
          <p:nvPr/>
        </p:nvSpPr>
        <p:spPr>
          <a:xfrm>
            <a:off x="3619500" y="3543300"/>
            <a:ext cx="5653314" cy="228600"/>
          </a:xfrm>
          <a:prstGeom prst="rect">
            <a:avLst/>
          </a:prstGeom>
          <a:solidFill>
            <a:srgbClr val="167C80"/>
          </a:solidFill>
          <a:ln w="0">
            <a:solidFill>
              <a:srgbClr val="167C80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685B45A1-02FE-478B-8EC0-4C54737823F5}"/>
              </a:ext>
            </a:extLst>
          </p:cNvPr>
          <p:cNvSpPr>
            <a:spLocks noGrp="1"/>
          </p:cNvSpPr>
          <p:nvPr/>
        </p:nvSpPr>
        <p:spPr>
          <a:xfrm>
            <a:off x="8572500" y="351472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6.232  |  83,33%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FC7CDEC2-A0F3-40F6-BB42-5821DF596835}"/>
              </a:ext>
            </a:extLst>
          </p:cNvPr>
          <p:cNvSpPr>
            <a:spLocks noGrp="1"/>
          </p:cNvSpPr>
          <p:nvPr/>
        </p:nvSpPr>
        <p:spPr>
          <a:xfrm>
            <a:off x="857250" y="4314825"/>
            <a:ext cx="2619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Residual pós-WNN</a:t>
            </a:r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0DE16BC1-C331-40CE-83AA-F37FB193964D}"/>
              </a:ext>
            </a:extLst>
          </p:cNvPr>
          <p:cNvSpPr>
            <a:spLocks noGrp="1"/>
          </p:cNvSpPr>
          <p:nvPr/>
        </p:nvSpPr>
        <p:spPr>
          <a:xfrm>
            <a:off x="3619500" y="4343400"/>
            <a:ext cx="1131207" cy="228600"/>
          </a:xfrm>
          <a:prstGeom prst="rect">
            <a:avLst/>
          </a:prstGeom>
          <a:solidFill>
            <a:srgbClr val="D96C4B"/>
          </a:solidFill>
          <a:ln w="0">
            <a:solidFill>
              <a:srgbClr val="D96C4B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4" name="Retângulo 13">
            <a:extLst>
              <a:ext uri="{FF2B5EF4-FFF2-40B4-BE49-F238E27FC236}">
                <a16:creationId xmlns:a16="http://schemas.microsoft.com/office/drawing/2014/main" id="{21FC0E40-658C-44AC-A1C1-2E68AF8E610F}"/>
              </a:ext>
            </a:extLst>
          </p:cNvPr>
          <p:cNvSpPr>
            <a:spLocks noGrp="1"/>
          </p:cNvSpPr>
          <p:nvPr/>
        </p:nvSpPr>
        <p:spPr>
          <a:xfrm>
            <a:off x="8572500" y="4314825"/>
            <a:ext cx="1809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425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1.247  |  16,66%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2B28E106-2C8D-494A-8BC7-0A32ECFA1917}"/>
              </a:ext>
            </a:extLst>
          </p:cNvPr>
          <p:cNvSpPr>
            <a:spLocks noGrp="1"/>
          </p:cNvSpPr>
          <p:nvPr/>
        </p:nvSpPr>
        <p:spPr>
          <a:xfrm>
            <a:off x="7000875" y="4972050"/>
            <a:ext cx="3524250" cy="762000"/>
          </a:xfrm>
          <a:prstGeom prst="roundRect">
            <a:avLst>
              <a:gd name="adj" fmla="val 15000"/>
            </a:avLst>
          </a:prstGeom>
          <a:solidFill>
            <a:srgbClr val="FFF8E6"/>
          </a:solidFill>
          <a:ln w="9525">
            <a:solidFill>
              <a:srgbClr val="F0D18A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16" name="Retângulo 15">
            <a:extLst>
              <a:ext uri="{FF2B5EF4-FFF2-40B4-BE49-F238E27FC236}">
                <a16:creationId xmlns:a16="http://schemas.microsoft.com/office/drawing/2014/main" id="{1DEE18B3-070F-4902-A049-5A159DAE0873}"/>
              </a:ext>
            </a:extLst>
          </p:cNvPr>
          <p:cNvSpPr>
            <a:spLocks noGrp="1"/>
          </p:cNvSpPr>
          <p:nvPr/>
        </p:nvSpPr>
        <p:spPr>
          <a:xfrm>
            <a:off x="7258050" y="5219700"/>
            <a:ext cx="3095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ctr">
              <a:defRPr sz="150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Cuidado: cobertura não é acurácia.</a:t>
            </a:r>
          </a:p>
        </p:txBody>
      </p:sp>
      <p:sp>
        <p:nvSpPr>
          <p:cNvPr id="17" name="Retângulo 16">
            <a:extLst>
              <a:ext uri="{FF2B5EF4-FFF2-40B4-BE49-F238E27FC236}">
                <a16:creationId xmlns:a16="http://schemas.microsoft.com/office/drawing/2014/main" id="{6DA864C7-477C-4B27-894A-B43F566E16FB}"/>
              </a:ext>
            </a:extLst>
          </p:cNvPr>
          <p:cNvSpPr>
            <a:spLocks noGrp="1"/>
          </p:cNvSpPr>
          <p:nvPr/>
        </p:nvSpPr>
        <p:spPr>
          <a:xfrm>
            <a:off x="857250" y="6048375"/>
            <a:ext cx="9906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75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A redução de chamadas à LLM é operacional; qualidade exige validação humana e métricas de precisão, revocação e F1.</a:t>
            </a:r>
          </a:p>
        </p:txBody>
      </p:sp>
    </p:spTree>
    <p:extLst>
      <p:ext uri="{BB962C8B-B14F-4D97-AF65-F5344CB8AC3E}">
        <p14:creationId xmlns:p14="http://schemas.microsoft.com/office/powerpoint/2010/main" val="29603302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tângulo 12">
            <a:extLst>
              <a:ext uri="{FF2B5EF4-FFF2-40B4-BE49-F238E27FC236}">
                <a16:creationId xmlns:a16="http://schemas.microsoft.com/office/drawing/2014/main" id="{46C21316-E056-48D1-9FDE-9A5F3984F9A1}"/>
              </a:ext>
            </a:extLst>
          </p:cNvPr>
          <p:cNvSpPr>
            <a:spLocks noGrp="1"/>
          </p:cNvSpPr>
          <p:nvPr/>
        </p:nvSpPr>
        <p:spPr>
          <a:xfrm>
            <a:off x="685800" y="514350"/>
            <a:ext cx="609600" cy="57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  <p:txBody>
          <a:bodyPr/>
          <a:lstStyle/>
          <a:p>
            <a:endParaRPr lang="pt-PT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204EB892-48B7-4948-A354-BB225BF4773F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285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125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SÍNTESE</a:t>
            </a: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903DB0B7-ECA4-4B30-B2FC-241A6CA28ACC}"/>
              </a:ext>
            </a:extLst>
          </p:cNvPr>
          <p:cNvSpPr>
            <a:spLocks noGrp="1"/>
          </p:cNvSpPr>
          <p:nvPr/>
        </p:nvSpPr>
        <p:spPr>
          <a:xfrm>
            <a:off x="685800" y="1009650"/>
            <a:ext cx="10287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2625" b="1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2625" b="1">
                <a:solidFill>
                  <a:srgbClr val="14213D"/>
                </a:solidFill>
                <a:latin typeface="Aptos"/>
                <a:ea typeface="Aptos"/>
                <a:cs typeface="Aptos"/>
              </a:rPr>
              <a:t>A contribuição do AT é organizar eficiência, adaptação e auditoria em um único ciclo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2F3A5D8F-C5A7-454E-A30D-DABF3AD6E9AA}"/>
              </a:ext>
            </a:extLst>
          </p:cNvPr>
          <p:cNvSpPr>
            <a:spLocks noGrp="1"/>
          </p:cNvSpPr>
          <p:nvPr/>
        </p:nvSpPr>
        <p:spPr>
          <a:xfrm>
            <a:off x="10953750" y="6858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r">
              <a:defRPr sz="1200" b="1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5E6B7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0A2A045E-25EB-4BAE-9815-70E7AF17114C}"/>
              </a:ext>
            </a:extLst>
          </p:cNvPr>
          <p:cNvSpPr>
            <a:spLocks noGrp="1"/>
          </p:cNvSpPr>
          <p:nvPr/>
        </p:nvSpPr>
        <p:spPr>
          <a:xfrm>
            <a:off x="1000125" y="2095500"/>
            <a:ext cx="1095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1</a:t>
            </a:r>
          </a:p>
        </p:txBody>
      </p:sp>
      <p:sp>
        <p:nvSpPr>
          <p:cNvPr id="6" name="Retângulo 5">
            <a:extLst>
              <a:ext uri="{FF2B5EF4-FFF2-40B4-BE49-F238E27FC236}">
                <a16:creationId xmlns:a16="http://schemas.microsoft.com/office/drawing/2014/main" id="{F55C9B21-175C-41CA-B255-A797A0E0DF3C}"/>
              </a:ext>
            </a:extLst>
          </p:cNvPr>
          <p:cNvSpPr>
            <a:spLocks noGrp="1"/>
          </p:cNvSpPr>
          <p:nvPr/>
        </p:nvSpPr>
        <p:spPr>
          <a:xfrm>
            <a:off x="2381250" y="2095500"/>
            <a:ext cx="762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Aproveitar não rotulados com confiança e alta velocidade de ajuste.</a:t>
            </a:r>
          </a:p>
        </p:txBody>
      </p:sp>
      <p:sp>
        <p:nvSpPr>
          <p:cNvPr id="7" name="Retângulo 6">
            <a:extLst>
              <a:ext uri="{FF2B5EF4-FFF2-40B4-BE49-F238E27FC236}">
                <a16:creationId xmlns:a16="http://schemas.microsoft.com/office/drawing/2014/main" id="{5953E018-AAD5-4ED7-8B00-BEE331C06689}"/>
              </a:ext>
            </a:extLst>
          </p:cNvPr>
          <p:cNvSpPr>
            <a:spLocks noGrp="1"/>
          </p:cNvSpPr>
          <p:nvPr/>
        </p:nvSpPr>
        <p:spPr>
          <a:xfrm>
            <a:off x="1000125" y="3048000"/>
            <a:ext cx="1095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2F5D8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F5D8C"/>
                </a:solidFill>
                <a:latin typeface="Aptos"/>
                <a:ea typeface="Aptos"/>
                <a:cs typeface="Aptos"/>
              </a:rPr>
              <a:t>AA 2</a:t>
            </a:r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79062C89-AFC2-4C2C-A274-3F7BE32B9336}"/>
              </a:ext>
            </a:extLst>
          </p:cNvPr>
          <p:cNvSpPr>
            <a:spLocks noGrp="1"/>
          </p:cNvSpPr>
          <p:nvPr/>
        </p:nvSpPr>
        <p:spPr>
          <a:xfrm>
            <a:off x="2381250" y="3048000"/>
            <a:ext cx="762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Usar representação adequada e bleaching para robustez, com suporte teórico.</a:t>
            </a:r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EA984989-A29B-49E5-B702-C89967A471BA}"/>
              </a:ext>
            </a:extLst>
          </p:cNvPr>
          <p:cNvSpPr>
            <a:spLocks noGrp="1"/>
          </p:cNvSpPr>
          <p:nvPr/>
        </p:nvSpPr>
        <p:spPr>
          <a:xfrm>
            <a:off x="1000125" y="4000500"/>
            <a:ext cx="1095375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650" b="1">
                <a:solidFill>
                  <a:srgbClr val="D96C4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D96C4B"/>
                </a:solidFill>
                <a:latin typeface="Aptos"/>
                <a:ea typeface="Aptos"/>
                <a:cs typeface="Aptos"/>
              </a:rPr>
              <a:t>AT</a:t>
            </a:r>
          </a:p>
        </p:txBody>
      </p:sp>
      <p:sp>
        <p:nvSpPr>
          <p:cNvPr id="10" name="Retângulo 9">
            <a:extLst>
              <a:ext uri="{FF2B5EF4-FFF2-40B4-BE49-F238E27FC236}">
                <a16:creationId xmlns:a16="http://schemas.microsoft.com/office/drawing/2014/main" id="{80EDCED9-F940-45A3-8800-6BBF2DE9FE5D}"/>
              </a:ext>
            </a:extLst>
          </p:cNvPr>
          <p:cNvSpPr>
            <a:spLocks noGrp="1"/>
          </p:cNvSpPr>
          <p:nvPr/>
        </p:nvSpPr>
        <p:spPr>
          <a:xfrm>
            <a:off x="2381250" y="4000500"/>
            <a:ext cx="7620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0">
                <a:solidFill>
                  <a:srgbClr val="14213D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4213D"/>
                </a:solidFill>
                <a:latin typeface="Aptos"/>
                <a:ea typeface="Aptos"/>
                <a:cs typeface="Aptos"/>
              </a:rPr>
              <a:t>Aplicar uma memória textual explícita; reservar a LLM para o que exige contexto.</a:t>
            </a:r>
          </a:p>
        </p:txBody>
      </p:sp>
      <p:sp>
        <p:nvSpPr>
          <p:cNvPr id="11" name="Retângulo 10">
            <a:extLst>
              <a:ext uri="{FF2B5EF4-FFF2-40B4-BE49-F238E27FC236}">
                <a16:creationId xmlns:a16="http://schemas.microsoft.com/office/drawing/2014/main" id="{1A481706-CC6F-4397-BED0-68FD3650E101}"/>
              </a:ext>
            </a:extLst>
          </p:cNvPr>
          <p:cNvSpPr>
            <a:spLocks noGrp="1"/>
          </p:cNvSpPr>
          <p:nvPr/>
        </p:nvSpPr>
        <p:spPr>
          <a:xfrm>
            <a:off x="1000125" y="5238750"/>
            <a:ext cx="9715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725" b="1">
                <a:solidFill>
                  <a:srgbClr val="167C8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167C80"/>
                </a:solidFill>
                <a:latin typeface="Aptos"/>
                <a:ea typeface="Aptos"/>
                <a:cs typeface="Aptos"/>
              </a:rPr>
              <a:t>Limite honesto do AT: a próxima etapa é medir qualidade com rótulos validados por especialistas.</a:t>
            </a:r>
          </a:p>
        </p:txBody>
      </p:sp>
      <p:sp>
        <p:nvSpPr>
          <p:cNvPr id="12" name="Retângulo 11">
            <a:extLst>
              <a:ext uri="{FF2B5EF4-FFF2-40B4-BE49-F238E27FC236}">
                <a16:creationId xmlns:a16="http://schemas.microsoft.com/office/drawing/2014/main" id="{7943D5DD-F05C-47EE-A30F-464D0B8ADF26}"/>
              </a:ext>
            </a:extLst>
          </p:cNvPr>
          <p:cNvSpPr>
            <a:spLocks noGrp="1"/>
          </p:cNvSpPr>
          <p:nvPr/>
        </p:nvSpPr>
        <p:spPr>
          <a:xfrm>
            <a:off x="1000125" y="5905500"/>
            <a:ext cx="6667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t"/>
          <a:lstStyle/>
          <a:p>
            <a:pPr algn="l">
              <a:defRPr sz="1200" b="0">
                <a:solidFill>
                  <a:srgbClr val="5E6B7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5E6B7A"/>
                </a:solidFill>
                <a:latin typeface="Aptos"/>
                <a:ea typeface="Aptos"/>
                <a:cs typeface="Aptos"/>
              </a:rPr>
              <a:t>Referências completas nos PDFs fornecidos e nas notas do apresentador.</a:t>
            </a:r>
          </a:p>
        </p:txBody>
      </p:sp>
    </p:spTree>
    <p:extLst>
      <p:ext uri="{BB962C8B-B14F-4D97-AF65-F5344CB8AC3E}">
        <p14:creationId xmlns:p14="http://schemas.microsoft.com/office/powerpoint/2010/main" val="75515870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2157</Words>
  <Application>Microsoft Office PowerPoint</Application>
  <DocSecurity>0</DocSecurity>
  <PresentationFormat>Widescreen</PresentationFormat>
  <Paragraphs>212</Paragraphs>
  <Slides>13</Slides>
  <Notes>13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13</vt:i4>
      </vt:variant>
    </vt:vector>
  </HeadingPairs>
  <TitlesOfParts>
    <vt:vector size="16" baseType="lpstr">
      <vt:lpstr>Aptos</vt:lpstr>
      <vt:lpstr>Calibri</vt:lpstr>
      <vt:lpstr>ChatGPT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jefferson silva dos anjos</cp:lastModifiedBy>
  <cp:revision>1</cp:revision>
  <dcterms:created xsi:type="dcterms:W3CDTF">2026-07-26T13:33:58Z</dcterms:created>
  <dcterms:modified xsi:type="dcterms:W3CDTF">2026-08-01T16:28:21Z</dcterms:modified>
</cp:coreProperties>
</file>