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c5c3e6e7fb43a7" /><Relationship Type="http://schemas.openxmlformats.org/officeDocument/2006/relationships/extended-properties" Target="/docProps/app.xml" Id="R9cfafd7f8fdd4190" /><Relationship Type="http://schemas.openxmlformats.org/officeDocument/2006/relationships/officeDocument" Target="/ppt/presentation.xml" Id="Rcdc39bd66af044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775a20677942f7"/>
  </p:sldMasterIdLst>
  <p:notesMasterIdLst>
    <p:notesMasterId xmlns:r="http://schemas.openxmlformats.org/officeDocument/2006/relationships" r:id="R5effde56c5894ca6"/>
  </p:notesMasterIdLst>
  <p:sldIdLst>
    <p:sldId xmlns:r="http://schemas.openxmlformats.org/officeDocument/2006/relationships" id="256" r:id="Ra8b860f160ac4aa6"/>
    <p:sldId xmlns:r="http://schemas.openxmlformats.org/officeDocument/2006/relationships" id="257" r:id="Rfbc0995426dc4ffe"/>
    <p:sldId xmlns:r="http://schemas.openxmlformats.org/officeDocument/2006/relationships" id="258" r:id="R9152f51ccf4d43d9"/>
    <p:sldId xmlns:r="http://schemas.openxmlformats.org/officeDocument/2006/relationships" id="259" r:id="Rb83b3d6ca794426b"/>
    <p:sldId xmlns:r="http://schemas.openxmlformats.org/officeDocument/2006/relationships" id="260" r:id="Rd95b8ecf77224f58"/>
    <p:sldId xmlns:r="http://schemas.openxmlformats.org/officeDocument/2006/relationships" id="261" r:id="R2ec7969632ad462c"/>
    <p:sldId xmlns:r="http://schemas.openxmlformats.org/officeDocument/2006/relationships" id="262" r:id="Rd8f2468195de42ad"/>
    <p:sldId xmlns:r="http://schemas.openxmlformats.org/officeDocument/2006/relationships" id="263" r:id="R5281c9bfb24146a2"/>
    <p:sldId xmlns:r="http://schemas.openxmlformats.org/officeDocument/2006/relationships" id="264" r:id="R5b2698a5b44741ac"/>
    <p:sldId xmlns:r="http://schemas.openxmlformats.org/officeDocument/2006/relationships" id="265" r:id="R23d53832aa674cc6"/>
    <p:sldId xmlns:r="http://schemas.openxmlformats.org/officeDocument/2006/relationships" id="266" r:id="Raef085d18a014381"/>
    <p:sldId xmlns:r="http://schemas.openxmlformats.org/officeDocument/2006/relationships" id="267" r:id="Rfa8a58616f4e42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f269c5bdb94c9c" /><Relationship Type="http://schemas.openxmlformats.org/officeDocument/2006/relationships/slideMaster" Target="/ppt/slideMasters/slideMaster1.xml" Id="R1b775a20677942f7" /><Relationship Type="http://schemas.openxmlformats.org/officeDocument/2006/relationships/notesMaster" Target="/ppt/notesMasters/notesMaster1.xml" Id="R5effde56c5894ca6" /><Relationship Type="http://schemas.openxmlformats.org/officeDocument/2006/relationships/presProps" Target="/ppt/presProps.xml" Id="R94b72ec1a89d4365" /><Relationship Type="http://schemas.openxmlformats.org/officeDocument/2006/relationships/tableStyles" Target="/ppt/tableStyles.xml" Id="R1f0e9bfa106b48cf" /><Relationship Type="http://schemas.openxmlformats.org/officeDocument/2006/relationships/slide" Target="/ppt/slides/slide1.xml" Id="Ra8b860f160ac4aa6" /><Relationship Type="http://schemas.openxmlformats.org/officeDocument/2006/relationships/slide" Target="/ppt/slides/slide2.xml" Id="Rfbc0995426dc4ffe" /><Relationship Type="http://schemas.openxmlformats.org/officeDocument/2006/relationships/slide" Target="/ppt/slides/slide3.xml" Id="R9152f51ccf4d43d9" /><Relationship Type="http://schemas.openxmlformats.org/officeDocument/2006/relationships/slide" Target="/ppt/slides/slide4.xml" Id="Rb83b3d6ca794426b" /><Relationship Type="http://schemas.openxmlformats.org/officeDocument/2006/relationships/slide" Target="/ppt/slides/slide5.xml" Id="Rd95b8ecf77224f58" /><Relationship Type="http://schemas.openxmlformats.org/officeDocument/2006/relationships/slide" Target="/ppt/slides/slide6.xml" Id="R2ec7969632ad462c" /><Relationship Type="http://schemas.openxmlformats.org/officeDocument/2006/relationships/slide" Target="/ppt/slides/slide7.xml" Id="Rd8f2468195de42ad" /><Relationship Type="http://schemas.openxmlformats.org/officeDocument/2006/relationships/slide" Target="/ppt/slides/slide8.xml" Id="R5281c9bfb24146a2" /><Relationship Type="http://schemas.openxmlformats.org/officeDocument/2006/relationships/slide" Target="/ppt/slides/slide9.xml" Id="R5b2698a5b44741ac" /><Relationship Type="http://schemas.openxmlformats.org/officeDocument/2006/relationships/slide" Target="/ppt/slides/slide10.xml" Id="R23d53832aa674cc6" /><Relationship Type="http://schemas.openxmlformats.org/officeDocument/2006/relationships/slide" Target="/ppt/slides/slide11.xml" Id="Raef085d18a014381" /><Relationship Type="http://schemas.openxmlformats.org/officeDocument/2006/relationships/slide" Target="/ppt/slides/slide12.xml" Id="Rfa8a58616f4e42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810f7cb2a54d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62bbd7eeee49f6" /><Relationship Type="http://schemas.openxmlformats.org/officeDocument/2006/relationships/notesMaster" Target="/ppt/notesMasters/notesMaster1.xml" Id="Rbb9859fd8b4444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86dee12e8649af" /><Relationship Type="http://schemas.openxmlformats.org/officeDocument/2006/relationships/notesMaster" Target="/ppt/notesMasters/notesMaster1.xml" Id="R51c5ebd8d4ca45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ea1541fd9d4fd7" /><Relationship Type="http://schemas.openxmlformats.org/officeDocument/2006/relationships/notesMaster" Target="/ppt/notesMasters/notesMaster1.xml" Id="Rf38c73f1875241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33341a7c0ac41f3" /><Relationship Type="http://schemas.openxmlformats.org/officeDocument/2006/relationships/notesMaster" Target="/ppt/notesMasters/notesMaster1.xml" Id="R4cb64f3080c84f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9f3a6ff51464fdc" /><Relationship Type="http://schemas.openxmlformats.org/officeDocument/2006/relationships/notesMaster" Target="/ppt/notesMasters/notesMaster1.xml" Id="R0f4f77a0999747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57ad57fd3c4288" /><Relationship Type="http://schemas.openxmlformats.org/officeDocument/2006/relationships/notesMaster" Target="/ppt/notesMasters/notesMaster1.xml" Id="Rb05e2464f8b147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ec1cff679e484c" /><Relationship Type="http://schemas.openxmlformats.org/officeDocument/2006/relationships/notesMaster" Target="/ppt/notesMasters/notesMaster1.xml" Id="R26e4c0ffe40742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829edbe13f45d4" /><Relationship Type="http://schemas.openxmlformats.org/officeDocument/2006/relationships/notesMaster" Target="/ppt/notesMasters/notesMaster1.xml" Id="R1e2f320f99a9441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0b98e7b2904fe8" /><Relationship Type="http://schemas.openxmlformats.org/officeDocument/2006/relationships/notesMaster" Target="/ppt/notesMasters/notesMaster1.xml" Id="Rf6bc4b9d675a4e1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df9c558e02494d" /><Relationship Type="http://schemas.openxmlformats.org/officeDocument/2006/relationships/notesMaster" Target="/ppt/notesMasters/notesMaster1.xml" Id="R2c40bf18243540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dbbf012d5104713" /><Relationship Type="http://schemas.openxmlformats.org/officeDocument/2006/relationships/notesMaster" Target="/ppt/notesMasters/notesMaster1.xml" Id="R5c71efd4c181471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fea1489b024d90" /><Relationship Type="http://schemas.openxmlformats.org/officeDocument/2006/relationships/notesMaster" Target="/ppt/notesMasters/notesMaster1.xml" Id="Rfe7f0d61143140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apresentação está organizada como uma história única: primeiro, a classificação semissupervisionada rápida; depois, as bases teóricas e linguísticas; por fim, a aplicação proposta.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Rangel, F.; Firmino, F.; Lima, P. M. V.; Oliveira, J. (2016). Semi-Supervised Classification of Social Textual Data Using WiSARD. ESANN 2016, pp. 165-170.</a:t>
            </a:r>
          </a:p>
          <a:p xmlns:a="http://schemas.openxmlformats.org/drawingml/2006/main">
            <a:r>
              <a:t>Carneiro, H. C. C. (2017). Theoretical Results on a Weightless Neural Classifier and Application to Computational Linguistics. Tese de Doutorado, COPPE/UFRJ.</a:t>
            </a:r>
          </a:p>
          <a:p xmlns:a="http://schemas.openxmlformats.org/drawingml/2006/main"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este slide para orientar a turma. Os textos não são repetição: o primeiro mostra eficiência em aprendizado semissupervisionado; a tese explica bleaching e aplicações linguísticas; o AT adapta a ideia para um fluxo auditável.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Rangel, F.; Firmino, F.; Lima, P. M. V.; Oliveira, J. (2016). Semi-Supervised Classification of Social Textual Data Using WiSARD. ESANN 2016, pp. 165-170.</a:t>
            </a:r>
          </a:p>
          <a:p xmlns:a="http://schemas.openxmlformats.org/drawingml/2006/main">
            <a:r>
              <a:t>Carneiro, H. C. C. (2017). Theoretical Results on a Weightless Neural Classifier and Application to Computational Linguistics. Tese de Doutorado, COPPE/UFRJ.</a:t>
            </a:r>
          </a:p>
          <a:p xmlns:a="http://schemas.openxmlformats.org/drawingml/2006/main"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que o cenário é especificamente texto de redes sociais. O problema não é só acertar uma classe: é acompanhar um fluxo no qual a anotação humana custa caro e a linguagem muda.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Rangel, F.; Firmino, F.; Lima, P. M. V.; Oliveira, J. (2016). Semi-Supervised Classification of Social Textual Data Using WiSARD. ESANN 2016, pp. 165-170.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WiSARD é uma rede neural sem pesos baseada em memórias RAM. Destaque a salvaguarda: o texto não rotulado só realimenta o modelo quando a confiança é alta. Isso reduz o risco de propagar um erro.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Rangel, F.; Firmino, F.; Lima, P. M. V.; Oliveira, J. (2016). Semi-Supervised Classification of Social Textual Data Using WiSARD. ESANN 2016, pp. 165-170.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Os três conjuntos foram OMD e STS-Gold, de Twitter, e IMDB. Não diga que SSW é a mais acurada: ela não é. A contribuição é acurácia competitiva combinada com treinamento extremamente rápido - especialmente relevante para fluxo de dados.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Rangel, F.; Firmino, F.; Lima, P. M. V.; Oliveira, J. (2016). Semi-Supervised Classification of Social Textual Data Using WiSARD. ESANN 2016, pp. 165-170.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a tese como uma fonte mais ampla. Ela não é um único experimento de classificação temática: integra uma aplicação concreta de POS tagging e uma análise matemática da capacidade de generalização.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Carneiro, H. C. C. (2017). Theoretical Results on a Weightless Neural Classifier and Application to Computational Linguistics. Tese de Doutorado, COPPE/UFRJ.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 tagging é atribuir classe gramatical a cada palavra. Explique OOV como 'palavra que o sistema não viu no treino'. O achado prático importante é que uma representação mais rica - contexto, sufixos e depois prefixos - melhora o resultado.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Carneiro, H. C. C. (2017). Theoretical Results on a Weightless Neural Classifier and Application to Computational Linguistics. Tese de Doutorado, COPPE/UFRJ.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Saturação aqui significa que muitas posições de memória são preenchidas e o classificador perde poder discriminativo. A tese obtém valores exatos da dimensão VC para as variantes tradicional e min-max bleaching analisadas, e conclui que os valores são idênticos.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Carneiro, H. C. C. (2017). Theoretical Results on a Weightless Neural Classifier and Application to Computational Linguistics. Tese de Doutorado, COPPE/UFRJ.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Faça explicitamente a ponte: AA1 inspira treinamento incremental e confiança; AA2 fundamenta que a representação e a robustez importam. O AT não promete uma nova WiSARD clássica; a contribuição é um fluxo operacional auditável.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fundação usa 10% da base e a reserva, 90%, é processada em lotes. A WNN aceita só decisão com evidência suficiente; os casos restantes vão à LLM. As decisões de LLM podem gerar marcadores novos, mas a atualização é controlada e registrada.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Foram 15 lotes de aproximadamente 500 notícias. 1.246 dos 1.247 residuais demandaram chamadas de LLM. A afirmação correta é que houve cobertura de 83,33% pela WNN, não acurácia de 83,33%, porque ainda não existe uma amostra de referência integralmente validada por especialistas.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Feche retomando a pergunta inicial: não se trata de substituir a análise humana por uma regra fixa, mas de encaminhar cada documento para a camada adequada e deixar evidências auditáveis. Convide perguntas sobre a diferença entre cobertura e acurácia, o papel da LLM e como a taxonomia é atualizada.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Rangel, F.; Firmino, F.; Lima, P. M. V.; Oliveira, J. (2016). Semi-Supervised Classification of Social Textual Data Using WiSARD. ESANN 2016, pp. 165-170.</a:t>
            </a:r>
          </a:p>
          <a:p xmlns:a="http://schemas.openxmlformats.org/drawingml/2006/main">
            <a:r>
              <a:t>Carneiro, H. C. C. (2017). Theoretical Results on a Weightless Neural Classifier and Application to Computational Linguistics. Tese de Doutorado, COPPE/UFRJ.</a:t>
            </a:r>
          </a:p>
          <a:p xmlns:a="http://schemas.openxmlformats.org/drawingml/2006/main"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354bfd68ff41a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43a8fd58674637" /><Relationship Type="http://schemas.openxmlformats.org/officeDocument/2006/relationships/slideLayout" Target="/ppt/slideLayouts/slideLayout1.xml" Id="R7d8fa0b40b9b4b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8fa0b40b9b4b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f07657d3342dd" /><Relationship Type="http://schemas.openxmlformats.org/officeDocument/2006/relationships/notesSlide" Target="/ppt/notesSlides/notesSlide1.xml" Id="R09dcdf9f29ea42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1d2ddf3034036" /><Relationship Type="http://schemas.openxmlformats.org/officeDocument/2006/relationships/notesSlide" Target="/ppt/notesSlides/notesSlide2.xml" Id="Re5a86022f4ac4f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9411e60124cc4" /><Relationship Type="http://schemas.openxmlformats.org/officeDocument/2006/relationships/notesSlide" Target="/ppt/notesSlides/notesSlide3.xml" Id="Rda98d44d05394f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9ae0118274b6b" /><Relationship Type="http://schemas.openxmlformats.org/officeDocument/2006/relationships/notesSlide" Target="/ppt/notesSlides/notesSlide4.xml" Id="R275c0ad7bce243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383bc092c4242" /><Relationship Type="http://schemas.openxmlformats.org/officeDocument/2006/relationships/notesSlide" Target="/ppt/notesSlides/notesSlide5.xml" Id="R4ae48f7ba6c742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e1bcc3c0341fc" /><Relationship Type="http://schemas.openxmlformats.org/officeDocument/2006/relationships/notesSlide" Target="/ppt/notesSlides/notesSlide6.xml" Id="R20298147ce7148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44d11a18d4953" /><Relationship Type="http://schemas.openxmlformats.org/officeDocument/2006/relationships/notesSlide" Target="/ppt/notesSlides/notesSlide7.xml" Id="Rfd5dce55541d42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cfe23eee141a4" /><Relationship Type="http://schemas.openxmlformats.org/officeDocument/2006/relationships/notesSlide" Target="/ppt/notesSlides/notesSlide8.xml" Id="R1e23bce9eb5347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c547c74ea4e1d" /><Relationship Type="http://schemas.openxmlformats.org/officeDocument/2006/relationships/notesSlide" Target="/ppt/notesSlides/notesSlide9.xml" Id="R70850f10651b4f9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0aad7c75284a80" /><Relationship Type="http://schemas.openxmlformats.org/officeDocument/2006/relationships/notesSlide" Target="/ppt/notesSlides/notesSlide10.xml" Id="R0b0627f0b55a4e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0ee1449e54d87" /><Relationship Type="http://schemas.openxmlformats.org/officeDocument/2006/relationships/notesSlide" Target="/ppt/notesSlides/notesSlide11.xml" Id="R5a8a9c6d859f44f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f9318a5aa452d" /><Relationship Type="http://schemas.openxmlformats.org/officeDocument/2006/relationships/notesSlide" Target="/ppt/notesSlides/notesSlide12.xml" Id="R27511d7f929b4a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F21F7-F955-4948-990A-36DC9DA21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00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57FCA-D8DD-4370-89CA-0AB77789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885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WiSARD/WNN em textos:</a:t>
            </a:r>
          </a:p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 teoria à aplicação auditável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B318E8-D0B4-4F44-90C4-39D5CD5E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9D5E5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C9D5E5"/>
                </a:solidFill>
                <a:latin typeface="Aptos"/>
                <a:ea typeface="Aptos"/>
                <a:cs typeface="Aptos"/>
              </a:rPr>
              <a:t>Apresentação dos artigos AA e do trabalho final 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DF204-927D-45DE-8104-3868E000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9D5E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9D5E5"/>
                </a:solidFill>
                <a:latin typeface="Aptos"/>
                <a:ea typeface="Aptos"/>
                <a:cs typeface="Aptos"/>
              </a:rPr>
              <a:t>Jefferson S. dos Anjos  |  NT_PF</a:t>
            </a:r>
          </a:p>
        </p:txBody>
      </p:sp>
    </p:spTree>
    <p:extLst>
      <p:ext uri="{BB962C8B-B14F-4D97-AF65-F5344CB8AC3E}">
        <p14:creationId xmlns:p14="http://schemas.microsoft.com/office/powerpoint/2010/main" val="2246051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D787A5-976E-47EF-9935-DE6A5884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00AFB-08B2-4114-A43B-1A7A7A06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VISÃO GERAL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547005-6B50-4C3F-B4F8-25840A55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Os três trabalhos respondem a partes complementares do mesmo problema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42CA3-E128-4D57-ACDA-EA149439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D8EB0-4B02-4EB2-B88A-565234BE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2857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83D35-0EB3-40A9-A3D0-0E2EF545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717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712FA-B0AD-4986-A01E-84EFD630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00375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Aprender com poucos rótulos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9B3A44-3179-4C14-882B-D6B22925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62375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WiSARD semissupervisionada para textos sociais.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43FF0D-1763-473A-B141-196429AB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333625"/>
            <a:ext cx="2857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87CC8C-678A-46C6-8E58-E84C4E5E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717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12C45-670E-4BD0-AFA7-D827D9FB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00375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Entender por que funciona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FF9EE8-A4D1-4E3E-ADA0-CCC797BD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62375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Bleaching, capacidade de generalização e POS multilíngue.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CE5F55-727F-476E-834B-A1094811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33625"/>
            <a:ext cx="2857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E64D45-7C09-4DF7-8373-C32860FE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D63E06-04A8-470C-93AF-27A8411C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00375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Aplicar com governança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CDFC79-4FC8-4DE2-A599-ACC43FCCC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62375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Memória WNN + LLM residual para notícias institucionais.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874A36-7775-4F70-B3B9-6E471EE0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5D8C"/>
          </a:solidFill>
          <a:ln xmlns:a="http://schemas.openxmlformats.org/drawingml/2006/main" w="0">
            <a:solidFill>
              <a:srgbClr val="2F5D8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1FFE90-B3A6-4A88-BDD2-FB3FD38F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62300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5D8C"/>
          </a:solidFill>
          <a:ln xmlns:a="http://schemas.openxmlformats.org/drawingml/2006/main" w="0">
            <a:solidFill>
              <a:srgbClr val="2F5D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49B0BA-1D13-4A99-9AA1-98CE1DE5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Fio condutor: aprendizagem incremental, representação binária e decisões explicáveis.</a:t>
            </a:r>
          </a:p>
        </p:txBody>
      </p:sp>
    </p:spTree>
    <p:extLst>
      <p:ext uri="{BB962C8B-B14F-4D97-AF65-F5344CB8AC3E}">
        <p14:creationId xmlns:p14="http://schemas.microsoft.com/office/powerpoint/2010/main" val="2658279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D181B8-A47D-4568-8D97-3B854CF9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0BA8B-13D8-4619-9891-B8192A5A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 | RANGEL ET AL. (2016)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68338-AC76-4705-9ED6-64DDD5AB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Textos sociais mudam rápido, mas rotular tudo é caro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D9C1D-EA14-4F52-830A-C0996293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FC6322-F434-46CE-A729-A94E1E00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Desafio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638D2-CA3A-4D5C-A1AB-10E93941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39621-606C-4D9C-B43A-4CEAB46D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71750"/>
            <a:ext cx="4210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Posts curtos, vocabulário amplo, gírias e hashtags novas.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20B64-B700-4B74-9F16-6C404625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BB6153-F307-405D-A18E-EEAEDEF4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4210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 distribuição das classes pode mudar com a opinião pública.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ADEBD-A16E-4B1A-B453-0AD30C09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533DA-26C9-460D-AEA8-BBC8B0E6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4210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Há muito mais dado não rotulado que dado rotulado.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4C72C-7F8B-4EA3-8269-5F266598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71700"/>
            <a:ext cx="4000500" cy="2524125"/>
          </a:xfrm>
          <a:prstGeom xmlns:a="http://schemas.openxmlformats.org/drawingml/2006/main" prst="roundRect">
            <a:avLst>
              <a:gd name="adj" fmla="val 4528"/>
            </a:avLst>
          </a:prstGeom>
          <a:solidFill xmlns:a="http://schemas.openxmlformats.org/drawingml/2006/main">
            <a:srgbClr val="E8F1F8"/>
          </a:solidFill>
          <a:ln xmlns:a="http://schemas.openxmlformats.org/drawingml/2006/main" w="9525">
            <a:solidFill>
              <a:srgbClr val="BED2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AD377D-5B8D-439A-9E86-208AF66D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336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Pergunta do artigo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BA9B30-4D2E-4F12-9035-5020D284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48000"/>
            <a:ext cx="3143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Como explorar textos não rotulados</a:t>
            </a:r>
          </a:p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sem perder velocidade em fluxo?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BBD1C3-64FF-4E69-8408-4FA3E9F9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672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Proposta: Semi-Supervised WiSARD (SSW)</a:t>
            </a:r>
          </a:p>
        </p:txBody>
      </p:sp>
    </p:spTree>
    <p:extLst>
      <p:ext uri="{BB962C8B-B14F-4D97-AF65-F5344CB8AC3E}">
        <p14:creationId xmlns:p14="http://schemas.microsoft.com/office/powerpoint/2010/main" val="4591345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249C06-EAFA-45D4-8B9D-C8190CCD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55F098-7FC9-469F-9C8A-77AB6BE5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 | MÉTODO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C8E1FD-223F-435A-A08F-614D5A5D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SSW transforma a WiSARD em um classificador de autoaprendizado controlado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FA307-7F9C-4DEF-891D-AA81B50C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DD595-B9CA-4DD6-AC43-B84EDB43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2238375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210DD-D9E0-4CA1-8F52-945D745E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1. Treinar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F22EAC-4FDD-4C87-99EC-6FCBBD13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95650"/>
            <a:ext cx="1857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Padrões rotulados alimentam os discriminadores.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2B6212-3FC3-411D-9869-114E9CA6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19840-58BB-4293-913C-A9FE5EAA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71750"/>
            <a:ext cx="2238375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CD7DC-A6D2-4B7C-BCA0-5B2C3C43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5750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2. Predizer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FBEDB9-8C6C-4A7A-B49E-123A77F3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95650"/>
            <a:ext cx="1857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Cada texto binário ativa memórias RAM por classe.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D5B645-7BEA-4FDD-A9B2-0E5DAF3B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F6271-5463-40EE-A4E8-901BA70A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71750"/>
            <a:ext cx="2238375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A540A0-04F1-49E2-AAF7-31C54469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5750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3. Medir confiança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34B2C3-2797-4AF7-8922-B3A39A45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95650"/>
            <a:ext cx="1857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Compara a melhor e a segunda melhor resposta.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95AB2F-52AB-4315-9B21-F04F57CC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38500"/>
            <a:ext cx="361950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4225B-0248-4286-A3B4-F15E92F4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2238375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FE8865-8418-4EF7-A922-EED79A47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5750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4. Realimentar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BF3F9E-F515-496B-9A12-33F6EB30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95650"/>
            <a:ext cx="1857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Só exemplos acima do limiar entram como treino.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55FC-8207-4A84-800A-8DBE6CDA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A adaptação textual evita que padrões totalmente nulos influenciem a decisão, reduzindo o efeito da esparsidade.</a:t>
            </a:r>
          </a:p>
        </p:txBody>
      </p:sp>
    </p:spTree>
    <p:extLst>
      <p:ext uri="{BB962C8B-B14F-4D97-AF65-F5344CB8AC3E}">
        <p14:creationId xmlns:p14="http://schemas.microsoft.com/office/powerpoint/2010/main" val="7551983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8EB2FC-5F14-4190-831A-EE23DEB8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9C1A24-C3E6-4E6E-98DA-A275B7C0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 | EVIDÊNCIAS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26EF2E-1765-4EB5-A72D-20662EBC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SSW troca pequena perda de acurácia por grande ganho de tempo de treinamento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18296-4376-4C0F-8FB2-631A6762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149EF-742F-4F39-AAE5-080E71A5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478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Acurácia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FCAE5B-5BEF-41DB-B3A3-B88993D8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1095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OMD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A04A8-CCAB-442A-AB5A-43B43E5E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62225"/>
            <a:ext cx="182570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C80"/>
          </a:solidFill>
          <a:ln xmlns:a="http://schemas.openxmlformats.org/drawingml/2006/main" w="0">
            <a:solidFill>
              <a:srgbClr val="167C8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785A95-3504-4926-90AB-4DED69AB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5336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69.7%  SSW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893121-39DC-4A71-8C83-B3EEE077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09875"/>
            <a:ext cx="1883331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D8C"/>
          </a:solidFill>
          <a:ln xmlns:a="http://schemas.openxmlformats.org/drawingml/2006/main" w="0">
            <a:solidFill>
              <a:srgbClr val="2F5D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41ABF1-C5A7-46E2-8D8F-BBCE0661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7813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71.9%  S3VM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79099B-C2E4-4A51-8E94-979F8D86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1095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STS-Gold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AB4396-30C4-4FEF-B802-418DE1DF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28975"/>
            <a:ext cx="19907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C80"/>
          </a:solidFill>
          <a:ln xmlns:a="http://schemas.openxmlformats.org/drawingml/2006/main" w="0">
            <a:solidFill>
              <a:srgbClr val="167C8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A8AC5-56C3-4710-A1B2-5A924BF8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2004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76%  SSW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6B6D2-68DD-4E78-B97F-42A0F715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476625"/>
            <a:ext cx="203787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D8C"/>
          </a:solidFill>
          <a:ln xmlns:a="http://schemas.openxmlformats.org/drawingml/2006/main" w="0">
            <a:solidFill>
              <a:srgbClr val="2F5D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DA4386-F223-40D3-87AC-41DCAC2C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4480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77.8%  S3VM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C03593-AB72-4DC4-AD20-8F6031D7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1095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IMDB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E590AC-741E-4A67-B735-89AE5C19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95725"/>
            <a:ext cx="1668542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C80"/>
          </a:solidFill>
          <a:ln xmlns:a="http://schemas.openxmlformats.org/drawingml/2006/main" w="0">
            <a:solidFill>
              <a:srgbClr val="167C8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41107E-CF5D-4BA1-A4A4-6A4420B3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671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63.7%  SSW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8FB335-866D-47DC-A030-6B1453AE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143375"/>
            <a:ext cx="178641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D8C"/>
          </a:solidFill>
          <a:ln xmlns:a="http://schemas.openxmlformats.org/drawingml/2006/main" w="0">
            <a:solidFill>
              <a:srgbClr val="2F5D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7407FC-4049-4886-9848-E4781085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1148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68.2%  S3VM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03E2E2-B1E3-49E8-9D4D-145BC2E2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390525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8E6"/>
          </a:solidFill>
          <a:ln xmlns:a="http://schemas.openxmlformats.org/drawingml/2006/main" w="9525">
            <a:solidFill>
              <a:srgbClr val="F0D18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BA60CA-0EBE-4AB9-9101-0AF3316D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3362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Tempo de ajuste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1E81F8-93D8-44DC-BFC1-31A5D6558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86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IMDB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89A167-9950-4A25-BE54-5E16EB2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575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SSW: 0,21 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AC1F5F-046E-4954-A3BD-954C80C9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1475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S3VM: 15,13 s</a:t>
            </a:r>
          </a:p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EM-NB: 66,94 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74A73B-EE89-4B56-8918-6D48D65E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Leitura correta: S3VM vence em acurácia, mas SSW é muito mais rápida para treinar.</a:t>
            </a:r>
          </a:p>
        </p:txBody>
      </p:sp>
    </p:spTree>
    <p:extLst>
      <p:ext uri="{BB962C8B-B14F-4D97-AF65-F5344CB8AC3E}">
        <p14:creationId xmlns:p14="http://schemas.microsoft.com/office/powerpoint/2010/main" val="18043457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68C76A-2993-4856-94FD-FFB6C146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2FF44-9ADA-43AF-A6FF-7BA62CFF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 | CARNEIRO (2017)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CB9690-16C3-46BA-BBF1-6B1A356E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tese amplia a discussão: desempenho prático precisa de explicação teórica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8D30A-6CDF-4718-9955-82E70124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A50072-D071-4BBA-87AF-DABB24F4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Duas frentes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264318-35F6-4B91-88D3-273B99BD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447675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D5AC46-D505-431C-9A4D-6C675D14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0037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Linguística computacional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9A67B6-E315-44D7-A314-FE3AAC6D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766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31628A-5A45-49BD-AE91-9288899F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76625"/>
            <a:ext cx="335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mWANN-Tagger para etiquetagem gramatical (POS).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76568-D9FD-461B-B1C1-5F08517C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433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909C84-0069-42FF-B484-A30B8E94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43375"/>
            <a:ext cx="335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Contexto e sufixos ajudam em ambiguidade e palavras desconhecidas.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1344BE-2A90-4632-B8F7-5EDB6871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447675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EBF9D-6131-4746-B813-E2656164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037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Teoria de aprendizado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75A0D1-A2D3-4F1A-9EDC-8000A5C9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766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EBE96B-225B-4C4D-A0ED-C5586C17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76625"/>
            <a:ext cx="335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Analisa WiSARD e bleaching pela dimensão VC.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44DAB-CB9A-40F4-9E2F-65604373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4337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4B7AE7-49E6-42FA-84A5-B4C43CEE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43375"/>
            <a:ext cx="335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Investiga a capacidade de generalizar sem perder robustez.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5E2886-ECAB-4EEF-8157-68BC102C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Ideia central: a mesma arquitetura pode ser eficiente em NLP e, ao mesmo tempo, estudada formalmente.</a:t>
            </a:r>
          </a:p>
        </p:txBody>
      </p:sp>
    </p:spTree>
    <p:extLst>
      <p:ext uri="{BB962C8B-B14F-4D97-AF65-F5344CB8AC3E}">
        <p14:creationId xmlns:p14="http://schemas.microsoft.com/office/powerpoint/2010/main" val="1025260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63D46A-6AEC-4A2B-914F-87ECBE64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6356AD-DB87-44FB-AECD-40F6017F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 | APLICAÇÃO LINGUÍSTICA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891FB-1A99-49C4-88B6-4E3AEDBE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Para etiquetar palavras em vários idiomas, a representação de entrada é decisiva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64568-C7A0-4C4F-955C-01E2CDAE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F79E0-90E3-4183-8519-73C1A4CA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1F8"/>
          </a:solidFill>
          <a:ln xmlns:a="http://schemas.openxmlformats.org/drawingml/2006/main" w="9525">
            <a:solidFill>
              <a:srgbClr val="BED2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58A2C-BC49-43E4-948B-B723FA95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Palavra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3DA48-3D63-49E5-8383-9BE12456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05175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forma lexical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A6D25A-885E-4E7E-8583-D0DD8065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0375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650C1-F708-4D43-A290-01452EEC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765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1F8"/>
          </a:solidFill>
          <a:ln xmlns:a="http://schemas.openxmlformats.org/drawingml/2006/main" w="9525">
            <a:solidFill>
              <a:srgbClr val="BED2E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6AA5D-2960-408C-923A-9594FC0E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57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Contexto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7F39F3-5E23-4D54-9A0F-8DD3A56C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05175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vizinhas na frase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6AC132-D442-40DE-A649-9766118A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00375"/>
            <a:ext cx="5143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9617C1-E3E9-4B2A-BF19-70A42ABE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76500"/>
            <a:ext cx="2381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1F8"/>
          </a:solidFill>
          <a:ln xmlns:a="http://schemas.openxmlformats.org/drawingml/2006/main" w="9525">
            <a:solidFill>
              <a:srgbClr val="BED2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51B900-B9AC-4902-AAC4-BCFCD389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575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Sufixos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A7269C-4F77-4370-96CF-79A4C391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05175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pista para OOV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5F4550-8AF8-4431-BAE2-A70FB536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767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mWANN-Tagger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268378-EC79-448C-A8C6-310C0498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Resultado: uma configuração universal de parâmetros mostrou desempenho próximo do melhor ajuste específico por idioma; a extensão com prefixos e etiqueta anterior melhorou as acurácias.</a:t>
            </a:r>
          </a:p>
        </p:txBody>
      </p:sp>
    </p:spTree>
    <p:extLst>
      <p:ext uri="{BB962C8B-B14F-4D97-AF65-F5344CB8AC3E}">
        <p14:creationId xmlns:p14="http://schemas.microsoft.com/office/powerpoint/2010/main" val="15931659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926F93-6B8A-45BD-B3EF-FD1304DB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5144A-6230-45FC-AD8F-66D7C179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 | BLEACHING E TEORIA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DF6505-C598-4C0F-896C-1EAC86FC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Bleaching combate saturação de memória sem reduzir a capacidade teórica de generalização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73FFD-A674-4A3C-9110-42479FFB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FA9721-7191-45A3-811E-69779B82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2410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31301-4EE0-48FD-BD41-56CDCD59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F524BD-94AB-4ED0-BCFD-BC2C5F24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 muitos padrões, memórias podem saturar e deixar de distinguir classes.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2450D7-9E2E-42EC-BB73-A723F2B6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904875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D67984-9123-4C79-92B8-9ADF3923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24100"/>
            <a:ext cx="2857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AF5F2"/>
          </a:solidFill>
          <a:ln xmlns:a="http://schemas.openxmlformats.org/drawingml/2006/main" w="9525">
            <a:solidFill>
              <a:srgbClr val="BDE0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E7BB7C-8F7F-4615-954B-551E678F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Bleaching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CEA80-5364-4E26-A5A8-3178B36B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432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Eleva limiares para filtrar ativações fracas e desempatar respostas.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406C2D-3670-418C-8209-1B4CBBD9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52750"/>
            <a:ext cx="904875" cy="3333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D59CDD-66E7-459A-A072-23017301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14500" cy="1809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F1F8"/>
          </a:solidFill>
          <a:ln xmlns:a="http://schemas.openxmlformats.org/drawingml/2006/main" w="9525">
            <a:solidFill>
              <a:srgbClr val="BED2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C22538-A189-4121-BC52-331F6A26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670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Achado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BFC58E-433A-4905-AB05-99F8FF22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33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Mesma dimensão VC nas variantes estudadas.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8A5DB8-8B29-4DFC-96BA-E637C938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Interpretação: mais robustez operacional não implicou perda teórica de generalização.</a:t>
            </a:r>
          </a:p>
        </p:txBody>
      </p:sp>
    </p:spTree>
    <p:extLst>
      <p:ext uri="{BB962C8B-B14F-4D97-AF65-F5344CB8AC3E}">
        <p14:creationId xmlns:p14="http://schemas.microsoft.com/office/powerpoint/2010/main" val="13223209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E3309-C013-47C6-A9EF-F5F2CF61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CE64EE-277B-416C-8340-95D9793C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AT | PROBLEMA E CONTRIBUIÇÃO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6B36A5-CDA9-4375-BA1D-B01B7FA0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 AT usa os artigos como base para classificar crimes em notícias institucionais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8FBAAD-DF45-42C2-B268-A5E1A4AA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9BE0E-9F90-4784-8E70-11E9EF7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431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Pergunta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C39EC0-D69B-4445-BBE5-85B11173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0325"/>
            <a:ext cx="4667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Como classificar uma base institucional que cresce, reduzindo chamadas à LLM e preservando auditoria?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88FED-F66D-4640-95FE-54C3453E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191000" cy="2428875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73D54B-A6A4-494F-812D-94109F49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4288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Proposta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EC63CF-E186-432A-9328-543886C3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051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852ED2-2640-40C7-ADB8-24AB6A99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05125"/>
            <a:ext cx="306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Fundação temática temporalmente estratificada.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E6ED5C-43EB-42F2-AA88-C1106374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766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A2389A-CA13-43EA-B277-D88E6E5D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76625"/>
            <a:ext cx="306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Memória lexical binária WNN, versionada e auditável.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5FD128-2D07-426F-AB99-5B9BFC3E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48125"/>
            <a:ext cx="228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CF4972-5C60-4A2F-88AF-3B89A338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48125"/>
            <a:ext cx="306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LLM apenas para casos residuais ou inéditos.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B905B2-3DEF-4230-8EC0-69DD2A2D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91125"/>
            <a:ext cx="981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Não é uma reprodução da WiSARD clássica: é uma memória lexical binária inspirada em seus princípios.</a:t>
            </a:r>
          </a:p>
        </p:txBody>
      </p:sp>
    </p:spTree>
    <p:extLst>
      <p:ext uri="{BB962C8B-B14F-4D97-AF65-F5344CB8AC3E}">
        <p14:creationId xmlns:p14="http://schemas.microsoft.com/office/powerpoint/2010/main" val="732306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582BA2-4571-41BA-99FE-F1366B8E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0C339-48B6-4ECC-BE1E-22F7B821A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AT | MÉTODO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8F55EB-00E4-4FDC-9DF2-FF15498F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decisão combina uma camada determinística para o recorrente e revisão contextual para o residual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761765-20C7-4C01-BD3B-38F38898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83686-2CC7-4B06-8DC5-96CA0E9F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33625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471B3E-1762-4CC4-B1B6-D88A220A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A83D9-EBE8-4DA1-AB55-962CBE56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05175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Fundação temática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FB98D4-7690-47D3-9BA5-7B234618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crimes canônicos + marcadores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9FFEC9-B7CE-48D3-B75E-BB64CB78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33750"/>
            <a:ext cx="37147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FDA659-07AF-4824-A335-36142CEC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667000"/>
            <a:ext cx="2333625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613E7F-0148-4605-BE31-EC050F2B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3370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90%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0937B7-F3FB-4B92-8EB4-A7BA790E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305175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Reserva incremental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6478E-2230-4191-8389-A6C9FE76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886200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lotes de notícias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5FAB8-1A72-41D4-99D1-3DEE57A2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333750"/>
            <a:ext cx="37147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E81FB5-A898-4B26-8D6E-C66B8034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67000"/>
            <a:ext cx="2333625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AF5F2"/>
          </a:solidFill>
          <a:ln xmlns:a="http://schemas.openxmlformats.org/drawingml/2006/main" w="9525">
            <a:solidFill>
              <a:srgbClr val="BDE0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D2F5E6-FD7B-413D-84B2-BD3CDC73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3370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WNN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ADF405-2FAF-47D2-818E-B0C42D1D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05175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Memória lexical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21D4FF-DCBF-48E7-8B91-5C88D999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86200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cobertura, confiança e margem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8E37CA-3E6C-4F50-8364-226ECF8F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33750"/>
            <a:ext cx="371475" cy="2381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F17BF3-83DC-405B-9425-F3B279E1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667000"/>
            <a:ext cx="2333625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ECBFDB-622B-4837-BC4C-F9B3C400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93370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48D9D-735F-4844-A546-39C46362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305175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Revisão residual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3FA12D-F701-4432-A02B-89A07D82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886200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ambiguidade, baixa evidência ou novidade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49499A-E5DA-4DB7-A7B8-194E8707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9587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Cada decisão preserva: classe, evidência lexical, versão da memória e origem da decisão.</a:t>
            </a:r>
          </a:p>
        </p:txBody>
      </p:sp>
    </p:spTree>
    <p:extLst>
      <p:ext uri="{BB962C8B-B14F-4D97-AF65-F5344CB8AC3E}">
        <p14:creationId xmlns:p14="http://schemas.microsoft.com/office/powerpoint/2010/main" val="17827072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D04F84-3E3B-4A19-B8A8-794EBC72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6D603B-C289-48FC-A6C5-C6BFFE4D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AT | DIAGNÓSTICO DA RODADA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419313-EBF6-492D-B6A8-A5A05889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memória WNN absorveu 83,33% da reserva antes de qualquer revisão por LLM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0C617-01BD-4138-B5F3-8840A9AA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68E87-64D3-42EC-9602-61EF7515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Base total: 8.310 notícias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82D1D-124B-44CE-AFB1-E55282E1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14625"/>
            <a:ext cx="2619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Fundação temática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693D8-955C-4528-8FA1-7BACE511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43200"/>
            <a:ext cx="753836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61EF2D-ED3C-40C9-8484-4025BBC5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146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831  |  10%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9FBF2E-C2B0-4E28-AB4D-E6540A87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2619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WNN direta na reserva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B102D-88D0-4D88-9E94-6E7C80E4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43300"/>
            <a:ext cx="5653314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C80"/>
          </a:solidFill>
          <a:ln xmlns:a="http://schemas.openxmlformats.org/drawingml/2006/main" w="0">
            <a:solidFill>
              <a:srgbClr val="167C8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5B45A1-02FE-478B-8EC0-4C547378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147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6.232  |  83,33%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7CDEC2-A0F3-40F6-BB42-5821DF59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2619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Residual pós-WNN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E16BC1-C331-40CE-83AA-F37FB193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343400"/>
            <a:ext cx="1131207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C4B"/>
          </a:solidFill>
          <a:ln xmlns:a="http://schemas.openxmlformats.org/drawingml/2006/main" w="0">
            <a:solidFill>
              <a:srgbClr val="D96C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FC0E40-658C-44AC-A1C1-2E68AF8E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148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1.247  |  16,66%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28E106-2C8D-494A-8BC7-0A32ECFA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972050"/>
            <a:ext cx="352425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8E6"/>
          </a:solidFill>
          <a:ln xmlns:a="http://schemas.openxmlformats.org/drawingml/2006/main" w="9525">
            <a:solidFill>
              <a:srgbClr val="F0D18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EE18B3-070F-4902-A049-5A159DAE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219700"/>
            <a:ext cx="3095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Cuidado: cobertura não é acurácia.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A864C7-477C-4B27-894A-B43F566E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4837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A redução de chamadas à LLM é operacional; qualidade exige validação humana e métricas de precisão, revocação e F1.</a:t>
            </a:r>
          </a:p>
        </p:txBody>
      </p:sp>
    </p:spTree>
    <p:extLst>
      <p:ext uri="{BB962C8B-B14F-4D97-AF65-F5344CB8AC3E}">
        <p14:creationId xmlns:p14="http://schemas.microsoft.com/office/powerpoint/2010/main" val="2960330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C21316-E056-48D1-9FDE-9A5F3984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096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0">
            <a:solidFill>
              <a:srgbClr val="F4B94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EB892-48B7-4948-A354-BB225BF4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SÍNTESE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3DB0B7-ECA4-4B30-B2FC-241A6CA2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10287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contribuição do AT é organizar eficiência, adaptação e auditoria em um único ciclo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3A5D8F-C5A7-454E-A30D-DABF3AD6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858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A045E-25EB-4BAE-9815-70E7AF17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C9B21-175C-41CA-B255-A797A0E0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95500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Aproveitar não rotulados com confiança e alta velocidade de ajuste.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53E018-AAD5-4ED7-8B00-BEE331C0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4800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062C89-AFC2-4C2C-A274-3F7BE32B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48000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Usar representação adequada e bleaching para robustez, com suporte teórico.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984989-A29B-49E5-B702-C89967A4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00050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EDCED9-F940-45A3-8800-6BBF2DE9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00500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Aplicar uma memória textual explícita; reservar a LLM para o que exige contexto.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481706-CC6F-4397-BED0-68FD365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38750"/>
            <a:ext cx="971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Limite honesto do AT: a próxima etapa é medir qualidade com rótulos validados por especialistas.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43D5DD-F05C-47EE-A30F-464D0B8A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9055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Referências completas nos PDFs fornecidos e nas notas do apresentador.</a:t>
            </a:r>
          </a:p>
        </p:txBody>
      </p:sp>
    </p:spTree>
    <p:extLst>
      <p:ext uri="{BB962C8B-B14F-4D97-AF65-F5344CB8AC3E}">
        <p14:creationId xmlns:p14="http://schemas.microsoft.com/office/powerpoint/2010/main" val="755158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2026-07-26T13:33:58.8070000Z</dcterms:created>
  <dcterms:modified xsi:type="dcterms:W3CDTF">2026-07-26T13:33:58.8080000Z</dcterms:modified>
</coreProperties>
</file>